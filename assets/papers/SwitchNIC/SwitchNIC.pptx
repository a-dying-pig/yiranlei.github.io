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3.xml" ContentType="application/vnd.openxmlformats-officedocument.presentationml.tags+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tags/tag5.xml" ContentType="application/vnd.openxmlformats-officedocument.presentationml.tags+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74" r:id="rId4"/>
    <p:sldId id="263" r:id="rId5"/>
    <p:sldId id="303" r:id="rId6"/>
    <p:sldId id="305" r:id="rId7"/>
    <p:sldId id="275" r:id="rId8"/>
    <p:sldId id="276" r:id="rId9"/>
    <p:sldId id="262" r:id="rId10"/>
    <p:sldId id="300" r:id="rId11"/>
    <p:sldId id="288" r:id="rId12"/>
    <p:sldId id="291" r:id="rId13"/>
    <p:sldId id="277" r:id="rId14"/>
    <p:sldId id="278" r:id="rId15"/>
    <p:sldId id="279" r:id="rId16"/>
    <p:sldId id="283" r:id="rId17"/>
    <p:sldId id="285" r:id="rId18"/>
    <p:sldId id="286" r:id="rId19"/>
    <p:sldId id="295" r:id="rId20"/>
    <p:sldId id="270" r:id="rId21"/>
    <p:sldId id="271" r:id="rId22"/>
    <p:sldId id="289" r:id="rId23"/>
    <p:sldId id="301" r:id="rId24"/>
    <p:sldId id="306" r:id="rId25"/>
    <p:sldId id="294" r:id="rId26"/>
    <p:sldId id="29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E742A1-A7C0-B671-4919-FC75A4802ADF}" v="235" dt="2025-12-02T15:44:45.551"/>
    <p1510:client id="{ECE91C6C-BEF2-DE4F-B785-02859ADD4B73}" v="258" dt="2025-12-02T16:56:18.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548"/>
  </p:normalViewPr>
  <p:slideViewPr>
    <p:cSldViewPr snapToGrid="0">
      <p:cViewPr varScale="1">
        <p:scale>
          <a:sx n="101" d="100"/>
          <a:sy n="101" d="100"/>
        </p:scale>
        <p:origin x="15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EAFD7-4027-E647-8AFC-1F47F5643C05}"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5E7FAD-1E72-1544-B98F-5E189CA69118}" type="slidenum">
              <a:rPr lang="en-US" smtClean="0"/>
              <a:t>‹#›</a:t>
            </a:fld>
            <a:endParaRPr lang="en-US"/>
          </a:p>
        </p:txBody>
      </p:sp>
    </p:spTree>
    <p:extLst>
      <p:ext uri="{BB962C8B-B14F-4D97-AF65-F5344CB8AC3E}">
        <p14:creationId xmlns:p14="http://schemas.microsoft.com/office/powerpoint/2010/main" val="3395576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my name is Francisco Pereira. I’m a PhD student from University of Lisbon, and I’ll be presenting our work on </a:t>
            </a:r>
            <a:r>
              <a:rPr lang="en-US" err="1"/>
              <a:t>SwitchNIC</a:t>
            </a:r>
            <a:r>
              <a:rPr lang="en-US"/>
              <a:t>: a hybrid architecture for network functions with fast and consistent shares states.</a:t>
            </a:r>
          </a:p>
          <a:p>
            <a:endParaRPr lang="en-US"/>
          </a:p>
          <a:p>
            <a:r>
              <a:rPr lang="en-US"/>
              <a:t>Unfortunately, the lead author behind this work, Yiran Lei, is unable to join us, so I will be presenting in his stead. </a:t>
            </a:r>
          </a:p>
        </p:txBody>
      </p:sp>
      <p:sp>
        <p:nvSpPr>
          <p:cNvPr id="4" name="Slide Number Placeholder 3"/>
          <p:cNvSpPr>
            <a:spLocks noGrp="1"/>
          </p:cNvSpPr>
          <p:nvPr>
            <p:ph type="sldNum" sz="quarter" idx="5"/>
          </p:nvPr>
        </p:nvSpPr>
        <p:spPr/>
        <p:txBody>
          <a:bodyPr/>
          <a:lstStyle/>
          <a:p>
            <a:fld id="{795E7FAD-1E72-1544-B98F-5E189CA69118}" type="slidenum">
              <a:rPr lang="en-US" smtClean="0"/>
              <a:t>1</a:t>
            </a:fld>
            <a:endParaRPr lang="en-US"/>
          </a:p>
        </p:txBody>
      </p:sp>
    </p:spTree>
    <p:extLst>
      <p:ext uri="{BB962C8B-B14F-4D97-AF65-F5344CB8AC3E}">
        <p14:creationId xmlns:p14="http://schemas.microsoft.com/office/powerpoint/2010/main" val="688000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a:t>Stateful network functions are commonly deployed in today’s data centers.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a:t>These are small programs that analyze, filter, route traffic before it reaches the destinations.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a:t>They implement a wide range of functionality. Some of them have a direct impact on the performance of the applications running in the data center, for example Load Balancers and Rate Limiters. Others concern themselves more with security, like Packet Inspectors and Firewalls.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a:t>And enhancing both their performance and efficiency is crucial to ensure that they continue to do their jobs in networks with increasingly higher bandwidth demand</a:t>
            </a:r>
          </a:p>
        </p:txBody>
      </p:sp>
      <p:sp>
        <p:nvSpPr>
          <p:cNvPr id="4" name="Slide Number Placeholder 3"/>
          <p:cNvSpPr>
            <a:spLocks noGrp="1"/>
          </p:cNvSpPr>
          <p:nvPr>
            <p:ph type="sldNum" sz="quarter" idx="5"/>
          </p:nvPr>
        </p:nvSpPr>
        <p:spPr/>
        <p:txBody>
          <a:bodyPr/>
          <a:lstStyle/>
          <a:p>
            <a:fld id="{795E7FAD-1E72-1544-B98F-5E189CA69118}" type="slidenum">
              <a:rPr lang="en-US" smtClean="0"/>
              <a:t>2</a:t>
            </a:fld>
            <a:endParaRPr lang="en-US"/>
          </a:p>
        </p:txBody>
      </p:sp>
    </p:spTree>
    <p:extLst>
      <p:ext uri="{BB962C8B-B14F-4D97-AF65-F5344CB8AC3E}">
        <p14:creationId xmlns:p14="http://schemas.microsoft.com/office/powerpoint/2010/main" val="2528883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panose="020B0604020202020204" pitchFamily="34" charset="0"/>
              <a:buChar char="•"/>
            </a:pPr>
            <a:r>
              <a:rPr lang="en-US" dirty="0"/>
              <a:t>With these performance and efficiency concerns in mind, the current state of the art in NF implementation takes advantage of high performant network hardware accelerators like programmable switches and FPGA </a:t>
            </a:r>
            <a:r>
              <a:rPr lang="en-US" dirty="0" err="1"/>
              <a:t>SmartNICs</a:t>
            </a:r>
            <a:r>
              <a:rPr lang="en-US" dirty="0"/>
              <a:t>.</a:t>
            </a:r>
          </a:p>
          <a:p>
            <a:pPr marL="228600" indent="-228600">
              <a:buFont typeface="Arial" panose="020B0604020202020204" pitchFamily="34" charset="0"/>
              <a:buChar char="•"/>
            </a:pPr>
            <a:r>
              <a:rPr lang="en-US" dirty="0"/>
              <a:t>However, because these typically are very constrained in terms of both resources and computation they can perform, they are paired with commodity servers capable of running any piece of software.</a:t>
            </a:r>
          </a:p>
          <a:p>
            <a:pPr marL="228600" indent="-228600">
              <a:buFont typeface="Arial" panose="020B0604020202020204" pitchFamily="34" charset="0"/>
              <a:buChar char="•"/>
            </a:pPr>
            <a:r>
              <a:rPr lang="en-US" dirty="0"/>
              <a:t>And this is a match made in heaven, because we can have the high performance hardware with limited computations perform common simple operations, and complement that with much slower and less efficient commodity servers to run rare complex operations or to complement additional memory needs.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However, to fully take advantage of this distributed system, state must be shared between these two platforms.</a:t>
            </a:r>
          </a:p>
        </p:txBody>
      </p:sp>
      <p:sp>
        <p:nvSpPr>
          <p:cNvPr id="4" name="Slide Number Placeholder 3"/>
          <p:cNvSpPr>
            <a:spLocks noGrp="1"/>
          </p:cNvSpPr>
          <p:nvPr>
            <p:ph type="sldNum" sz="quarter" idx="5"/>
          </p:nvPr>
        </p:nvSpPr>
        <p:spPr/>
        <p:txBody>
          <a:bodyPr/>
          <a:lstStyle/>
          <a:p>
            <a:fld id="{795E7FAD-1E72-1544-B98F-5E189CA69118}" type="slidenum">
              <a:rPr lang="en-US" smtClean="0"/>
              <a:t>3</a:t>
            </a:fld>
            <a:endParaRPr lang="en-US"/>
          </a:p>
        </p:txBody>
      </p:sp>
    </p:spTree>
    <p:extLst>
      <p:ext uri="{BB962C8B-B14F-4D97-AF65-F5344CB8AC3E}">
        <p14:creationId xmlns:p14="http://schemas.microsoft.com/office/powerpoint/2010/main" val="3480346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And that sharing comes with an old and hard problem: consistency. Ensuring consistency is hard because:</a:t>
            </a:r>
          </a:p>
          <a:p>
            <a:pPr marL="628650" lvl="1" indent="-171450">
              <a:buFont typeface="Arial" panose="020B0604020202020204" pitchFamily="34" charset="0"/>
              <a:buChar char="•"/>
            </a:pPr>
            <a:r>
              <a:rPr lang="en-US"/>
              <a:t>Consistency protocols are hard by themselves,  but also</a:t>
            </a:r>
          </a:p>
          <a:p>
            <a:pPr marL="628650" lvl="1" indent="-171450">
              <a:buFont typeface="Arial" panose="020B0604020202020204" pitchFamily="34" charset="0"/>
              <a:buChar char="•"/>
            </a:pPr>
            <a:r>
              <a:rPr lang="en-US"/>
              <a:t>While designing the protocol, we need to consider each platform’s strengths, weaknesses, and idiosyncrasies</a:t>
            </a:r>
          </a:p>
          <a:p>
            <a:pPr marL="171450" lvl="0" indent="-171450">
              <a:buFont typeface="Arial" panose="020B0604020202020204" pitchFamily="34" charset="0"/>
              <a:buChar char="•"/>
            </a:pPr>
            <a:r>
              <a:rPr lang="en-US"/>
              <a:t>Let me show you an example of this.</a:t>
            </a:r>
          </a:p>
        </p:txBody>
      </p:sp>
      <p:sp>
        <p:nvSpPr>
          <p:cNvPr id="4" name="Slide Number Placeholder 3"/>
          <p:cNvSpPr>
            <a:spLocks noGrp="1"/>
          </p:cNvSpPr>
          <p:nvPr>
            <p:ph type="sldNum" sz="quarter" idx="5"/>
          </p:nvPr>
        </p:nvSpPr>
        <p:spPr/>
        <p:txBody>
          <a:bodyPr/>
          <a:lstStyle/>
          <a:p>
            <a:fld id="{795E7FAD-1E72-1544-B98F-5E189CA69118}" type="slidenum">
              <a:rPr lang="en-US" smtClean="0"/>
              <a:t>4</a:t>
            </a:fld>
            <a:endParaRPr lang="en-US"/>
          </a:p>
        </p:txBody>
      </p:sp>
    </p:spTree>
    <p:extLst>
      <p:ext uri="{BB962C8B-B14F-4D97-AF65-F5344CB8AC3E}">
        <p14:creationId xmlns:p14="http://schemas.microsoft.com/office/powerpoint/2010/main" val="3905088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ACB41-9F4E-C1FC-6A80-69FDDEC4C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E616F-B298-815A-5DE3-DE898B3F6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92EAE-31A5-3529-5DAC-B649C9384197}"/>
              </a:ext>
            </a:extLst>
          </p:cNvPr>
          <p:cNvSpPr>
            <a:spLocks noGrp="1"/>
          </p:cNvSpPr>
          <p:nvPr>
            <p:ph type="body" idx="1"/>
          </p:nvPr>
        </p:nvSpPr>
        <p:spPr/>
        <p:txBody>
          <a:bodyPr/>
          <a:lstStyle/>
          <a:p>
            <a:pPr marL="171450" indent="-171450">
              <a:buFont typeface="Arial" panose="020B0604020202020204" pitchFamily="34" charset="0"/>
              <a:buChar char="•"/>
            </a:pPr>
            <a:r>
              <a:rPr lang="en-US"/>
              <a:t>Mention that actually we use the KVS store just as a motivating example (for simplicity), but there's a wide range of application where this also applies (for example TCP </a:t>
            </a:r>
            <a:r>
              <a:rPr lang="en-US" err="1"/>
              <a:t>reassembler</a:t>
            </a:r>
            <a:r>
              <a:rPr lang="en-US"/>
              <a:t>, Deep Packet Inspection).</a:t>
            </a:r>
          </a:p>
        </p:txBody>
      </p:sp>
      <p:sp>
        <p:nvSpPr>
          <p:cNvPr id="4" name="Slide Number Placeholder 3">
            <a:extLst>
              <a:ext uri="{FF2B5EF4-FFF2-40B4-BE49-F238E27FC236}">
                <a16:creationId xmlns:a16="http://schemas.microsoft.com/office/drawing/2014/main" id="{9D2B8185-3F93-5A97-9159-B45696599A16}"/>
              </a:ext>
            </a:extLst>
          </p:cNvPr>
          <p:cNvSpPr>
            <a:spLocks noGrp="1"/>
          </p:cNvSpPr>
          <p:nvPr>
            <p:ph type="sldNum" sz="quarter" idx="5"/>
          </p:nvPr>
        </p:nvSpPr>
        <p:spPr/>
        <p:txBody>
          <a:bodyPr/>
          <a:lstStyle/>
          <a:p>
            <a:fld id="{795E7FAD-1E72-1544-B98F-5E189CA69118}" type="slidenum">
              <a:rPr lang="en-US" smtClean="0"/>
              <a:t>5</a:t>
            </a:fld>
            <a:endParaRPr lang="en-US"/>
          </a:p>
        </p:txBody>
      </p:sp>
    </p:spTree>
    <p:extLst>
      <p:ext uri="{BB962C8B-B14F-4D97-AF65-F5344CB8AC3E}">
        <p14:creationId xmlns:p14="http://schemas.microsoft.com/office/powerpoint/2010/main" val="1944056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75E2-77BA-3C81-70A0-36FE53BF8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3F3BD-A98B-902A-0F5F-1C34CB624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E237A-D43A-D3D6-6635-A98311D6CFDA}"/>
              </a:ext>
            </a:extLst>
          </p:cNvPr>
          <p:cNvSpPr>
            <a:spLocks noGrp="1"/>
          </p:cNvSpPr>
          <p:nvPr>
            <p:ph type="body" idx="1"/>
          </p:nvPr>
        </p:nvSpPr>
        <p:spPr/>
        <p:txBody>
          <a:bodyPr/>
          <a:lstStyle/>
          <a:p>
            <a:pPr marL="171450" indent="-171450">
              <a:buFont typeface="Arial" panose="020B0604020202020204" pitchFamily="34" charset="0"/>
              <a:buChar char="•"/>
            </a:pPr>
            <a:r>
              <a:rPr lang="en-US" dirty="0"/>
              <a:t>For Gallium, the states on switch can not be moved, so those states won’t be able to support any complex operations, e.g., a database query; if all the states can trigger complex operations, this means all the states must stay at server, leading to poor performance</a:t>
            </a:r>
          </a:p>
          <a:p>
            <a:pPr marL="171450" indent="-171450">
              <a:buFont typeface="Arial" panose="020B0604020202020204" pitchFamily="34" charset="0"/>
              <a:buChar char="•"/>
            </a:pPr>
            <a:r>
              <a:rPr lang="en-US" dirty="0"/>
              <a:t>We use the KVS store just as a motivating example (for simplicity), but there's a wide range of application where this also applies (for example TCP </a:t>
            </a:r>
            <a:r>
              <a:rPr lang="en-US" dirty="0" err="1"/>
              <a:t>reassembler</a:t>
            </a:r>
            <a:r>
              <a:rPr lang="en-US" dirty="0"/>
              <a:t>, Deep Packet Inspection).</a:t>
            </a:r>
          </a:p>
        </p:txBody>
      </p:sp>
      <p:sp>
        <p:nvSpPr>
          <p:cNvPr id="4" name="Slide Number Placeholder 3">
            <a:extLst>
              <a:ext uri="{FF2B5EF4-FFF2-40B4-BE49-F238E27FC236}">
                <a16:creationId xmlns:a16="http://schemas.microsoft.com/office/drawing/2014/main" id="{37146B4F-2985-977E-1E35-9494083A2F2B}"/>
              </a:ext>
            </a:extLst>
          </p:cNvPr>
          <p:cNvSpPr>
            <a:spLocks noGrp="1"/>
          </p:cNvSpPr>
          <p:nvPr>
            <p:ph type="sldNum" sz="quarter" idx="5"/>
          </p:nvPr>
        </p:nvSpPr>
        <p:spPr/>
        <p:txBody>
          <a:bodyPr/>
          <a:lstStyle/>
          <a:p>
            <a:fld id="{795E7FAD-1E72-1544-B98F-5E189CA69118}" type="slidenum">
              <a:rPr lang="en-US" smtClean="0"/>
              <a:t>6</a:t>
            </a:fld>
            <a:endParaRPr lang="en-US"/>
          </a:p>
        </p:txBody>
      </p:sp>
    </p:spTree>
    <p:extLst>
      <p:ext uri="{BB962C8B-B14F-4D97-AF65-F5344CB8AC3E}">
        <p14:creationId xmlns:p14="http://schemas.microsoft.com/office/powerpoint/2010/main" val="2686511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000" dirty="0"/>
              <a:t>Want we actually wanted was for both platforms to share and be able to perform write operations whenever needed,  so that common simple operations are handled at switch and occasional complex operations can be handled at server</a:t>
            </a:r>
            <a:endParaRPr lang="en-US" dirty="0"/>
          </a:p>
          <a:p>
            <a:pPr marL="342900" indent="-342900">
              <a:buFont typeface="Arial" panose="020B0604020202020204" pitchFamily="34" charset="0"/>
              <a:buChar char="•"/>
            </a:pPr>
            <a:r>
              <a:rPr lang="en-US" sz="2000" dirty="0"/>
              <a:t>Consider a key-value-store-like application that keeps information about the user’s food preferences</a:t>
            </a:r>
            <a:endParaRPr lang="en-US" dirty="0"/>
          </a:p>
          <a:p>
            <a:pPr marL="342900" indent="-342900">
              <a:buFont typeface="Arial" panose="020B0604020202020204" pitchFamily="34" charset="0"/>
              <a:buChar char="•"/>
            </a:pPr>
            <a:r>
              <a:rPr lang="en-US" sz="2000" dirty="0"/>
              <a:t>This application is distributed across the fast programmable switch on the left, and the slower but more computationally capable server on the right</a:t>
            </a:r>
          </a:p>
          <a:p>
            <a:pPr marL="342900" indent="-342900">
              <a:buFont typeface="Arial" panose="020B0604020202020204" pitchFamily="34" charset="0"/>
              <a:buChar char="•"/>
            </a:pPr>
            <a:r>
              <a:rPr lang="en-US" sz="2000" dirty="0"/>
              <a:t>Right now, we store the information that Alice likes apples, but Alice would like to change that</a:t>
            </a:r>
          </a:p>
          <a:p>
            <a:pPr marL="342900" indent="-342900">
              <a:buFont typeface="Arial" panose="020B0604020202020204" pitchFamily="34" charset="0"/>
              <a:buChar char="•"/>
            </a:pPr>
            <a:r>
              <a:rPr lang="en-US" sz="2000" dirty="0"/>
              <a:t>Because updating the table is a relatively simple operation, Alice's update goes directly to the switch, which replaces the apple with a watermelon</a:t>
            </a:r>
          </a:p>
          <a:p>
            <a:pPr marL="342900" indent="-342900">
              <a:buFont typeface="Arial" panose="020B0604020202020204" pitchFamily="34" charset="0"/>
              <a:buChar char="•"/>
            </a:pPr>
            <a:r>
              <a:rPr lang="en-US" sz="2000" dirty="0"/>
              <a:t>Later, Alice queries the application, requiring a complex query for a database, a more complex operation that is sent to the server. (this rarely happens, compared to the simple case)</a:t>
            </a:r>
          </a:p>
        </p:txBody>
      </p:sp>
      <p:sp>
        <p:nvSpPr>
          <p:cNvPr id="4" name="Slide Number Placeholder 3"/>
          <p:cNvSpPr>
            <a:spLocks noGrp="1"/>
          </p:cNvSpPr>
          <p:nvPr>
            <p:ph type="sldNum" sz="quarter" idx="5"/>
          </p:nvPr>
        </p:nvSpPr>
        <p:spPr/>
        <p:txBody>
          <a:bodyPr/>
          <a:lstStyle/>
          <a:p>
            <a:fld id="{795E7FAD-1E72-1544-B98F-5E189CA69118}" type="slidenum">
              <a:rPr lang="en-US" smtClean="0"/>
              <a:t>7</a:t>
            </a:fld>
            <a:endParaRPr lang="en-US"/>
          </a:p>
        </p:txBody>
      </p:sp>
    </p:spTree>
    <p:extLst>
      <p:ext uri="{BB962C8B-B14F-4D97-AF65-F5344CB8AC3E}">
        <p14:creationId xmlns:p14="http://schemas.microsoft.com/office/powerpoint/2010/main" val="3103392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B263-DA6C-F78C-93DA-074C89012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F050D-6490-912B-AAA9-3EA1CF485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C0199-721D-EE53-A10F-0EEA593EE7FF}"/>
              </a:ext>
            </a:extLst>
          </p:cNvPr>
          <p:cNvSpPr>
            <a:spLocks noGrp="1"/>
          </p:cNvSpPr>
          <p:nvPr>
            <p:ph type="body" idx="1"/>
          </p:nvPr>
        </p:nvSpPr>
        <p:spPr/>
        <p:txBody>
          <a:bodyPr/>
          <a:lstStyle/>
          <a:p>
            <a:pPr marL="171450" indent="-171450">
              <a:buFont typeface="Arial" panose="020B0604020202020204" pitchFamily="34" charset="0"/>
              <a:buChar char="•"/>
            </a:pPr>
            <a:r>
              <a:rPr lang="en-US" sz="1200"/>
              <a:t>But now state is incoherent between the switch and the server!</a:t>
            </a:r>
          </a:p>
          <a:p>
            <a:pPr marL="171450" indent="-171450">
              <a:buFont typeface="Arial" panose="020B0604020202020204" pitchFamily="34" charset="0"/>
              <a:buChar char="•"/>
            </a:pPr>
            <a:r>
              <a:rPr lang="en-US"/>
              <a:t>Who own the data? How do we migrate between the platforms?</a:t>
            </a:r>
          </a:p>
        </p:txBody>
      </p:sp>
      <p:sp>
        <p:nvSpPr>
          <p:cNvPr id="4" name="Slide Number Placeholder 3">
            <a:extLst>
              <a:ext uri="{FF2B5EF4-FFF2-40B4-BE49-F238E27FC236}">
                <a16:creationId xmlns:a16="http://schemas.microsoft.com/office/drawing/2014/main" id="{CB01AEEA-A049-0BB2-64CC-17E874489C14}"/>
              </a:ext>
            </a:extLst>
          </p:cNvPr>
          <p:cNvSpPr>
            <a:spLocks noGrp="1"/>
          </p:cNvSpPr>
          <p:nvPr>
            <p:ph type="sldNum" sz="quarter" idx="5"/>
          </p:nvPr>
        </p:nvSpPr>
        <p:spPr/>
        <p:txBody>
          <a:bodyPr/>
          <a:lstStyle/>
          <a:p>
            <a:fld id="{795E7FAD-1E72-1544-B98F-5E189CA69118}" type="slidenum">
              <a:rPr lang="en-US" smtClean="0"/>
              <a:t>8</a:t>
            </a:fld>
            <a:endParaRPr lang="en-US"/>
          </a:p>
        </p:txBody>
      </p:sp>
    </p:spTree>
    <p:extLst>
      <p:ext uri="{BB962C8B-B14F-4D97-AF65-F5344CB8AC3E}">
        <p14:creationId xmlns:p14="http://schemas.microsoft.com/office/powerpoint/2010/main" val="1687270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t>To solve this problem, we work under a single assumption: that both income and outgoing traffic of a flow to a server must go through the same switch.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t>That is, the switch is the consistent interposer of the flow packets that come and go to the server.</a:t>
            </a:r>
          </a:p>
          <a:p>
            <a:pPr marL="285750" indent="-285750">
              <a:buFont typeface="Arial" panose="020B0604020202020204" pitchFamily="34" charset="0"/>
              <a:buChar char="•"/>
            </a:pPr>
            <a:r>
              <a:rPr lang="en-US" sz="1600">
                <a:latin typeface="Calibri Light" panose="020F0302020204030204" pitchFamily="34" charset="0"/>
                <a:cs typeface="Calibri Light" panose="020F0302020204030204" pitchFamily="34" charset="0"/>
              </a:rPr>
              <a:t>Our insight is that exactly because of this interposition, the switch can:</a:t>
            </a:r>
          </a:p>
          <a:p>
            <a:pPr marL="742950" lvl="1" indent="-285750">
              <a:buFont typeface="Arial" panose="020B0604020202020204" pitchFamily="34" charset="0"/>
              <a:buChar char="•"/>
            </a:pPr>
            <a:r>
              <a:rPr lang="en-US" sz="1600">
                <a:latin typeface="Calibri Light" panose="020F0302020204030204" pitchFamily="34" charset="0"/>
                <a:cs typeface="Calibri Light" panose="020F0302020204030204" pitchFamily="34" charset="0"/>
              </a:rPr>
              <a:t>Track valid state locations to trigger synchronization when needed</a:t>
            </a:r>
            <a:endParaRPr lang="en-US" sz="1600">
              <a:solidFill>
                <a:schemeClr val="tx1"/>
              </a:solidFill>
              <a:latin typeface="Calibri Light" panose="020F0302020204030204" pitchFamily="34" charset="0"/>
              <a:cs typeface="Calibri Light" panose="020F0302020204030204" pitchFamily="34" charset="0"/>
            </a:endParaRPr>
          </a:p>
          <a:p>
            <a:pPr marL="742950" lvl="1" indent="-285750">
              <a:buFont typeface="Arial" panose="020B0604020202020204" pitchFamily="34" charset="0"/>
              <a:buChar char="•"/>
            </a:pPr>
            <a:r>
              <a:rPr lang="en-US" sz="1600">
                <a:latin typeface="Calibri Light"/>
                <a:ea typeface="Calibri Light"/>
                <a:cs typeface="Calibri Light"/>
              </a:rPr>
              <a:t>Trigger synchronization with the server whenever needed</a:t>
            </a:r>
          </a:p>
          <a:p>
            <a:pPr marL="742950" lvl="1" indent="-285750">
              <a:buFont typeface="Arial" panose="020B0604020202020204" pitchFamily="34" charset="0"/>
              <a:buChar char="•"/>
            </a:pPr>
            <a:r>
              <a:rPr lang="en-US" sz="1600">
                <a:latin typeface="Calibri Light"/>
                <a:ea typeface="Calibri Light"/>
                <a:cs typeface="Calibri Light"/>
              </a:rPr>
              <a:t>And use those same packets to piggyback data that’s meant to be migrated to the server</a:t>
            </a:r>
          </a:p>
          <a:p>
            <a:pPr marL="285750" lvl="0" indent="-285750">
              <a:buFont typeface="Arial" panose="020B0604020202020204" pitchFamily="34" charset="0"/>
              <a:buChar char="•"/>
            </a:pPr>
            <a:r>
              <a:rPr lang="en-US" sz="1600">
                <a:latin typeface="Calibri Light"/>
                <a:ea typeface="Calibri Light"/>
                <a:cs typeface="Calibri Light"/>
              </a:rPr>
              <a:t>And actually, many applications  that rely on programmable switches are already designed this assumption</a:t>
            </a:r>
          </a:p>
        </p:txBody>
      </p:sp>
      <p:sp>
        <p:nvSpPr>
          <p:cNvPr id="4" name="Slide Number Placeholder 3"/>
          <p:cNvSpPr>
            <a:spLocks noGrp="1"/>
          </p:cNvSpPr>
          <p:nvPr>
            <p:ph type="sldNum" sz="quarter" idx="5"/>
          </p:nvPr>
        </p:nvSpPr>
        <p:spPr/>
        <p:txBody>
          <a:bodyPr/>
          <a:lstStyle/>
          <a:p>
            <a:fld id="{795E7FAD-1E72-1544-B98F-5E189CA69118}" type="slidenum">
              <a:rPr lang="en-US" smtClean="0"/>
              <a:t>9</a:t>
            </a:fld>
            <a:endParaRPr lang="en-US"/>
          </a:p>
        </p:txBody>
      </p:sp>
    </p:spTree>
    <p:extLst>
      <p:ext uri="{BB962C8B-B14F-4D97-AF65-F5344CB8AC3E}">
        <p14:creationId xmlns:p14="http://schemas.microsoft.com/office/powerpoint/2010/main" val="1982833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6928-0241-029E-B5BD-FD1FF7555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94F5A-13BF-921F-9A94-4573A51F7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754A90-D488-3745-A246-B620A3810D0D}"/>
              </a:ext>
            </a:extLst>
          </p:cNvPr>
          <p:cNvSpPr>
            <a:spLocks noGrp="1"/>
          </p:cNvSpPr>
          <p:nvPr>
            <p:ph type="body" idx="1"/>
          </p:nvPr>
        </p:nvSpPr>
        <p:spPr/>
        <p:txBody>
          <a:bodyPr/>
          <a:lstStyle/>
          <a:p>
            <a:pPr marL="171450" indent="-171450">
              <a:buFont typeface="Arial" panose="020B0604020202020204" pitchFamily="34" charset="0"/>
              <a:buChar char="•"/>
            </a:pPr>
            <a:r>
              <a:rPr lang="en-US"/>
              <a:t>So, this sounds easy enough. The switch sees all traffic and knows everything. What’s the problem?</a:t>
            </a:r>
          </a:p>
          <a:p>
            <a:pPr marL="171450" indent="-171450">
              <a:buFont typeface="Arial" panose="020B0604020202020204" pitchFamily="34" charset="0"/>
              <a:buChar char="•"/>
            </a:pPr>
            <a:r>
              <a:rPr lang="en-US"/>
              <a:t>Well, this is actually easier said than done. Realizing this requires:</a:t>
            </a:r>
          </a:p>
          <a:p>
            <a:pPr marL="171450" indent="-171450">
              <a:buFont typeface="Arial" panose="020B0604020202020204" pitchFamily="34" charset="0"/>
              <a:buChar char="•"/>
            </a:pPr>
            <a:r>
              <a:rPr lang="en-US"/>
              <a:t>A strong consistency protocol between the switch and the server, one that takes into consideration the latency between the two platforms and the fact that packets can be lost between them.</a:t>
            </a:r>
          </a:p>
          <a:p>
            <a:pPr marL="171450" indent="-171450">
              <a:buFont typeface="Arial" panose="020B0604020202020204" pitchFamily="34" charset="0"/>
              <a:buChar char="•"/>
            </a:pPr>
            <a:r>
              <a:rPr lang="en-US"/>
              <a:t>And actually to realize the strong consistency protocol, and to allow the switch to perform the simple operations quickly, we also need a fully mutable state table on the switch, without depending on the controller to perform write operations. This is a well known challenge due to the limited programmability on the switch.</a:t>
            </a:r>
          </a:p>
          <a:p>
            <a:pPr marL="171450" indent="-171450">
              <a:buFont typeface="Arial" panose="020B0604020202020204" pitchFamily="34" charset="0"/>
              <a:buChar char="•"/>
            </a:pPr>
            <a:r>
              <a:rPr lang="en-US"/>
              <a:t>And finally, we need a caching algorithm to know when the state should be migrated to the server, and when it should be migrated back to the switch. This algorithm should have both recency and frequency in mind if it wants to be high performant.</a:t>
            </a:r>
          </a:p>
        </p:txBody>
      </p:sp>
      <p:sp>
        <p:nvSpPr>
          <p:cNvPr id="4" name="Slide Number Placeholder 3">
            <a:extLst>
              <a:ext uri="{FF2B5EF4-FFF2-40B4-BE49-F238E27FC236}">
                <a16:creationId xmlns:a16="http://schemas.microsoft.com/office/drawing/2014/main" id="{13142B6C-5E44-C766-BF86-06913CDBBA97}"/>
              </a:ext>
            </a:extLst>
          </p:cNvPr>
          <p:cNvSpPr>
            <a:spLocks noGrp="1"/>
          </p:cNvSpPr>
          <p:nvPr>
            <p:ph type="sldNum" sz="quarter" idx="5"/>
          </p:nvPr>
        </p:nvSpPr>
        <p:spPr/>
        <p:txBody>
          <a:bodyPr/>
          <a:lstStyle/>
          <a:p>
            <a:fld id="{795E7FAD-1E72-1544-B98F-5E189CA69118}" type="slidenum">
              <a:rPr lang="en-US" smtClean="0"/>
              <a:t>10</a:t>
            </a:fld>
            <a:endParaRPr lang="en-US"/>
          </a:p>
        </p:txBody>
      </p:sp>
    </p:spTree>
    <p:extLst>
      <p:ext uri="{BB962C8B-B14F-4D97-AF65-F5344CB8AC3E}">
        <p14:creationId xmlns:p14="http://schemas.microsoft.com/office/powerpoint/2010/main" val="1046971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With this in mind, we propose </a:t>
            </a:r>
            <a:r>
              <a:rPr lang="en-US" err="1"/>
              <a:t>SwitchNIC</a:t>
            </a:r>
            <a:r>
              <a:rPr lang="en-US"/>
              <a:t>, a tightly integrated heterogeneous architecture that combines a highly efficient fast-path on a programmable switch with flexible co-located ARM cores to support high performance stateful NFs. And this does this while ensuring strong consistency. </a:t>
            </a:r>
          </a:p>
          <a:p>
            <a:pPr marL="171450" indent="-171450">
              <a:buFont typeface="Arial" panose="020B0604020202020204" pitchFamily="34" charset="0"/>
              <a:buChar char="•"/>
            </a:pPr>
            <a:r>
              <a:rPr lang="en-US"/>
              <a:t>In the interest of time, I will only address the strong consistency protocol in this talk. If you want to learn more about the fully mutable data plane state table and the caching algorithm, I invite you to read our paper.</a:t>
            </a:r>
          </a:p>
          <a:p>
            <a:pPr marL="171450" indent="-171450">
              <a:buFont typeface="Arial" panose="020B0604020202020204" pitchFamily="34" charset="0"/>
              <a:buChar char="•"/>
            </a:pPr>
            <a:r>
              <a:rPr lang="en-US"/>
              <a:t>Additionally, there also a lot of complexity in designing the protocol to be amenable to the programmable switch. I'm not going to address this challenge in this talk.</a:t>
            </a:r>
          </a:p>
        </p:txBody>
      </p:sp>
      <p:sp>
        <p:nvSpPr>
          <p:cNvPr id="4" name="Slide Number Placeholder 3"/>
          <p:cNvSpPr>
            <a:spLocks noGrp="1"/>
          </p:cNvSpPr>
          <p:nvPr>
            <p:ph type="sldNum" sz="quarter" idx="5"/>
          </p:nvPr>
        </p:nvSpPr>
        <p:spPr/>
        <p:txBody>
          <a:bodyPr/>
          <a:lstStyle/>
          <a:p>
            <a:fld id="{795E7FAD-1E72-1544-B98F-5E189CA69118}" type="slidenum">
              <a:rPr lang="en-US" smtClean="0"/>
              <a:t>11</a:t>
            </a:fld>
            <a:endParaRPr lang="en-US"/>
          </a:p>
        </p:txBody>
      </p:sp>
    </p:spTree>
    <p:extLst>
      <p:ext uri="{BB962C8B-B14F-4D97-AF65-F5344CB8AC3E}">
        <p14:creationId xmlns:p14="http://schemas.microsoft.com/office/powerpoint/2010/main" val="1024178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Here is an intuitive overview of </a:t>
            </a:r>
            <a:r>
              <a:rPr lang="en-US" err="1"/>
              <a:t>SwitchNIC’s</a:t>
            </a:r>
            <a:r>
              <a:rPr lang="en-US"/>
              <a:t> strong consistency protocol:</a:t>
            </a:r>
          </a:p>
          <a:p>
            <a:pPr marL="628650" lvl="1" indent="-171450">
              <a:buFont typeface="Arial" panose="020B0604020202020204" pitchFamily="34" charset="0"/>
              <a:buChar char="•"/>
            </a:pPr>
            <a:r>
              <a:rPr lang="en-US"/>
              <a:t>First, and most commonly, perform simple updates at the switch.</a:t>
            </a:r>
          </a:p>
          <a:p>
            <a:pPr marL="628650" lvl="1" indent="-171450">
              <a:buFont typeface="Arial" panose="020B0604020202020204" pitchFamily="34" charset="0"/>
              <a:buChar char="•"/>
            </a:pPr>
            <a:r>
              <a:rPr lang="en-US"/>
              <a:t>If need be, migrate the state to the server to perform complex operations</a:t>
            </a:r>
          </a:p>
          <a:p>
            <a:pPr marL="628650" lvl="1" indent="-171450">
              <a:buFont typeface="Arial" panose="020B0604020202020204" pitchFamily="34" charset="0"/>
              <a:buChar char="•"/>
            </a:pPr>
            <a:r>
              <a:rPr lang="en-US"/>
              <a:t>Finally, migrate the state back to the switch when no more complex operations are require</a:t>
            </a:r>
          </a:p>
          <a:p>
            <a:pPr marL="171450" lvl="0" indent="-171450">
              <a:buFont typeface="Arial" panose="020B0604020202020204" pitchFamily="34" charset="0"/>
              <a:buChar char="•"/>
            </a:pPr>
            <a:r>
              <a:rPr lang="en-US"/>
              <a:t>Let me show you how this works with our key value store example.</a:t>
            </a:r>
          </a:p>
        </p:txBody>
      </p:sp>
      <p:sp>
        <p:nvSpPr>
          <p:cNvPr id="4" name="Slide Number Placeholder 3"/>
          <p:cNvSpPr>
            <a:spLocks noGrp="1"/>
          </p:cNvSpPr>
          <p:nvPr>
            <p:ph type="sldNum" sz="quarter" idx="5"/>
          </p:nvPr>
        </p:nvSpPr>
        <p:spPr/>
        <p:txBody>
          <a:bodyPr/>
          <a:lstStyle/>
          <a:p>
            <a:fld id="{795E7FAD-1E72-1544-B98F-5E189CA69118}" type="slidenum">
              <a:rPr lang="en-US" smtClean="0"/>
              <a:t>12</a:t>
            </a:fld>
            <a:endParaRPr lang="en-US"/>
          </a:p>
        </p:txBody>
      </p:sp>
    </p:spTree>
    <p:extLst>
      <p:ext uri="{BB962C8B-B14F-4D97-AF65-F5344CB8AC3E}">
        <p14:creationId xmlns:p14="http://schemas.microsoft.com/office/powerpoint/2010/main" val="885741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795E7FAD-1E72-1544-B98F-5E189CA69118}" type="slidenum">
              <a:rPr lang="en-US" smtClean="0"/>
              <a:t>13</a:t>
            </a:fld>
            <a:endParaRPr lang="en-US"/>
          </a:p>
        </p:txBody>
      </p:sp>
    </p:spTree>
    <p:extLst>
      <p:ext uri="{BB962C8B-B14F-4D97-AF65-F5344CB8AC3E}">
        <p14:creationId xmlns:p14="http://schemas.microsoft.com/office/powerpoint/2010/main" val="2801923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Notice that the server contains stale information now, but that is fine!</a:t>
            </a:r>
          </a:p>
          <a:p>
            <a:pPr marL="171450" indent="-171450">
              <a:buFont typeface="Arial" panose="020B0604020202020204" pitchFamily="34" charset="0"/>
              <a:buChar char="•"/>
            </a:pPr>
            <a:r>
              <a:rPr lang="en-US"/>
              <a:t>The switch is the authoritative state coordination entity that oversees all traffic. So the switch knows it has the most recent data, and that the server is stale.</a:t>
            </a:r>
          </a:p>
        </p:txBody>
      </p:sp>
      <p:sp>
        <p:nvSpPr>
          <p:cNvPr id="4" name="Slide Number Placeholder 3"/>
          <p:cNvSpPr>
            <a:spLocks noGrp="1"/>
          </p:cNvSpPr>
          <p:nvPr>
            <p:ph type="sldNum" sz="quarter" idx="5"/>
          </p:nvPr>
        </p:nvSpPr>
        <p:spPr/>
        <p:txBody>
          <a:bodyPr/>
          <a:lstStyle/>
          <a:p>
            <a:fld id="{795E7FAD-1E72-1544-B98F-5E189CA69118}" type="slidenum">
              <a:rPr lang="en-US" smtClean="0"/>
              <a:t>14</a:t>
            </a:fld>
            <a:endParaRPr lang="en-US"/>
          </a:p>
        </p:txBody>
      </p:sp>
    </p:spTree>
    <p:extLst>
      <p:ext uri="{BB962C8B-B14F-4D97-AF65-F5344CB8AC3E}">
        <p14:creationId xmlns:p14="http://schemas.microsoft.com/office/powerpoint/2010/main" val="2620448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However, sometimes we might need to resort to the server to perform some complex operation, or clear bob's state because it is no longer a popular key and should be replaced by one that is more popular</a:t>
            </a:r>
          </a:p>
          <a:p>
            <a:pPr marL="171450" indent="-171450">
              <a:buFont typeface="Arial" panose="020B0604020202020204" pitchFamily="34" charset="0"/>
              <a:buChar char="•"/>
            </a:pPr>
            <a:r>
              <a:rPr lang="en-US"/>
              <a:t>(Migrations also happen for write packets, we just need to carry both the read state and the write state to the server)</a:t>
            </a:r>
          </a:p>
        </p:txBody>
      </p:sp>
      <p:sp>
        <p:nvSpPr>
          <p:cNvPr id="4" name="Slide Number Placeholder 3"/>
          <p:cNvSpPr>
            <a:spLocks noGrp="1"/>
          </p:cNvSpPr>
          <p:nvPr>
            <p:ph type="sldNum" sz="quarter" idx="5"/>
          </p:nvPr>
        </p:nvSpPr>
        <p:spPr/>
        <p:txBody>
          <a:bodyPr/>
          <a:lstStyle/>
          <a:p>
            <a:fld id="{795E7FAD-1E72-1544-B98F-5E189CA69118}" type="slidenum">
              <a:rPr lang="en-US" smtClean="0"/>
              <a:t>15</a:t>
            </a:fld>
            <a:endParaRPr lang="en-US"/>
          </a:p>
        </p:txBody>
      </p:sp>
    </p:spTree>
    <p:extLst>
      <p:ext uri="{BB962C8B-B14F-4D97-AF65-F5344CB8AC3E}">
        <p14:creationId xmlns:p14="http://schemas.microsoft.com/office/powerpoint/2010/main" val="2274404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01B7-39A3-3CBB-126F-CA8AAE38C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138DF-A37B-C65F-E453-2C1C467BC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90A5A-C5ED-B31E-5663-DE9572AF54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8EB62C-6D77-9C8B-BD5E-9BA2F9E2CF4B}"/>
              </a:ext>
            </a:extLst>
          </p:cNvPr>
          <p:cNvSpPr>
            <a:spLocks noGrp="1"/>
          </p:cNvSpPr>
          <p:nvPr>
            <p:ph type="sldNum" sz="quarter" idx="5"/>
          </p:nvPr>
        </p:nvSpPr>
        <p:spPr/>
        <p:txBody>
          <a:bodyPr/>
          <a:lstStyle/>
          <a:p>
            <a:fld id="{795E7FAD-1E72-1544-B98F-5E189CA69118}" type="slidenum">
              <a:rPr lang="en-US" smtClean="0"/>
              <a:t>16</a:t>
            </a:fld>
            <a:endParaRPr lang="en-US"/>
          </a:p>
        </p:txBody>
      </p:sp>
    </p:spTree>
    <p:extLst>
      <p:ext uri="{BB962C8B-B14F-4D97-AF65-F5344CB8AC3E}">
        <p14:creationId xmlns:p14="http://schemas.microsoft.com/office/powerpoint/2010/main" val="3252606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049F6-A5A4-FFC0-3DB2-12207502D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218AD-BF7D-49FE-3C52-65A0F3C7B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39D7A-CFEE-AA6A-16A3-C2C3DB8CD688}"/>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2049576E-6E3B-EF89-09A9-2AD541BC9EF5}"/>
              </a:ext>
            </a:extLst>
          </p:cNvPr>
          <p:cNvSpPr>
            <a:spLocks noGrp="1"/>
          </p:cNvSpPr>
          <p:nvPr>
            <p:ph type="sldNum" sz="quarter" idx="5"/>
          </p:nvPr>
        </p:nvSpPr>
        <p:spPr/>
        <p:txBody>
          <a:bodyPr/>
          <a:lstStyle/>
          <a:p>
            <a:fld id="{795E7FAD-1E72-1544-B98F-5E189CA69118}" type="slidenum">
              <a:rPr lang="en-US" smtClean="0"/>
              <a:t>17</a:t>
            </a:fld>
            <a:endParaRPr lang="en-US"/>
          </a:p>
        </p:txBody>
      </p:sp>
    </p:spTree>
    <p:extLst>
      <p:ext uri="{BB962C8B-B14F-4D97-AF65-F5344CB8AC3E}">
        <p14:creationId xmlns:p14="http://schemas.microsoft.com/office/powerpoint/2010/main" val="4258269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FB63-E9C9-1E37-398C-161DC009E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E19E9-AE20-6C65-9F91-226A78081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816A25-395E-C689-EFC2-3803059240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B4340E-6F20-B96C-119A-6DFA0C26DA57}"/>
              </a:ext>
            </a:extLst>
          </p:cNvPr>
          <p:cNvSpPr>
            <a:spLocks noGrp="1"/>
          </p:cNvSpPr>
          <p:nvPr>
            <p:ph type="sldNum" sz="quarter" idx="5"/>
          </p:nvPr>
        </p:nvSpPr>
        <p:spPr/>
        <p:txBody>
          <a:bodyPr/>
          <a:lstStyle/>
          <a:p>
            <a:fld id="{795E7FAD-1E72-1544-B98F-5E189CA69118}" type="slidenum">
              <a:rPr lang="en-US" smtClean="0"/>
              <a:t>18</a:t>
            </a:fld>
            <a:endParaRPr lang="en-US"/>
          </a:p>
        </p:txBody>
      </p:sp>
    </p:spTree>
    <p:extLst>
      <p:ext uri="{BB962C8B-B14F-4D97-AF65-F5344CB8AC3E}">
        <p14:creationId xmlns:p14="http://schemas.microsoft.com/office/powerpoint/2010/main" val="3944672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So, as you’ve probably guessed, we are stepping over some details here. Actual real networks are messier, and our consistency protocol needs to deal with issues coming from real networks.</a:t>
            </a:r>
          </a:p>
          <a:p>
            <a:pPr marL="171450" indent="-171450">
              <a:buFont typeface="Arial" panose="020B0604020202020204" pitchFamily="34" charset="0"/>
              <a:buChar char="•"/>
            </a:pPr>
            <a:r>
              <a:rPr lang="en-US"/>
              <a:t>For example, packets may be lost between the switch and the server. The key idea to solve this for the switch to keep track the migration was successful by expecting acknowledgments from the server, and simply to continue to write-back the migration until it is successful.</a:t>
            </a:r>
          </a:p>
          <a:p>
            <a:pPr marL="171450" indent="-171450">
              <a:buFont typeface="Arial" panose="020B0604020202020204" pitchFamily="34" charset="0"/>
              <a:buChar char="•"/>
            </a:pPr>
            <a:r>
              <a:rPr lang="en-US"/>
              <a:t>One other problem that might come is a train of packets from the same flow, in this case the same person. If we don’t deal with this, this can lead to inconsistent states if it happens during a migration. The key idea is for the switch to track the migration and abort ongoing migrations if new packets from the same flow arrive to the switch.</a:t>
            </a:r>
          </a:p>
          <a:p>
            <a:pPr marL="171450" indent="-171450">
              <a:buFont typeface="Arial" panose="020B0604020202020204" pitchFamily="34" charset="0"/>
              <a:buChar char="•"/>
            </a:pPr>
            <a:r>
              <a:rPr lang="en-US"/>
              <a:t>More details about these problems and how we solved them are in the paper, which we invite you to go check out.</a:t>
            </a:r>
          </a:p>
        </p:txBody>
      </p:sp>
      <p:sp>
        <p:nvSpPr>
          <p:cNvPr id="4" name="Slide Number Placeholder 3"/>
          <p:cNvSpPr>
            <a:spLocks noGrp="1"/>
          </p:cNvSpPr>
          <p:nvPr>
            <p:ph type="sldNum" sz="quarter" idx="5"/>
          </p:nvPr>
        </p:nvSpPr>
        <p:spPr/>
        <p:txBody>
          <a:bodyPr/>
          <a:lstStyle/>
          <a:p>
            <a:fld id="{795E7FAD-1E72-1544-B98F-5E189CA69118}" type="slidenum">
              <a:rPr lang="en-US" smtClean="0"/>
              <a:t>19</a:t>
            </a:fld>
            <a:endParaRPr lang="en-US"/>
          </a:p>
        </p:txBody>
      </p:sp>
    </p:spTree>
    <p:extLst>
      <p:ext uri="{BB962C8B-B14F-4D97-AF65-F5344CB8AC3E}">
        <p14:creationId xmlns:p14="http://schemas.microsoft.com/office/powerpoint/2010/main" val="2210751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5E7FAD-1E72-1544-B98F-5E189CA69118}" type="slidenum">
              <a:rPr lang="en-US" smtClean="0"/>
              <a:t>20</a:t>
            </a:fld>
            <a:endParaRPr lang="en-US"/>
          </a:p>
        </p:txBody>
      </p:sp>
    </p:spTree>
    <p:extLst>
      <p:ext uri="{BB962C8B-B14F-4D97-AF65-F5344CB8AC3E}">
        <p14:creationId xmlns:p14="http://schemas.microsoft.com/office/powerpoint/2010/main" val="1769594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Here we show how </a:t>
            </a:r>
            <a:r>
              <a:rPr lang="en-US" err="1"/>
              <a:t>SwitchNICs</a:t>
            </a:r>
            <a:r>
              <a:rPr lang="en-US"/>
              <a:t> fairs in terms of efficiency, that is throughput over power consumption.</a:t>
            </a:r>
          </a:p>
          <a:p>
            <a:pPr marL="171450" indent="-171450">
              <a:buFont typeface="Arial" panose="020B0604020202020204" pitchFamily="34" charset="0"/>
              <a:buChar char="•"/>
            </a:pPr>
            <a:r>
              <a:rPr lang="en-US"/>
              <a:t>On the x-axis we have all the network functions that we evaluated: a firewall, a load balancer, a key value store, a packet reassemble, and a deep packet inspector.</a:t>
            </a:r>
          </a:p>
          <a:p>
            <a:pPr marL="171450" indent="-171450">
              <a:buFont typeface="Arial" panose="020B0604020202020204" pitchFamily="34" charset="0"/>
              <a:buChar char="•"/>
            </a:pPr>
            <a:r>
              <a:rPr lang="en-US"/>
              <a:t>On the y-axis we have efficiency in Gbps/Watt, or throughput per power consumption. Higher is better, that is, the more efficient the better.</a:t>
            </a:r>
          </a:p>
          <a:p>
            <a:pPr marL="171450" indent="-171450">
              <a:buFont typeface="Arial" panose="020B0604020202020204" pitchFamily="34" charset="0"/>
              <a:buChar char="•"/>
            </a:pPr>
            <a:r>
              <a:rPr lang="en-US"/>
              <a:t>Each column represents a specific system. We have:</a:t>
            </a:r>
          </a:p>
          <a:p>
            <a:pPr marL="628650" lvl="1" indent="-171450">
              <a:buFont typeface="Arial" panose="020B0604020202020204" pitchFamily="34" charset="0"/>
              <a:buChar char="•"/>
            </a:pPr>
            <a:r>
              <a:rPr lang="en-US"/>
              <a:t>Our system </a:t>
            </a:r>
            <a:r>
              <a:rPr lang="en-US" err="1"/>
              <a:t>SwitchNIC</a:t>
            </a:r>
            <a:r>
              <a:rPr lang="en-US"/>
              <a:t> in purple,</a:t>
            </a:r>
          </a:p>
          <a:p>
            <a:pPr marL="628650" lvl="1" indent="-171450">
              <a:buFont typeface="Arial" panose="020B0604020202020204" pitchFamily="34" charset="0"/>
              <a:buChar char="•"/>
            </a:pPr>
            <a:r>
              <a:rPr lang="en-US"/>
              <a:t>The server, in black, where we used a server to run the entire NF.</a:t>
            </a:r>
          </a:p>
          <a:p>
            <a:pPr marL="628650" lvl="1" indent="-171450">
              <a:buFont typeface="Arial" panose="020B0604020202020204" pitchFamily="34" charset="0"/>
              <a:buChar char="•"/>
            </a:pPr>
            <a:r>
              <a:rPr lang="en-US"/>
              <a:t>The Cache, in green, where we used both a programmable switch and a server to run the NF, with the caveat that operation on the switch are read-only as they do not have our consistency protocol</a:t>
            </a:r>
          </a:p>
          <a:p>
            <a:pPr marL="628650" lvl="1" indent="-171450">
              <a:buFont typeface="Arial" panose="020B0604020202020204" pitchFamily="34" charset="0"/>
              <a:buChar char="•"/>
            </a:pPr>
            <a:r>
              <a:rPr lang="en-US"/>
              <a:t>And finally, the </a:t>
            </a:r>
            <a:r>
              <a:rPr lang="en-US" err="1"/>
              <a:t>SmartNIC</a:t>
            </a:r>
            <a:r>
              <a:rPr lang="en-US"/>
              <a:t> in pink. Similarly to the server, here we used a flexible ARM-core </a:t>
            </a:r>
            <a:r>
              <a:rPr lang="en-US" err="1"/>
              <a:t>SmartNIC</a:t>
            </a:r>
            <a:r>
              <a:rPr lang="en-US"/>
              <a:t> to run the entire NF.</a:t>
            </a:r>
          </a:p>
          <a:p>
            <a:pPr marL="171450" lvl="0" indent="-171450">
              <a:buFont typeface="Arial" panose="020B0604020202020204" pitchFamily="34" charset="0"/>
              <a:buChar char="•"/>
            </a:pPr>
            <a:r>
              <a:rPr lang="en-US"/>
              <a:t>Notice that the Cache system does not support the packet reassemble and the inspector, as the operations on the switch are read only.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 main take-away from this graph is that </a:t>
            </a:r>
            <a:r>
              <a:rPr lang="en-US" err="1"/>
              <a:t>SwitchNIC</a:t>
            </a:r>
            <a:r>
              <a:rPr lang="en-US"/>
              <a:t> achieves at least 50% better energy efficiency than the alternatives.</a:t>
            </a:r>
          </a:p>
          <a:p>
            <a:pPr marL="171450" lvl="0" indent="-171450">
              <a:buFont typeface="Arial" panose="020B0604020202020204" pitchFamily="34" charset="0"/>
              <a:buChar char="•"/>
            </a:pPr>
            <a:r>
              <a:rPr lang="en-US"/>
              <a:t>For the Server and </a:t>
            </a:r>
            <a:r>
              <a:rPr lang="en-US" err="1"/>
              <a:t>SmartNIC</a:t>
            </a:r>
            <a:r>
              <a:rPr lang="en-US"/>
              <a:t> cases this is easy to explain: the use of the extremely high performant programmable switch brings significant performance advantages when compared to running on a server or a </a:t>
            </a:r>
            <a:r>
              <a:rPr lang="en-US" err="1"/>
              <a:t>smartnic</a:t>
            </a:r>
            <a:r>
              <a:rPr lang="en-US"/>
              <a:t> only.</a:t>
            </a:r>
          </a:p>
          <a:p>
            <a:pPr marL="171450" indent="-171450">
              <a:buFont typeface="Arial" panose="020B0604020202020204" pitchFamily="34" charset="0"/>
              <a:buChar char="•"/>
            </a:pPr>
            <a:r>
              <a:rPr lang="en-US"/>
              <a:t>Regarding the previous “cache”-style hybrid design, </a:t>
            </a:r>
            <a:r>
              <a:rPr lang="en-US" err="1"/>
              <a:t>SwitchNIC</a:t>
            </a:r>
            <a:r>
              <a:rPr lang="en-US"/>
              <a:t>  outperforms them in two key ways:</a:t>
            </a:r>
          </a:p>
          <a:p>
            <a:endParaRPr lang="en-US"/>
          </a:p>
          <a:p>
            <a:r>
              <a:rPr lang="en-US" b="1"/>
              <a:t>1. Supports more complex NFs</a:t>
            </a:r>
            <a:r>
              <a:rPr lang="en-US"/>
              <a:t> – It can handle stateful functions like packet inspection and reassembly, while prior systems mainly target simple NFs due to lack of consistent shared states.</a:t>
            </a:r>
          </a:p>
          <a:p>
            <a:endParaRPr lang="en-US"/>
          </a:p>
          <a:p>
            <a:r>
              <a:rPr lang="en-US" b="1"/>
              <a:t>2. Outperforms in terms of raw throughput </a:t>
            </a:r>
            <a:r>
              <a:rPr lang="en-US" b="0"/>
              <a:t>because </a:t>
            </a:r>
            <a:r>
              <a:rPr lang="en-US"/>
              <a:t>more traffic can be offloaded to the switch under high traffic churns.</a:t>
            </a:r>
          </a:p>
          <a:p>
            <a:r>
              <a:rPr lang="en-US"/>
              <a:t>This is because </a:t>
            </a:r>
            <a:r>
              <a:rPr lang="en-US" err="1"/>
              <a:t>SwitchNIC</a:t>
            </a:r>
            <a:r>
              <a:rPr lang="en-US"/>
              <a:t> stores the entire flow-state table in the data plane to enable fast state insertions, deletions, and updates —unlike earlier designs that rely on the much slower switch control plane.</a:t>
            </a:r>
          </a:p>
        </p:txBody>
      </p:sp>
      <p:sp>
        <p:nvSpPr>
          <p:cNvPr id="4" name="Slide Number Placeholder 3"/>
          <p:cNvSpPr>
            <a:spLocks noGrp="1"/>
          </p:cNvSpPr>
          <p:nvPr>
            <p:ph type="sldNum" sz="quarter" idx="5"/>
          </p:nvPr>
        </p:nvSpPr>
        <p:spPr/>
        <p:txBody>
          <a:bodyPr/>
          <a:lstStyle/>
          <a:p>
            <a:fld id="{795E7FAD-1E72-1544-B98F-5E189CA69118}" type="slidenum">
              <a:rPr lang="en-US" smtClean="0"/>
              <a:t>21</a:t>
            </a:fld>
            <a:endParaRPr lang="en-US"/>
          </a:p>
        </p:txBody>
      </p:sp>
    </p:spTree>
    <p:extLst>
      <p:ext uri="{BB962C8B-B14F-4D97-AF65-F5344CB8AC3E}">
        <p14:creationId xmlns:p14="http://schemas.microsoft.com/office/powerpoint/2010/main" val="4068491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DAE7-949A-2BD9-E69A-91F6559A8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4C6F1-6585-575F-A54A-3D7E3A7E3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5344B-BDA4-DA55-6BA7-ABE9BE90F5F8}"/>
              </a:ext>
            </a:extLst>
          </p:cNvPr>
          <p:cNvSpPr>
            <a:spLocks noGrp="1"/>
          </p:cNvSpPr>
          <p:nvPr>
            <p:ph type="body" idx="1"/>
          </p:nvPr>
        </p:nvSpPr>
        <p:spPr/>
        <p:txBody>
          <a:bodyPr/>
          <a:lstStyle/>
          <a:p>
            <a:pPr marL="171450" indent="-171450">
              <a:buFont typeface="Arial" panose="020B0604020202020204" pitchFamily="34" charset="0"/>
              <a:buChar char="•"/>
            </a:pPr>
            <a:r>
              <a:rPr lang="en-US"/>
              <a:t>In this last experiment, we analyze processing latency.</a:t>
            </a:r>
          </a:p>
          <a:p>
            <a:pPr marL="171450" indent="-171450">
              <a:buFont typeface="Arial" panose="020B0604020202020204" pitchFamily="34" charset="0"/>
              <a:buChar char="•"/>
            </a:pPr>
            <a:r>
              <a:rPr lang="en-US"/>
              <a:t>This is measured from the time the packet enters the switch to the time it leaves the switch.</a:t>
            </a:r>
          </a:p>
          <a:p>
            <a:pPr marL="171450" indent="-171450">
              <a:buFont typeface="Arial" panose="020B0604020202020204" pitchFamily="34" charset="0"/>
              <a:buChar char="•"/>
            </a:pPr>
            <a:r>
              <a:rPr lang="en-US"/>
              <a:t>We have the same x-axis with the NFs, and the same systems under evaluation.</a:t>
            </a:r>
          </a:p>
          <a:p>
            <a:pPr marL="171450" indent="-171450">
              <a:buFont typeface="Arial" panose="020B0604020202020204" pitchFamily="34" charset="0"/>
              <a:buChar char="•"/>
            </a:pPr>
            <a:r>
              <a:rPr lang="en-US"/>
              <a:t>On the y-axis, we now have latency in microseconds. Here, lower is better, meaning lower latency.</a:t>
            </a:r>
          </a:p>
          <a:p>
            <a:pPr marL="171450" indent="-171450">
              <a:buFont typeface="Arial" panose="020B0604020202020204" pitchFamily="34" charset="0"/>
              <a:buChar char="•"/>
            </a:pPr>
            <a:r>
              <a:rPr lang="en-US"/>
              <a:t>The main takeaway here is that </a:t>
            </a:r>
            <a:r>
              <a:rPr lang="en-US" err="1"/>
              <a:t>SwitchNIC</a:t>
            </a:r>
            <a:r>
              <a:rPr lang="en-US"/>
              <a:t> achieves at least 60% better processing latency than the other systems. This is mainly for two reasons:</a:t>
            </a:r>
          </a:p>
          <a:p>
            <a:pPr marL="171450" indent="-171450">
              <a:buFont typeface="Arial" panose="020B0604020202020204" pitchFamily="34" charset="0"/>
              <a:buChar char="•"/>
            </a:pPr>
            <a:endParaRPr lang="en-US"/>
          </a:p>
          <a:p>
            <a:r>
              <a:rPr lang="en-US"/>
              <a:t>1. Most packets require simple operations, so most traffic is directly returned by the switch</a:t>
            </a:r>
          </a:p>
          <a:p>
            <a:r>
              <a:rPr lang="en-US"/>
              <a:t>2. It achieves a higher cache hit ratio under dynamic traffic conditions than prior caching systems</a:t>
            </a:r>
          </a:p>
        </p:txBody>
      </p:sp>
      <p:sp>
        <p:nvSpPr>
          <p:cNvPr id="4" name="Slide Number Placeholder 3">
            <a:extLst>
              <a:ext uri="{FF2B5EF4-FFF2-40B4-BE49-F238E27FC236}">
                <a16:creationId xmlns:a16="http://schemas.microsoft.com/office/drawing/2014/main" id="{00DDEB0A-DB69-C8B7-D55B-1D2D60FB6C7B}"/>
              </a:ext>
            </a:extLst>
          </p:cNvPr>
          <p:cNvSpPr>
            <a:spLocks noGrp="1"/>
          </p:cNvSpPr>
          <p:nvPr>
            <p:ph type="sldNum" sz="quarter" idx="5"/>
          </p:nvPr>
        </p:nvSpPr>
        <p:spPr/>
        <p:txBody>
          <a:bodyPr/>
          <a:lstStyle/>
          <a:p>
            <a:fld id="{795E7FAD-1E72-1544-B98F-5E189CA69118}" type="slidenum">
              <a:rPr lang="en-US" smtClean="0"/>
              <a:t>22</a:t>
            </a:fld>
            <a:endParaRPr lang="en-US"/>
          </a:p>
        </p:txBody>
      </p:sp>
    </p:spTree>
    <p:extLst>
      <p:ext uri="{BB962C8B-B14F-4D97-AF65-F5344CB8AC3E}">
        <p14:creationId xmlns:p14="http://schemas.microsoft.com/office/powerpoint/2010/main" val="1851787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7D71F-D0E7-F857-EC1B-3691A92DC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515D0-DA69-492C-6093-8C628622B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7D15E-8E59-F821-8A57-186E11BFE054}"/>
              </a:ext>
            </a:extLst>
          </p:cNvPr>
          <p:cNvSpPr>
            <a:spLocks noGrp="1"/>
          </p:cNvSpPr>
          <p:nvPr>
            <p:ph type="body" idx="1"/>
          </p:nvPr>
        </p:nvSpPr>
        <p:spPr/>
        <p:txBody>
          <a:bodyPr/>
          <a:lstStyle/>
          <a:p>
            <a:pPr marL="171450" indent="-171450">
              <a:buFont typeface="Arial" panose="020B0604020202020204" pitchFamily="34" charset="0"/>
              <a:buChar char="•"/>
            </a:pPr>
            <a:r>
              <a:rPr lang="en-US"/>
              <a:t>So, the main takeaway from this talk is that maintaining shared/state consistency in hybrid hardware/software NFs is simple when the hardware lies on the data path to the software.</a:t>
            </a:r>
          </a:p>
          <a:p>
            <a:pPr marL="171450" indent="-171450">
              <a:buFont typeface="Arial" panose="020B0604020202020204" pitchFamily="34" charset="0"/>
              <a:buChar char="•"/>
            </a:pPr>
            <a:r>
              <a:rPr lang="en-US"/>
              <a:t>With this, we presented </a:t>
            </a:r>
            <a:r>
              <a:rPr lang="en-US" err="1"/>
              <a:t>SwitchNIC</a:t>
            </a:r>
            <a:r>
              <a:rPr lang="en-US"/>
              <a:t>, a tightly integrated heterogeneous architecture capable of ensuring strong consistency under high performance. </a:t>
            </a:r>
          </a:p>
          <a:p>
            <a:pPr marL="171450" indent="-171450">
              <a:buFont typeface="Arial" panose="020B0604020202020204" pitchFamily="34" charset="0"/>
              <a:buChar char="•"/>
            </a:pPr>
            <a:r>
              <a:rPr lang="en-US" sz="3200" err="1">
                <a:latin typeface="Calibri Light" panose="020F0302020204030204" pitchFamily="34" charset="0"/>
                <a:cs typeface="Calibri Light" panose="020F0302020204030204" pitchFamily="34" charset="0"/>
              </a:rPr>
              <a:t>SwitchNIC</a:t>
            </a:r>
            <a:r>
              <a:rPr lang="en-US" sz="3200">
                <a:latin typeface="Calibri Light" panose="020F0302020204030204" pitchFamily="34" charset="0"/>
                <a:cs typeface="Calibri Light" panose="020F0302020204030204" pitchFamily="34" charset="0"/>
              </a:rPr>
              <a:t> achieves 1.5x better energy efficiency, 1.6x better latency</a:t>
            </a:r>
          </a:p>
          <a:p>
            <a:endParaRPr lang="en-US"/>
          </a:p>
        </p:txBody>
      </p:sp>
      <p:sp>
        <p:nvSpPr>
          <p:cNvPr id="4" name="Slide Number Placeholder 3">
            <a:extLst>
              <a:ext uri="{FF2B5EF4-FFF2-40B4-BE49-F238E27FC236}">
                <a16:creationId xmlns:a16="http://schemas.microsoft.com/office/drawing/2014/main" id="{62CDD5A1-546D-987C-666A-0C4AAAC5E3A1}"/>
              </a:ext>
            </a:extLst>
          </p:cNvPr>
          <p:cNvSpPr>
            <a:spLocks noGrp="1"/>
          </p:cNvSpPr>
          <p:nvPr>
            <p:ph type="sldNum" sz="quarter" idx="5"/>
          </p:nvPr>
        </p:nvSpPr>
        <p:spPr/>
        <p:txBody>
          <a:bodyPr/>
          <a:lstStyle/>
          <a:p>
            <a:fld id="{795E7FAD-1E72-1544-B98F-5E189CA69118}" type="slidenum">
              <a:rPr lang="en-US" smtClean="0"/>
              <a:t>23</a:t>
            </a:fld>
            <a:endParaRPr lang="en-US"/>
          </a:p>
        </p:txBody>
      </p:sp>
    </p:spTree>
    <p:extLst>
      <p:ext uri="{BB962C8B-B14F-4D97-AF65-F5344CB8AC3E}">
        <p14:creationId xmlns:p14="http://schemas.microsoft.com/office/powerpoint/2010/main" val="309885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9712-FD64-2B71-3769-0C1482260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6394F-136A-8F87-A611-170AE2E6B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8A2F8-1BB3-C38A-6D88-E1AD0DF5D2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678DF4-EFF0-FF72-F9B5-D9266024FA4B}"/>
              </a:ext>
            </a:extLst>
          </p:cNvPr>
          <p:cNvSpPr>
            <a:spLocks noGrp="1"/>
          </p:cNvSpPr>
          <p:nvPr>
            <p:ph type="sldNum" sz="quarter" idx="5"/>
          </p:nvPr>
        </p:nvSpPr>
        <p:spPr/>
        <p:txBody>
          <a:bodyPr/>
          <a:lstStyle/>
          <a:p>
            <a:fld id="{795E7FAD-1E72-1544-B98F-5E189CA69118}" type="slidenum">
              <a:rPr lang="en-US" smtClean="0"/>
              <a:t>25</a:t>
            </a:fld>
            <a:endParaRPr lang="en-US"/>
          </a:p>
        </p:txBody>
      </p:sp>
    </p:spTree>
    <p:extLst>
      <p:ext uri="{BB962C8B-B14F-4D97-AF65-F5344CB8AC3E}">
        <p14:creationId xmlns:p14="http://schemas.microsoft.com/office/powerpoint/2010/main" val="4251093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2C8C-7949-E68B-FBC2-85388A68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023EB-1A8C-8342-EA28-2C37D86C1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E76A7-64E2-4F8A-8AA6-82B289466C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E08FE9-4ECB-C112-15C8-B3620919BF23}"/>
              </a:ext>
            </a:extLst>
          </p:cNvPr>
          <p:cNvSpPr>
            <a:spLocks noGrp="1"/>
          </p:cNvSpPr>
          <p:nvPr>
            <p:ph type="sldNum" sz="quarter" idx="5"/>
          </p:nvPr>
        </p:nvSpPr>
        <p:spPr/>
        <p:txBody>
          <a:bodyPr/>
          <a:lstStyle/>
          <a:p>
            <a:fld id="{795E7FAD-1E72-1544-B98F-5E189CA69118}" type="slidenum">
              <a:rPr lang="en-US" smtClean="0"/>
              <a:t>26</a:t>
            </a:fld>
            <a:endParaRPr lang="en-US"/>
          </a:p>
        </p:txBody>
      </p:sp>
    </p:spTree>
    <p:extLst>
      <p:ext uri="{BB962C8B-B14F-4D97-AF65-F5344CB8AC3E}">
        <p14:creationId xmlns:p14="http://schemas.microsoft.com/office/powerpoint/2010/main" val="1447056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D4F3-DABE-D524-8BD0-D5DB3D17FF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4B8D36-8FC8-3996-2C14-C0D9955110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E1740B-C41C-1910-4591-E7AFCD3D0333}"/>
              </a:ext>
            </a:extLst>
          </p:cNvPr>
          <p:cNvSpPr>
            <a:spLocks noGrp="1"/>
          </p:cNvSpPr>
          <p:nvPr>
            <p:ph type="dt" sz="half" idx="10"/>
          </p:nvPr>
        </p:nvSpPr>
        <p:spPr/>
        <p:txBody>
          <a:bodyPr/>
          <a:lstStyle/>
          <a:p>
            <a:fld id="{3CC6663D-277C-6642-BF31-35AEE22AA1F2}" type="datetime1">
              <a:rPr lang="en-US" smtClean="0"/>
              <a:t>12/10/25</a:t>
            </a:fld>
            <a:endParaRPr lang="en-US"/>
          </a:p>
        </p:txBody>
      </p:sp>
      <p:sp>
        <p:nvSpPr>
          <p:cNvPr id="5" name="Footer Placeholder 4">
            <a:extLst>
              <a:ext uri="{FF2B5EF4-FFF2-40B4-BE49-F238E27FC236}">
                <a16:creationId xmlns:a16="http://schemas.microsoft.com/office/drawing/2014/main" id="{9626BB34-B62F-6B81-4D55-F5160DA4A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E02BA1-FA46-279D-EBE1-1B2A1279703E}"/>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1388191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C610-7ABC-FAED-8228-FA6F5C9993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E4F48-FE65-1968-F398-2D2D1B57D3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8441A8-82A5-C365-F10C-24C6C64CECEA}"/>
              </a:ext>
            </a:extLst>
          </p:cNvPr>
          <p:cNvSpPr>
            <a:spLocks noGrp="1"/>
          </p:cNvSpPr>
          <p:nvPr>
            <p:ph type="dt" sz="half" idx="10"/>
          </p:nvPr>
        </p:nvSpPr>
        <p:spPr/>
        <p:txBody>
          <a:bodyPr/>
          <a:lstStyle/>
          <a:p>
            <a:fld id="{7A1B95E4-5270-6349-AAB9-1782DDDFA201}" type="datetime1">
              <a:rPr lang="en-US" smtClean="0"/>
              <a:t>12/10/25</a:t>
            </a:fld>
            <a:endParaRPr lang="en-US"/>
          </a:p>
        </p:txBody>
      </p:sp>
      <p:sp>
        <p:nvSpPr>
          <p:cNvPr id="5" name="Footer Placeholder 4">
            <a:extLst>
              <a:ext uri="{FF2B5EF4-FFF2-40B4-BE49-F238E27FC236}">
                <a16:creationId xmlns:a16="http://schemas.microsoft.com/office/drawing/2014/main" id="{A14A595C-C766-33EC-8575-4509FEAD2C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B9024F-D180-268D-F54B-DE1C5EC9C800}"/>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1275153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DA0AA-E7D7-6ADB-9015-B7C0D5EA97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48C206-3F72-AB75-D19C-218F45BA60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1EE18D-7E9D-ADFB-7B1E-A1B00448F0B7}"/>
              </a:ext>
            </a:extLst>
          </p:cNvPr>
          <p:cNvSpPr>
            <a:spLocks noGrp="1"/>
          </p:cNvSpPr>
          <p:nvPr>
            <p:ph type="dt" sz="half" idx="10"/>
          </p:nvPr>
        </p:nvSpPr>
        <p:spPr/>
        <p:txBody>
          <a:bodyPr/>
          <a:lstStyle/>
          <a:p>
            <a:fld id="{53DD7ACA-7C18-9043-9E1F-08928C438B27}" type="datetime1">
              <a:rPr lang="en-US" smtClean="0"/>
              <a:t>12/10/25</a:t>
            </a:fld>
            <a:endParaRPr lang="en-US"/>
          </a:p>
        </p:txBody>
      </p:sp>
      <p:sp>
        <p:nvSpPr>
          <p:cNvPr id="5" name="Footer Placeholder 4">
            <a:extLst>
              <a:ext uri="{FF2B5EF4-FFF2-40B4-BE49-F238E27FC236}">
                <a16:creationId xmlns:a16="http://schemas.microsoft.com/office/drawing/2014/main" id="{34148A86-3E28-818F-B844-7F8AFA58D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D76822-6C8E-718D-1440-64FF84D3974D}"/>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224035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B0F8F-5CE6-3693-CE2B-06EC3ED9C6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666584-B956-D004-84C3-EEFF640F69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B68870-7910-9C44-96DA-BE8540CC05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AA0D77-6268-55A6-B2C1-01AB1FE444A5}"/>
              </a:ext>
            </a:extLst>
          </p:cNvPr>
          <p:cNvSpPr>
            <a:spLocks noGrp="1"/>
          </p:cNvSpPr>
          <p:nvPr>
            <p:ph type="dt" sz="half" idx="10"/>
          </p:nvPr>
        </p:nvSpPr>
        <p:spPr/>
        <p:txBody>
          <a:bodyPr/>
          <a:lstStyle/>
          <a:p>
            <a:fld id="{1D1D62EF-15A3-C440-ABCF-31C2816042D4}" type="datetime1">
              <a:rPr lang="en-US" smtClean="0"/>
              <a:t>12/10/25</a:t>
            </a:fld>
            <a:endParaRPr lang="en-US"/>
          </a:p>
        </p:txBody>
      </p:sp>
      <p:sp>
        <p:nvSpPr>
          <p:cNvPr id="6" name="Footer Placeholder 5">
            <a:extLst>
              <a:ext uri="{FF2B5EF4-FFF2-40B4-BE49-F238E27FC236}">
                <a16:creationId xmlns:a16="http://schemas.microsoft.com/office/drawing/2014/main" id="{567D9BAB-A623-0EBB-8A41-F3C95AEB36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676F5-71A4-F35B-CA9B-51F9B62FCD22}"/>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2709488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35EC0-640F-1C56-DD93-77460EFB5C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F898CE-155A-33F5-01EA-A7B7334605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52E26E-202F-9F16-E0FC-697D15CE3E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6D653E-A5DD-3BE8-F907-D8ED44E26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6A013A-A7B6-A042-746B-8A8D0E7887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C75C75-D795-647D-CD38-F657A762914F}"/>
              </a:ext>
            </a:extLst>
          </p:cNvPr>
          <p:cNvSpPr>
            <a:spLocks noGrp="1"/>
          </p:cNvSpPr>
          <p:nvPr>
            <p:ph type="dt" sz="half" idx="10"/>
          </p:nvPr>
        </p:nvSpPr>
        <p:spPr/>
        <p:txBody>
          <a:bodyPr/>
          <a:lstStyle/>
          <a:p>
            <a:fld id="{0070A20F-8C06-9648-A340-5068E58FD6DA}" type="datetime1">
              <a:rPr lang="en-US" smtClean="0"/>
              <a:t>12/10/25</a:t>
            </a:fld>
            <a:endParaRPr lang="en-US"/>
          </a:p>
        </p:txBody>
      </p:sp>
      <p:sp>
        <p:nvSpPr>
          <p:cNvPr id="8" name="Footer Placeholder 7">
            <a:extLst>
              <a:ext uri="{FF2B5EF4-FFF2-40B4-BE49-F238E27FC236}">
                <a16:creationId xmlns:a16="http://schemas.microsoft.com/office/drawing/2014/main" id="{09DD788C-43EB-3338-D2CD-6206033485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9A5DE9-4F08-E972-366D-AEFC1B14C96A}"/>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3124534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39EBC-BE73-72B6-612E-837824341A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3E065A-E989-ECEA-CD0F-2B1C0786F312}"/>
              </a:ext>
            </a:extLst>
          </p:cNvPr>
          <p:cNvSpPr>
            <a:spLocks noGrp="1"/>
          </p:cNvSpPr>
          <p:nvPr>
            <p:ph type="dt" sz="half" idx="10"/>
          </p:nvPr>
        </p:nvSpPr>
        <p:spPr/>
        <p:txBody>
          <a:bodyPr/>
          <a:lstStyle/>
          <a:p>
            <a:fld id="{D5D7E3EB-76F2-6D4A-A8CE-9EABD34EBF4A}" type="datetime1">
              <a:rPr lang="en-US" smtClean="0"/>
              <a:t>12/10/25</a:t>
            </a:fld>
            <a:endParaRPr lang="en-US"/>
          </a:p>
        </p:txBody>
      </p:sp>
      <p:sp>
        <p:nvSpPr>
          <p:cNvPr id="4" name="Footer Placeholder 3">
            <a:extLst>
              <a:ext uri="{FF2B5EF4-FFF2-40B4-BE49-F238E27FC236}">
                <a16:creationId xmlns:a16="http://schemas.microsoft.com/office/drawing/2014/main" id="{2291C552-A800-6C9A-D8C0-5AB09FA661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0882CB-9A9F-3C70-E23D-B08CCE9BB508}"/>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1677321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A10423-0831-A234-FE3E-289AF3337038}"/>
              </a:ext>
            </a:extLst>
          </p:cNvPr>
          <p:cNvSpPr>
            <a:spLocks noGrp="1"/>
          </p:cNvSpPr>
          <p:nvPr>
            <p:ph type="dt" sz="half" idx="10"/>
          </p:nvPr>
        </p:nvSpPr>
        <p:spPr/>
        <p:txBody>
          <a:bodyPr/>
          <a:lstStyle/>
          <a:p>
            <a:fld id="{F1EAB134-4E9B-254E-8F3D-991973151621}" type="datetime1">
              <a:rPr lang="en-US" smtClean="0"/>
              <a:t>12/10/25</a:t>
            </a:fld>
            <a:endParaRPr lang="en-US"/>
          </a:p>
        </p:txBody>
      </p:sp>
      <p:sp>
        <p:nvSpPr>
          <p:cNvPr id="3" name="Footer Placeholder 2">
            <a:extLst>
              <a:ext uri="{FF2B5EF4-FFF2-40B4-BE49-F238E27FC236}">
                <a16:creationId xmlns:a16="http://schemas.microsoft.com/office/drawing/2014/main" id="{ED3465A5-0FC0-483F-DE46-98609745F4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9D1DE4-DEE9-F25B-56E8-2E006B0C0073}"/>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5899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C52F8-4917-DA01-ACD2-65AAE85AE6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B81DA7-0B92-9547-509A-A253BCB54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8C1049-E4E4-10C6-FA08-CC2EC2BBE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70B193-5E58-951D-CC85-8F0693C77F95}"/>
              </a:ext>
            </a:extLst>
          </p:cNvPr>
          <p:cNvSpPr>
            <a:spLocks noGrp="1"/>
          </p:cNvSpPr>
          <p:nvPr>
            <p:ph type="dt" sz="half" idx="10"/>
          </p:nvPr>
        </p:nvSpPr>
        <p:spPr/>
        <p:txBody>
          <a:bodyPr/>
          <a:lstStyle/>
          <a:p>
            <a:fld id="{FF0FB347-FDF2-F840-A66B-9864A21C4A35}" type="datetime1">
              <a:rPr lang="en-US" smtClean="0"/>
              <a:t>12/10/25</a:t>
            </a:fld>
            <a:endParaRPr lang="en-US"/>
          </a:p>
        </p:txBody>
      </p:sp>
      <p:sp>
        <p:nvSpPr>
          <p:cNvPr id="6" name="Footer Placeholder 5">
            <a:extLst>
              <a:ext uri="{FF2B5EF4-FFF2-40B4-BE49-F238E27FC236}">
                <a16:creationId xmlns:a16="http://schemas.microsoft.com/office/drawing/2014/main" id="{B8C12AEC-200C-FC39-6FDC-AD486B6BE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FE9A2E-C8AF-B0FC-6343-E4717997991B}"/>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2669704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883B-876C-6F5C-6B32-919EA45C87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D36BC5-FAED-1AFC-314F-393BBF372E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EB45EE-5745-C895-70F2-DD612D77E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1865F-91BE-04E2-61FF-488376FF81F2}"/>
              </a:ext>
            </a:extLst>
          </p:cNvPr>
          <p:cNvSpPr>
            <a:spLocks noGrp="1"/>
          </p:cNvSpPr>
          <p:nvPr>
            <p:ph type="dt" sz="half" idx="10"/>
          </p:nvPr>
        </p:nvSpPr>
        <p:spPr/>
        <p:txBody>
          <a:bodyPr/>
          <a:lstStyle/>
          <a:p>
            <a:fld id="{C79687C4-7760-684F-A640-4B81C485F4A0}" type="datetime1">
              <a:rPr lang="en-US" smtClean="0"/>
              <a:t>12/10/25</a:t>
            </a:fld>
            <a:endParaRPr lang="en-US"/>
          </a:p>
        </p:txBody>
      </p:sp>
      <p:sp>
        <p:nvSpPr>
          <p:cNvPr id="6" name="Footer Placeholder 5">
            <a:extLst>
              <a:ext uri="{FF2B5EF4-FFF2-40B4-BE49-F238E27FC236}">
                <a16:creationId xmlns:a16="http://schemas.microsoft.com/office/drawing/2014/main" id="{28868DEF-04C2-C641-014E-34FB59B6BB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9F5F44-F978-2DF4-49B1-D36777E08D64}"/>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96888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04FB-FE2E-830C-4656-ACBC3B2E26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20D1FB-8C06-FD22-F758-C802C94E51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B204F-E16F-8F0C-9909-1F564FABFFB6}"/>
              </a:ext>
            </a:extLst>
          </p:cNvPr>
          <p:cNvSpPr>
            <a:spLocks noGrp="1"/>
          </p:cNvSpPr>
          <p:nvPr>
            <p:ph type="dt" sz="half" idx="10"/>
          </p:nvPr>
        </p:nvSpPr>
        <p:spPr/>
        <p:txBody>
          <a:bodyPr/>
          <a:lstStyle/>
          <a:p>
            <a:fld id="{474B2267-E6E7-0F43-B322-76B137DE5E2E}" type="datetime1">
              <a:rPr lang="en-US" smtClean="0"/>
              <a:t>12/10/25</a:t>
            </a:fld>
            <a:endParaRPr lang="en-US"/>
          </a:p>
        </p:txBody>
      </p:sp>
      <p:sp>
        <p:nvSpPr>
          <p:cNvPr id="5" name="Footer Placeholder 4">
            <a:extLst>
              <a:ext uri="{FF2B5EF4-FFF2-40B4-BE49-F238E27FC236}">
                <a16:creationId xmlns:a16="http://schemas.microsoft.com/office/drawing/2014/main" id="{7B96D704-2B03-8532-85AB-B9BF123F65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0697B-0C5D-E008-9BAF-C52A45A6AF8D}"/>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365844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21C268-8741-10F8-D01A-BED45A4B57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EEF404-5613-D9D5-7592-688E8A9FC6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1820AB-6439-38C4-9ED7-22105D1476DD}"/>
              </a:ext>
            </a:extLst>
          </p:cNvPr>
          <p:cNvSpPr>
            <a:spLocks noGrp="1"/>
          </p:cNvSpPr>
          <p:nvPr>
            <p:ph type="dt" sz="half" idx="10"/>
          </p:nvPr>
        </p:nvSpPr>
        <p:spPr/>
        <p:txBody>
          <a:bodyPr/>
          <a:lstStyle/>
          <a:p>
            <a:fld id="{695F1CEB-26E7-3A4D-841F-07AF69683342}" type="datetime1">
              <a:rPr lang="en-US" smtClean="0"/>
              <a:t>12/10/25</a:t>
            </a:fld>
            <a:endParaRPr lang="en-US"/>
          </a:p>
        </p:txBody>
      </p:sp>
      <p:sp>
        <p:nvSpPr>
          <p:cNvPr id="5" name="Footer Placeholder 4">
            <a:extLst>
              <a:ext uri="{FF2B5EF4-FFF2-40B4-BE49-F238E27FC236}">
                <a16:creationId xmlns:a16="http://schemas.microsoft.com/office/drawing/2014/main" id="{4521F2FF-BAF7-ADD8-6D16-2B064EECC3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2FA1A-367F-F1BE-DDAD-F034E9B875CF}"/>
              </a:ext>
            </a:extLst>
          </p:cNvPr>
          <p:cNvSpPr>
            <a:spLocks noGrp="1"/>
          </p:cNvSpPr>
          <p:nvPr>
            <p:ph type="sldNum" sz="quarter" idx="12"/>
          </p:nvPr>
        </p:nvSpPr>
        <p:spPr/>
        <p:txBody>
          <a:bodyPr/>
          <a:lstStyle/>
          <a:p>
            <a:fld id="{C2D4784F-C353-DA44-87C3-1AD0A2C880D0}" type="slidenum">
              <a:rPr lang="en-US" smtClean="0"/>
              <a:t>‹#›</a:t>
            </a:fld>
            <a:endParaRPr lang="en-US"/>
          </a:p>
        </p:txBody>
      </p:sp>
    </p:spTree>
    <p:extLst>
      <p:ext uri="{BB962C8B-B14F-4D97-AF65-F5344CB8AC3E}">
        <p14:creationId xmlns:p14="http://schemas.microsoft.com/office/powerpoint/2010/main" val="2324285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E58D44-0E2B-A793-5E16-A11606AE66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1D55B7-EB89-C0C6-ADA9-D74E7040A9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2AF86-40E1-F950-DB3C-5730DA6FE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69C1B1-6DEB-5946-A58E-092D31F4ED8E}" type="datetime1">
              <a:rPr lang="en-US" smtClean="0"/>
              <a:t>12/10/25</a:t>
            </a:fld>
            <a:endParaRPr lang="en-US"/>
          </a:p>
        </p:txBody>
      </p:sp>
      <p:sp>
        <p:nvSpPr>
          <p:cNvPr id="5" name="Footer Placeholder 4">
            <a:extLst>
              <a:ext uri="{FF2B5EF4-FFF2-40B4-BE49-F238E27FC236}">
                <a16:creationId xmlns:a16="http://schemas.microsoft.com/office/drawing/2014/main" id="{FC9C2B37-A692-357B-41B9-F78089EB2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E88024-E8AA-3E5A-A351-A198DFC87E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D4784F-C353-DA44-87C3-1AD0A2C880D0}" type="slidenum">
              <a:rPr lang="en-US" smtClean="0"/>
              <a:t>‹#›</a:t>
            </a:fld>
            <a:endParaRPr lang="en-US"/>
          </a:p>
        </p:txBody>
      </p:sp>
    </p:spTree>
    <p:extLst>
      <p:ext uri="{BB962C8B-B14F-4D97-AF65-F5344CB8AC3E}">
        <p14:creationId xmlns:p14="http://schemas.microsoft.com/office/powerpoint/2010/main" val="2640366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7.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8.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6EA2B-C42F-E0F2-C515-DDE0941E7CFE}"/>
              </a:ext>
            </a:extLst>
          </p:cNvPr>
          <p:cNvSpPr>
            <a:spLocks noGrp="1"/>
          </p:cNvSpPr>
          <p:nvPr>
            <p:ph type="ctrTitle"/>
          </p:nvPr>
        </p:nvSpPr>
        <p:spPr>
          <a:xfrm>
            <a:off x="1030631" y="614150"/>
            <a:ext cx="10353241" cy="2852198"/>
          </a:xfrm>
        </p:spPr>
        <p:txBody>
          <a:bodyPr>
            <a:noAutofit/>
          </a:bodyPr>
          <a:lstStyle/>
          <a:p>
            <a:r>
              <a:rPr lang="en-US" sz="4600" dirty="0" err="1">
                <a:latin typeface="Calibri" panose="020F0502020204030204" pitchFamily="34" charset="0"/>
                <a:cs typeface="Calibri" panose="020F0502020204030204" pitchFamily="34" charset="0"/>
              </a:rPr>
              <a:t>SwitchNIC</a:t>
            </a:r>
            <a:r>
              <a:rPr lang="en-US" sz="4600" dirty="0">
                <a:latin typeface="Calibri" panose="020F0502020204030204" pitchFamily="34" charset="0"/>
                <a:cs typeface="Calibri" panose="020F0502020204030204" pitchFamily="34" charset="0"/>
              </a:rPr>
              <a:t>: A Hybrid Architecture for Network Functions with Fast and Consistent Shared States</a:t>
            </a:r>
          </a:p>
        </p:txBody>
      </p:sp>
      <p:sp>
        <p:nvSpPr>
          <p:cNvPr id="3" name="Subtitle 2">
            <a:extLst>
              <a:ext uri="{FF2B5EF4-FFF2-40B4-BE49-F238E27FC236}">
                <a16:creationId xmlns:a16="http://schemas.microsoft.com/office/drawing/2014/main" id="{A1829DA4-787C-17A6-3042-384AEA9D7F5E}"/>
              </a:ext>
            </a:extLst>
          </p:cNvPr>
          <p:cNvSpPr>
            <a:spLocks noGrp="1"/>
          </p:cNvSpPr>
          <p:nvPr>
            <p:ph type="subTitle" idx="1"/>
          </p:nvPr>
        </p:nvSpPr>
        <p:spPr>
          <a:xfrm>
            <a:off x="1380743" y="3926401"/>
            <a:ext cx="9653016" cy="1655762"/>
          </a:xfrm>
        </p:spPr>
        <p:txBody>
          <a:bodyPr>
            <a:normAutofit/>
          </a:bodyPr>
          <a:lstStyle/>
          <a:p>
            <a:r>
              <a:rPr lang="en-US" sz="2800">
                <a:latin typeface="Calibri Light" panose="020F0302020204030204" pitchFamily="34" charset="0"/>
                <a:cs typeface="Calibri Light" panose="020F0302020204030204" pitchFamily="34" charset="0"/>
              </a:rPr>
              <a:t>Yiran Lei, </a:t>
            </a:r>
            <a:r>
              <a:rPr lang="en-US" sz="2800" u="sng">
                <a:latin typeface="Calibri Light" panose="020F0302020204030204" pitchFamily="34" charset="0"/>
                <a:cs typeface="Calibri Light" panose="020F0302020204030204" pitchFamily="34" charset="0"/>
              </a:rPr>
              <a:t>Francisco Pereira</a:t>
            </a:r>
            <a:r>
              <a:rPr lang="en-US" sz="2800">
                <a:latin typeface="Calibri Light" panose="020F0302020204030204" pitchFamily="34" charset="0"/>
                <a:cs typeface="Calibri Light" panose="020F0302020204030204" pitchFamily="34" charset="0"/>
              </a:rPr>
              <a:t>, Arvind Krishnamurthy, Justine Sherry</a:t>
            </a:r>
          </a:p>
        </p:txBody>
      </p:sp>
      <p:pic>
        <p:nvPicPr>
          <p:cNvPr id="6" name="Graphic 5">
            <a:extLst>
              <a:ext uri="{FF2B5EF4-FFF2-40B4-BE49-F238E27FC236}">
                <a16:creationId xmlns:a16="http://schemas.microsoft.com/office/drawing/2014/main" id="{9D4D49DB-AD07-7120-F647-64D35DF691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2190" y="5316948"/>
            <a:ext cx="1562094" cy="983541"/>
          </a:xfrm>
          <a:prstGeom prst="rect">
            <a:avLst/>
          </a:prstGeom>
        </p:spPr>
      </p:pic>
      <p:pic>
        <p:nvPicPr>
          <p:cNvPr id="7" name="Picture 8">
            <a:extLst>
              <a:ext uri="{FF2B5EF4-FFF2-40B4-BE49-F238E27FC236}">
                <a16:creationId xmlns:a16="http://schemas.microsoft.com/office/drawing/2014/main" id="{D67F4874-BEDB-E36F-17CD-C2EA4F0675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8258" y="5317950"/>
            <a:ext cx="1999242" cy="9835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753FEF7-59EA-66F2-62B7-3FE935359A4C}"/>
              </a:ext>
            </a:extLst>
          </p:cNvPr>
          <p:cNvPicPr>
            <a:picLocks noChangeAspect="1"/>
          </p:cNvPicPr>
          <p:nvPr/>
        </p:nvPicPr>
        <p:blipFill>
          <a:blip r:embed="rId6"/>
          <a:stretch>
            <a:fillRect/>
          </a:stretch>
        </p:blipFill>
        <p:spPr>
          <a:xfrm>
            <a:off x="10546080" y="0"/>
            <a:ext cx="1645920" cy="1645920"/>
          </a:xfrm>
          <a:prstGeom prst="rect">
            <a:avLst/>
          </a:prstGeom>
        </p:spPr>
      </p:pic>
      <p:sp>
        <p:nvSpPr>
          <p:cNvPr id="9" name="Slide Number Placeholder 8">
            <a:extLst>
              <a:ext uri="{FF2B5EF4-FFF2-40B4-BE49-F238E27FC236}">
                <a16:creationId xmlns:a16="http://schemas.microsoft.com/office/drawing/2014/main" id="{4FD83AE1-2C59-686E-41D5-C1D474733612}"/>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a:t>
            </a:fld>
            <a:endParaRPr lang="en-US"/>
          </a:p>
        </p:txBody>
      </p:sp>
      <p:pic>
        <p:nvPicPr>
          <p:cNvPr id="12" name="Picture 11" descr="A blue and green text on a black background&#10;&#10;AI-generated content may be incorrect.">
            <a:extLst>
              <a:ext uri="{FF2B5EF4-FFF2-40B4-BE49-F238E27FC236}">
                <a16:creationId xmlns:a16="http://schemas.microsoft.com/office/drawing/2014/main" id="{8AF7A3B9-17EC-A563-5E3E-EAE31158C2C0}"/>
              </a:ext>
            </a:extLst>
          </p:cNvPr>
          <p:cNvPicPr>
            <a:picLocks noChangeAspect="1"/>
          </p:cNvPicPr>
          <p:nvPr/>
        </p:nvPicPr>
        <p:blipFill>
          <a:blip r:embed="rId7"/>
          <a:stretch>
            <a:fillRect/>
          </a:stretch>
        </p:blipFill>
        <p:spPr>
          <a:xfrm>
            <a:off x="3913048" y="5314208"/>
            <a:ext cx="1544888" cy="1061013"/>
          </a:xfrm>
          <a:prstGeom prst="rect">
            <a:avLst/>
          </a:prstGeom>
        </p:spPr>
      </p:pic>
      <p:pic>
        <p:nvPicPr>
          <p:cNvPr id="14" name="Picture 13" descr="A blue and white logo on a black background&#10;&#10;AI-generated content may be incorrect.">
            <a:extLst>
              <a:ext uri="{FF2B5EF4-FFF2-40B4-BE49-F238E27FC236}">
                <a16:creationId xmlns:a16="http://schemas.microsoft.com/office/drawing/2014/main" id="{94BD12C0-4C71-3E09-C88B-2D7884893217}"/>
              </a:ext>
            </a:extLst>
          </p:cNvPr>
          <p:cNvPicPr>
            <a:picLocks noChangeAspect="1"/>
          </p:cNvPicPr>
          <p:nvPr/>
        </p:nvPicPr>
        <p:blipFill>
          <a:blip r:embed="rId8"/>
          <a:stretch>
            <a:fillRect/>
          </a:stretch>
        </p:blipFill>
        <p:spPr>
          <a:xfrm>
            <a:off x="5678261" y="4890222"/>
            <a:ext cx="2596985" cy="1837583"/>
          </a:xfrm>
          <a:prstGeom prst="rect">
            <a:avLst/>
          </a:prstGeom>
        </p:spPr>
      </p:pic>
    </p:spTree>
    <p:extLst>
      <p:ext uri="{BB962C8B-B14F-4D97-AF65-F5344CB8AC3E}">
        <p14:creationId xmlns:p14="http://schemas.microsoft.com/office/powerpoint/2010/main" val="1720806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A9D2-B684-FE25-F38B-36D1398B3A03}"/>
              </a:ext>
            </a:extLst>
          </p:cNvPr>
          <p:cNvSpPr>
            <a:spLocks noGrp="1"/>
          </p:cNvSpPr>
          <p:nvPr>
            <p:ph type="title"/>
          </p:nvPr>
        </p:nvSpPr>
        <p:spPr>
          <a:xfrm>
            <a:off x="310733" y="525588"/>
            <a:ext cx="11881267" cy="1305179"/>
          </a:xfrm>
        </p:spPr>
        <p:txBody>
          <a:bodyPr>
            <a:normAutofit/>
          </a:bodyPr>
          <a:lstStyle/>
          <a:p>
            <a:r>
              <a:rPr lang="en-US" dirty="0">
                <a:latin typeface="Calibri" panose="020F0502020204030204" pitchFamily="34" charset="0"/>
                <a:cs typeface="Calibri" panose="020F0502020204030204" pitchFamily="34" charset="0"/>
              </a:rPr>
              <a:t>Stateful network functions are commonly deployed</a:t>
            </a:r>
          </a:p>
        </p:txBody>
      </p:sp>
      <p:sp>
        <p:nvSpPr>
          <p:cNvPr id="4" name="TextBox 3">
            <a:extLst>
              <a:ext uri="{FF2B5EF4-FFF2-40B4-BE49-F238E27FC236}">
                <a16:creationId xmlns:a16="http://schemas.microsoft.com/office/drawing/2014/main" id="{2EB2A1C4-DCDC-52B7-2EBD-C28604475262}"/>
              </a:ext>
            </a:extLst>
          </p:cNvPr>
          <p:cNvSpPr txBox="1"/>
          <p:nvPr/>
        </p:nvSpPr>
        <p:spPr>
          <a:xfrm>
            <a:off x="2913888" y="597408"/>
            <a:ext cx="184731" cy="369332"/>
          </a:xfrm>
          <a:prstGeom prst="rect">
            <a:avLst/>
          </a:prstGeom>
          <a:noFill/>
        </p:spPr>
        <p:txBody>
          <a:bodyPr wrap="none" rtlCol="0">
            <a:spAutoFit/>
          </a:bodyPr>
          <a:lstStyle/>
          <a:p>
            <a:endParaRPr lang="en-US"/>
          </a:p>
        </p:txBody>
      </p:sp>
      <p:grpSp>
        <p:nvGrpSpPr>
          <p:cNvPr id="18" name="Group 17">
            <a:extLst>
              <a:ext uri="{FF2B5EF4-FFF2-40B4-BE49-F238E27FC236}">
                <a16:creationId xmlns:a16="http://schemas.microsoft.com/office/drawing/2014/main" id="{F098C2C0-37C5-C122-7C31-FD03CC49BF2E}"/>
              </a:ext>
            </a:extLst>
          </p:cNvPr>
          <p:cNvGrpSpPr/>
          <p:nvPr/>
        </p:nvGrpSpPr>
        <p:grpSpPr>
          <a:xfrm>
            <a:off x="1593866" y="2318566"/>
            <a:ext cx="3946318" cy="2675503"/>
            <a:chOff x="1328956" y="2339017"/>
            <a:chExt cx="3946318" cy="2675503"/>
          </a:xfrm>
        </p:grpSpPr>
        <p:sp>
          <p:nvSpPr>
            <p:cNvPr id="5" name="TextBox 4">
              <a:extLst>
                <a:ext uri="{FF2B5EF4-FFF2-40B4-BE49-F238E27FC236}">
                  <a16:creationId xmlns:a16="http://schemas.microsoft.com/office/drawing/2014/main" id="{30F6C77F-5DF5-0C9B-3E70-15CF307EAFB7}"/>
                </a:ext>
              </a:extLst>
            </p:cNvPr>
            <p:cNvSpPr txBox="1"/>
            <p:nvPr/>
          </p:nvSpPr>
          <p:spPr>
            <a:xfrm>
              <a:off x="1874042" y="2339017"/>
              <a:ext cx="2789738" cy="461665"/>
            </a:xfrm>
            <a:prstGeom prst="rect">
              <a:avLst/>
            </a:prstGeom>
            <a:noFill/>
          </p:spPr>
          <p:txBody>
            <a:bodyPr wrap="none" rtlCol="0">
              <a:spAutoFit/>
            </a:bodyPr>
            <a:lstStyle/>
            <a:p>
              <a:r>
                <a:rPr lang="en-US" sz="2400">
                  <a:latin typeface="Calibri" panose="020F0502020204030204" pitchFamily="34" charset="0"/>
                  <a:cs typeface="Calibri" panose="020F0502020204030204" pitchFamily="34" charset="0"/>
                </a:rPr>
                <a:t>Performance impact </a:t>
              </a:r>
            </a:p>
          </p:txBody>
        </p:sp>
        <p:grpSp>
          <p:nvGrpSpPr>
            <p:cNvPr id="3" name="Group 2">
              <a:extLst>
                <a:ext uri="{FF2B5EF4-FFF2-40B4-BE49-F238E27FC236}">
                  <a16:creationId xmlns:a16="http://schemas.microsoft.com/office/drawing/2014/main" id="{B984B750-510A-1415-1536-F00FD9284E8E}"/>
                </a:ext>
              </a:extLst>
            </p:cNvPr>
            <p:cNvGrpSpPr/>
            <p:nvPr/>
          </p:nvGrpSpPr>
          <p:grpSpPr>
            <a:xfrm>
              <a:off x="1328956" y="2966806"/>
              <a:ext cx="1939955" cy="2047714"/>
              <a:chOff x="1328956" y="2966806"/>
              <a:chExt cx="1939955" cy="2047714"/>
            </a:xfrm>
          </p:grpSpPr>
          <p:pic>
            <p:nvPicPr>
              <p:cNvPr id="7" name="Picture 8">
                <a:extLst>
                  <a:ext uri="{FF2B5EF4-FFF2-40B4-BE49-F238E27FC236}">
                    <a16:creationId xmlns:a16="http://schemas.microsoft.com/office/drawing/2014/main" id="{E1B08944-6731-639C-710A-92EFCCD4B3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8415" y="2966806"/>
                <a:ext cx="1561039" cy="156103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5">
                <a:extLst>
                  <a:ext uri="{FF2B5EF4-FFF2-40B4-BE49-F238E27FC236}">
                    <a16:creationId xmlns:a16="http://schemas.microsoft.com/office/drawing/2014/main" id="{ED5AE4DB-31A5-A466-7688-AD615D585352}"/>
                  </a:ext>
                </a:extLst>
              </p:cNvPr>
              <p:cNvSpPr txBox="1"/>
              <p:nvPr/>
            </p:nvSpPr>
            <p:spPr>
              <a:xfrm>
                <a:off x="1328956" y="4552855"/>
                <a:ext cx="1939955" cy="461665"/>
              </a:xfrm>
              <a:prstGeom prst="rect">
                <a:avLst/>
              </a:prstGeom>
              <a:noFill/>
            </p:spPr>
            <p:txBody>
              <a:bodyPr wrap="none" rtlCol="0">
                <a:spAutoFit/>
              </a:bodyPr>
              <a:lstStyle/>
              <a:p>
                <a:r>
                  <a:rPr kumimoji="1" lang="en-US" altLang="zh-CN" sz="2400">
                    <a:latin typeface="Calibri Light" panose="020F0302020204030204" pitchFamily="34" charset="0"/>
                    <a:cs typeface="Calibri Light" panose="020F0302020204030204" pitchFamily="34" charset="0"/>
                  </a:rPr>
                  <a:t>Load Balancer</a:t>
                </a:r>
                <a:endParaRPr kumimoji="1" lang="zh-CN" altLang="en-US" sz="2400">
                  <a:latin typeface="Calibri Light" panose="020F0302020204030204" pitchFamily="34" charset="0"/>
                  <a:cs typeface="Calibri Light" panose="020F0302020204030204" pitchFamily="34" charset="0"/>
                </a:endParaRPr>
              </a:p>
            </p:txBody>
          </p:sp>
        </p:grpSp>
        <p:grpSp>
          <p:nvGrpSpPr>
            <p:cNvPr id="15" name="Group 14">
              <a:extLst>
                <a:ext uri="{FF2B5EF4-FFF2-40B4-BE49-F238E27FC236}">
                  <a16:creationId xmlns:a16="http://schemas.microsoft.com/office/drawing/2014/main" id="{F9DBBE02-41F3-E5D4-6F73-0343FF1E38E4}"/>
                </a:ext>
              </a:extLst>
            </p:cNvPr>
            <p:cNvGrpSpPr/>
            <p:nvPr/>
          </p:nvGrpSpPr>
          <p:grpSpPr>
            <a:xfrm>
              <a:off x="3604047" y="3060919"/>
              <a:ext cx="1671227" cy="1953600"/>
              <a:chOff x="3604047" y="3060919"/>
              <a:chExt cx="1671227" cy="1953600"/>
            </a:xfrm>
          </p:grpSpPr>
          <p:pic>
            <p:nvPicPr>
              <p:cNvPr id="8" name="Picture 12" descr="rate limiting Icon - Free PNG &amp; SVG 4344223 - Noun Project">
                <a:extLst>
                  <a:ext uri="{FF2B5EF4-FFF2-40B4-BE49-F238E27FC236}">
                    <a16:creationId xmlns:a16="http://schemas.microsoft.com/office/drawing/2014/main" id="{20BF8A0A-F542-7A49-43DC-36BA3F44BF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704" y="3060919"/>
                <a:ext cx="1350497" cy="135049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6">
                <a:extLst>
                  <a:ext uri="{FF2B5EF4-FFF2-40B4-BE49-F238E27FC236}">
                    <a16:creationId xmlns:a16="http://schemas.microsoft.com/office/drawing/2014/main" id="{9FF126CF-B212-E5CE-2B12-9467891027BA}"/>
                  </a:ext>
                </a:extLst>
              </p:cNvPr>
              <p:cNvSpPr txBox="1"/>
              <p:nvPr/>
            </p:nvSpPr>
            <p:spPr>
              <a:xfrm>
                <a:off x="3604047" y="4552854"/>
                <a:ext cx="1671227" cy="461665"/>
              </a:xfrm>
              <a:prstGeom prst="rect">
                <a:avLst/>
              </a:prstGeom>
              <a:noFill/>
            </p:spPr>
            <p:txBody>
              <a:bodyPr wrap="none" rtlCol="0">
                <a:spAutoFit/>
              </a:bodyPr>
              <a:lstStyle/>
              <a:p>
                <a:r>
                  <a:rPr kumimoji="1" lang="en-US" altLang="zh-CN" sz="2400">
                    <a:latin typeface="Calibri Light" panose="020F0302020204030204" pitchFamily="34" charset="0"/>
                    <a:cs typeface="Calibri Light" panose="020F0302020204030204" pitchFamily="34" charset="0"/>
                  </a:rPr>
                  <a:t>Rate Limiter</a:t>
                </a:r>
                <a:endParaRPr kumimoji="1" lang="zh-CN" altLang="en-US" sz="2400">
                  <a:latin typeface="Calibri Light" panose="020F0302020204030204" pitchFamily="34" charset="0"/>
                  <a:cs typeface="Calibri Light" panose="020F0302020204030204" pitchFamily="34" charset="0"/>
                </a:endParaRPr>
              </a:p>
            </p:txBody>
          </p:sp>
        </p:grpSp>
      </p:grpSp>
      <p:grpSp>
        <p:nvGrpSpPr>
          <p:cNvPr id="21" name="Group 20">
            <a:extLst>
              <a:ext uri="{FF2B5EF4-FFF2-40B4-BE49-F238E27FC236}">
                <a16:creationId xmlns:a16="http://schemas.microsoft.com/office/drawing/2014/main" id="{9CDCB6B9-ACFE-3C58-0B64-EA8B31F9EBA3}"/>
              </a:ext>
            </a:extLst>
          </p:cNvPr>
          <p:cNvGrpSpPr/>
          <p:nvPr/>
        </p:nvGrpSpPr>
        <p:grpSpPr>
          <a:xfrm>
            <a:off x="6910238" y="2328830"/>
            <a:ext cx="3768475" cy="2675502"/>
            <a:chOff x="7127590" y="2339017"/>
            <a:chExt cx="3768475" cy="2675502"/>
          </a:xfrm>
        </p:grpSpPr>
        <p:sp>
          <p:nvSpPr>
            <p:cNvPr id="6" name="TextBox 5">
              <a:extLst>
                <a:ext uri="{FF2B5EF4-FFF2-40B4-BE49-F238E27FC236}">
                  <a16:creationId xmlns:a16="http://schemas.microsoft.com/office/drawing/2014/main" id="{252F33BC-F27F-CDAB-15C6-C49971697973}"/>
                </a:ext>
              </a:extLst>
            </p:cNvPr>
            <p:cNvSpPr txBox="1"/>
            <p:nvPr/>
          </p:nvSpPr>
          <p:spPr>
            <a:xfrm>
              <a:off x="7933162" y="2339017"/>
              <a:ext cx="2186817" cy="461665"/>
            </a:xfrm>
            <a:prstGeom prst="rect">
              <a:avLst/>
            </a:prstGeom>
            <a:noFill/>
          </p:spPr>
          <p:txBody>
            <a:bodyPr wrap="none" rtlCol="0">
              <a:spAutoFit/>
            </a:bodyPr>
            <a:lstStyle/>
            <a:p>
              <a:r>
                <a:rPr lang="en-US" sz="2400">
                  <a:latin typeface="Calibri" panose="020F0502020204030204" pitchFamily="34" charset="0"/>
                  <a:cs typeface="Calibri" panose="020F0502020204030204" pitchFamily="34" charset="0"/>
                </a:rPr>
                <a:t>Security impact </a:t>
              </a:r>
            </a:p>
          </p:txBody>
        </p:sp>
        <p:grpSp>
          <p:nvGrpSpPr>
            <p:cNvPr id="19" name="Group 18">
              <a:extLst>
                <a:ext uri="{FF2B5EF4-FFF2-40B4-BE49-F238E27FC236}">
                  <a16:creationId xmlns:a16="http://schemas.microsoft.com/office/drawing/2014/main" id="{91491712-B16B-9F85-B988-AFF7C5B797C1}"/>
                </a:ext>
              </a:extLst>
            </p:cNvPr>
            <p:cNvGrpSpPr/>
            <p:nvPr/>
          </p:nvGrpSpPr>
          <p:grpSpPr>
            <a:xfrm>
              <a:off x="9545569" y="3190957"/>
              <a:ext cx="1350496" cy="1823562"/>
              <a:chOff x="9545569" y="3190957"/>
              <a:chExt cx="1350496" cy="1823562"/>
            </a:xfrm>
          </p:grpSpPr>
          <p:pic>
            <p:nvPicPr>
              <p:cNvPr id="11" name="Picture 6" descr="Firewall - Free computer icons">
                <a:extLst>
                  <a:ext uri="{FF2B5EF4-FFF2-40B4-BE49-F238E27FC236}">
                    <a16:creationId xmlns:a16="http://schemas.microsoft.com/office/drawing/2014/main" id="{327F5FF2-D1F1-EE9F-1C99-C24739FE96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5569" y="3190957"/>
                <a:ext cx="1350496" cy="1350496"/>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4">
                <a:extLst>
                  <a:ext uri="{FF2B5EF4-FFF2-40B4-BE49-F238E27FC236}">
                    <a16:creationId xmlns:a16="http://schemas.microsoft.com/office/drawing/2014/main" id="{2AD9D282-0EB1-5BCD-842A-5FE1DC72D68F}"/>
                  </a:ext>
                </a:extLst>
              </p:cNvPr>
              <p:cNvSpPr txBox="1"/>
              <p:nvPr/>
            </p:nvSpPr>
            <p:spPr>
              <a:xfrm>
                <a:off x="9653257" y="4552854"/>
                <a:ext cx="1135119" cy="461665"/>
              </a:xfrm>
              <a:prstGeom prst="rect">
                <a:avLst/>
              </a:prstGeom>
              <a:noFill/>
            </p:spPr>
            <p:txBody>
              <a:bodyPr wrap="none" rtlCol="0">
                <a:spAutoFit/>
              </a:bodyPr>
              <a:lstStyle/>
              <a:p>
                <a:r>
                  <a:rPr kumimoji="1" lang="en-US" altLang="zh-CN" sz="2400">
                    <a:latin typeface="Calibri Light" panose="020F0302020204030204" pitchFamily="34" charset="0"/>
                    <a:cs typeface="Calibri Light" panose="020F0302020204030204" pitchFamily="34" charset="0"/>
                  </a:rPr>
                  <a:t>Firewall</a:t>
                </a:r>
                <a:endParaRPr kumimoji="1" lang="zh-CN" altLang="en-US" sz="2400">
                  <a:latin typeface="Calibri Light" panose="020F0302020204030204" pitchFamily="34" charset="0"/>
                  <a:cs typeface="Calibri Light" panose="020F0302020204030204" pitchFamily="34" charset="0"/>
                </a:endParaRPr>
              </a:p>
            </p:txBody>
          </p:sp>
        </p:grpSp>
        <p:grpSp>
          <p:nvGrpSpPr>
            <p:cNvPr id="20" name="Group 19">
              <a:extLst>
                <a:ext uri="{FF2B5EF4-FFF2-40B4-BE49-F238E27FC236}">
                  <a16:creationId xmlns:a16="http://schemas.microsoft.com/office/drawing/2014/main" id="{60B2ED4B-C9E9-3287-8888-E8914C0B222F}"/>
                </a:ext>
              </a:extLst>
            </p:cNvPr>
            <p:cNvGrpSpPr/>
            <p:nvPr/>
          </p:nvGrpSpPr>
          <p:grpSpPr>
            <a:xfrm>
              <a:off x="7127590" y="3190957"/>
              <a:ext cx="2219582" cy="1823562"/>
              <a:chOff x="7127590" y="3190957"/>
              <a:chExt cx="2219582" cy="1823562"/>
            </a:xfrm>
          </p:grpSpPr>
          <p:pic>
            <p:nvPicPr>
              <p:cNvPr id="12" name="Picture 14" descr="Product Delivery Tracking icon PNG and SVG Free Download">
                <a:extLst>
                  <a:ext uri="{FF2B5EF4-FFF2-40B4-BE49-F238E27FC236}">
                    <a16:creationId xmlns:a16="http://schemas.microsoft.com/office/drawing/2014/main" id="{5F7AA49E-CF32-3B48-7377-1F098701D1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1027" y="3190957"/>
                <a:ext cx="1152709" cy="1305675"/>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7">
                <a:extLst>
                  <a:ext uri="{FF2B5EF4-FFF2-40B4-BE49-F238E27FC236}">
                    <a16:creationId xmlns:a16="http://schemas.microsoft.com/office/drawing/2014/main" id="{021C1F92-B2AE-AC33-A962-7F1635DCE753}"/>
                  </a:ext>
                </a:extLst>
              </p:cNvPr>
              <p:cNvSpPr txBox="1"/>
              <p:nvPr/>
            </p:nvSpPr>
            <p:spPr>
              <a:xfrm>
                <a:off x="7127590" y="4552854"/>
                <a:ext cx="2219582" cy="461665"/>
              </a:xfrm>
              <a:prstGeom prst="rect">
                <a:avLst/>
              </a:prstGeom>
              <a:noFill/>
            </p:spPr>
            <p:txBody>
              <a:bodyPr wrap="none" rtlCol="0">
                <a:spAutoFit/>
              </a:bodyPr>
              <a:lstStyle/>
              <a:p>
                <a:r>
                  <a:rPr kumimoji="1" lang="en-US" altLang="zh-CN" sz="2400">
                    <a:latin typeface="Calibri Light" panose="020F0302020204030204" pitchFamily="34" charset="0"/>
                    <a:cs typeface="Calibri Light" panose="020F0302020204030204" pitchFamily="34" charset="0"/>
                  </a:rPr>
                  <a:t>Packet Inspector</a:t>
                </a:r>
                <a:endParaRPr kumimoji="1" lang="zh-CN" altLang="en-US" sz="2400">
                  <a:latin typeface="Calibri Light" panose="020F0302020204030204" pitchFamily="34" charset="0"/>
                  <a:cs typeface="Calibri Light" panose="020F0302020204030204" pitchFamily="34" charset="0"/>
                </a:endParaRPr>
              </a:p>
            </p:txBody>
          </p:sp>
        </p:grpSp>
      </p:grpSp>
      <p:sp>
        <p:nvSpPr>
          <p:cNvPr id="16" name="TextBox 15">
            <a:extLst>
              <a:ext uri="{FF2B5EF4-FFF2-40B4-BE49-F238E27FC236}">
                <a16:creationId xmlns:a16="http://schemas.microsoft.com/office/drawing/2014/main" id="{3201E8CC-1D71-0C60-C2CA-DF2A76E64143}"/>
              </a:ext>
            </a:extLst>
          </p:cNvPr>
          <p:cNvSpPr txBox="1"/>
          <p:nvPr/>
        </p:nvSpPr>
        <p:spPr>
          <a:xfrm>
            <a:off x="1621876" y="5893961"/>
            <a:ext cx="8974893" cy="523220"/>
          </a:xfrm>
          <a:prstGeom prst="rect">
            <a:avLst/>
          </a:prstGeom>
          <a:noFill/>
        </p:spPr>
        <p:txBody>
          <a:bodyPr wrap="none" lIns="91440" tIns="45720" rIns="91440" bIns="45720" rtlCol="0" anchor="t">
            <a:spAutoFit/>
          </a:bodyPr>
          <a:lstStyle/>
          <a:p>
            <a:r>
              <a:rPr lang="en-US" sz="2800">
                <a:latin typeface="Calibri"/>
                <a:ea typeface="Calibri"/>
                <a:cs typeface="Calibri"/>
              </a:rPr>
              <a:t>Enhancing stateful NFs’ performance and efficiency is crucial</a:t>
            </a:r>
          </a:p>
        </p:txBody>
      </p:sp>
      <p:sp>
        <p:nvSpPr>
          <p:cNvPr id="17" name="Slide Number Placeholder 16">
            <a:extLst>
              <a:ext uri="{FF2B5EF4-FFF2-40B4-BE49-F238E27FC236}">
                <a16:creationId xmlns:a16="http://schemas.microsoft.com/office/drawing/2014/main" id="{56065A36-496F-9E60-EC06-942645F2596D}"/>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a:t>
            </a:fld>
            <a:endParaRPr lang="en-US"/>
          </a:p>
        </p:txBody>
      </p:sp>
    </p:spTree>
    <p:custDataLst>
      <p:tags r:id="rId1"/>
    </p:custDataLst>
    <p:extLst>
      <p:ext uri="{BB962C8B-B14F-4D97-AF65-F5344CB8AC3E}">
        <p14:creationId xmlns:p14="http://schemas.microsoft.com/office/powerpoint/2010/main" val="311633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1BF4-FE7B-208A-A38A-BE630218B04D}"/>
              </a:ext>
            </a:extLst>
          </p:cNvPr>
          <p:cNvSpPr>
            <a:spLocks noGrp="1"/>
          </p:cNvSpPr>
          <p:nvPr>
            <p:ph type="title"/>
          </p:nvPr>
        </p:nvSpPr>
        <p:spPr>
          <a:xfrm>
            <a:off x="439783" y="375230"/>
            <a:ext cx="11312434" cy="1460500"/>
          </a:xfrm>
        </p:spPr>
        <p:txBody>
          <a:bodyPr>
            <a:noAutofit/>
          </a:bodyPr>
          <a:lstStyle/>
          <a:p>
            <a:r>
              <a:rPr lang="en-US" dirty="0">
                <a:latin typeface="Calibri" panose="020F0502020204030204" pitchFamily="34" charset="0"/>
                <a:cs typeface="Calibri" panose="020F0502020204030204" pitchFamily="34" charset="0"/>
              </a:rPr>
              <a:t>State of the art in NF implementation</a:t>
            </a:r>
          </a:p>
        </p:txBody>
      </p:sp>
      <p:sp>
        <p:nvSpPr>
          <p:cNvPr id="4" name="Slide Number Placeholder 3">
            <a:extLst>
              <a:ext uri="{FF2B5EF4-FFF2-40B4-BE49-F238E27FC236}">
                <a16:creationId xmlns:a16="http://schemas.microsoft.com/office/drawing/2014/main" id="{49FEB662-13CB-C1AB-9591-C3D48B59CAE0}"/>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3</a:t>
            </a:fld>
            <a:endParaRPr lang="en-US"/>
          </a:p>
        </p:txBody>
      </p:sp>
      <p:grpSp>
        <p:nvGrpSpPr>
          <p:cNvPr id="26" name="Group 25">
            <a:extLst>
              <a:ext uri="{FF2B5EF4-FFF2-40B4-BE49-F238E27FC236}">
                <a16:creationId xmlns:a16="http://schemas.microsoft.com/office/drawing/2014/main" id="{CA270040-4F38-90BB-A914-9378BA1B13CD}"/>
              </a:ext>
            </a:extLst>
          </p:cNvPr>
          <p:cNvGrpSpPr/>
          <p:nvPr/>
        </p:nvGrpSpPr>
        <p:grpSpPr>
          <a:xfrm>
            <a:off x="1750007" y="2561507"/>
            <a:ext cx="3929576" cy="3020307"/>
            <a:chOff x="1750007" y="2187431"/>
            <a:chExt cx="3929576" cy="3020307"/>
          </a:xfrm>
        </p:grpSpPr>
        <p:sp>
          <p:nvSpPr>
            <p:cNvPr id="6" name="Rectangle 5">
              <a:extLst>
                <a:ext uri="{FF2B5EF4-FFF2-40B4-BE49-F238E27FC236}">
                  <a16:creationId xmlns:a16="http://schemas.microsoft.com/office/drawing/2014/main" id="{E1C0E7EF-B2DE-0DBB-CD23-99B22B65CC2C}"/>
                </a:ext>
              </a:extLst>
            </p:cNvPr>
            <p:cNvSpPr/>
            <p:nvPr/>
          </p:nvSpPr>
          <p:spPr>
            <a:xfrm>
              <a:off x="1750007" y="2760752"/>
              <a:ext cx="3929576" cy="24469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E47399D-8B23-EB1A-28B5-F0FEFC228D44}"/>
                </a:ext>
              </a:extLst>
            </p:cNvPr>
            <p:cNvGrpSpPr/>
            <p:nvPr/>
          </p:nvGrpSpPr>
          <p:grpSpPr>
            <a:xfrm>
              <a:off x="1750008" y="3124000"/>
              <a:ext cx="1710197" cy="1835817"/>
              <a:chOff x="1531067" y="3621603"/>
              <a:chExt cx="1710197" cy="1835817"/>
            </a:xfrm>
          </p:grpSpPr>
          <p:pic>
            <p:nvPicPr>
              <p:cNvPr id="5" name="Picture 4" descr="Core switch Vector Icons free download in SVG, PNG Format">
                <a:extLst>
                  <a:ext uri="{FF2B5EF4-FFF2-40B4-BE49-F238E27FC236}">
                    <a16:creationId xmlns:a16="http://schemas.microsoft.com/office/drawing/2014/main" id="{2CBD7078-F951-DC3B-855C-4311CA43F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069" y="3621603"/>
                <a:ext cx="1264195" cy="10752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90397C-6A02-1CB8-8552-7253B6A2EB32}"/>
                  </a:ext>
                </a:extLst>
              </p:cNvPr>
              <p:cNvSpPr txBox="1"/>
              <p:nvPr/>
            </p:nvSpPr>
            <p:spPr>
              <a:xfrm>
                <a:off x="1531067" y="4749534"/>
                <a:ext cx="1710197" cy="707886"/>
              </a:xfrm>
              <a:prstGeom prst="rect">
                <a:avLst/>
              </a:prstGeom>
              <a:noFill/>
            </p:spPr>
            <p:txBody>
              <a:bodyPr wrap="square" rtlCol="0">
                <a:spAutoFit/>
              </a:bodyPr>
              <a:lstStyle/>
              <a:p>
                <a:pPr algn="ctr"/>
                <a:r>
                  <a:rPr lang="en-US" sz="2000">
                    <a:latin typeface="Calibri Light" panose="020F0302020204030204" pitchFamily="34" charset="0"/>
                    <a:cs typeface="Calibri Light" panose="020F0302020204030204" pitchFamily="34" charset="0"/>
                  </a:rPr>
                  <a:t>Programmable switch</a:t>
                </a:r>
              </a:p>
            </p:txBody>
          </p:sp>
        </p:grpSp>
        <p:grpSp>
          <p:nvGrpSpPr>
            <p:cNvPr id="9" name="Group 8">
              <a:extLst>
                <a:ext uri="{FF2B5EF4-FFF2-40B4-BE49-F238E27FC236}">
                  <a16:creationId xmlns:a16="http://schemas.microsoft.com/office/drawing/2014/main" id="{3B30A6DA-990A-B9DB-D042-6AF4951197C5}"/>
                </a:ext>
              </a:extLst>
            </p:cNvPr>
            <p:cNvGrpSpPr/>
            <p:nvPr/>
          </p:nvGrpSpPr>
          <p:grpSpPr>
            <a:xfrm>
              <a:off x="3693642" y="2999104"/>
              <a:ext cx="1710197" cy="1960713"/>
              <a:chOff x="3474701" y="3496707"/>
              <a:chExt cx="1710197" cy="1960713"/>
            </a:xfrm>
          </p:grpSpPr>
          <p:pic>
            <p:nvPicPr>
              <p:cNvPr id="1026" name="Picture 2" descr="FPGA Icons - Free SVG &amp; PNG FPGA Images - Noun Project">
                <a:extLst>
                  <a:ext uri="{FF2B5EF4-FFF2-40B4-BE49-F238E27FC236}">
                    <a16:creationId xmlns:a16="http://schemas.microsoft.com/office/drawing/2014/main" id="{5442B739-2F8D-791D-940B-3B66A4FFA9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3387" y="3496707"/>
                <a:ext cx="1252827" cy="12528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EEE5672-B253-CEC6-3948-1260A1C65F6F}"/>
                  </a:ext>
                </a:extLst>
              </p:cNvPr>
              <p:cNvSpPr txBox="1"/>
              <p:nvPr/>
            </p:nvSpPr>
            <p:spPr>
              <a:xfrm>
                <a:off x="3474701" y="4749534"/>
                <a:ext cx="1710197" cy="707886"/>
              </a:xfrm>
              <a:prstGeom prst="rect">
                <a:avLst/>
              </a:prstGeom>
              <a:noFill/>
            </p:spPr>
            <p:txBody>
              <a:bodyPr wrap="square" rtlCol="0">
                <a:spAutoFit/>
              </a:bodyPr>
              <a:lstStyle/>
              <a:p>
                <a:pPr algn="ctr"/>
                <a:r>
                  <a:rPr lang="en-US" sz="2000">
                    <a:latin typeface="Calibri Light" panose="020F0302020204030204" pitchFamily="34" charset="0"/>
                    <a:cs typeface="Calibri Light" panose="020F0302020204030204" pitchFamily="34" charset="0"/>
                  </a:rPr>
                  <a:t>FPGA-based </a:t>
                </a:r>
                <a:r>
                  <a:rPr lang="en-US" sz="2000" err="1">
                    <a:latin typeface="Calibri Light" panose="020F0302020204030204" pitchFamily="34" charset="0"/>
                    <a:cs typeface="Calibri Light" panose="020F0302020204030204" pitchFamily="34" charset="0"/>
                  </a:rPr>
                  <a:t>SmartNIC</a:t>
                </a:r>
                <a:endParaRPr lang="en-US" sz="2000">
                  <a:latin typeface="Calibri Light" panose="020F0302020204030204" pitchFamily="34" charset="0"/>
                  <a:cs typeface="Calibri Light" panose="020F0302020204030204" pitchFamily="34" charset="0"/>
                </a:endParaRPr>
              </a:p>
            </p:txBody>
          </p:sp>
        </p:grpSp>
        <p:sp>
          <p:nvSpPr>
            <p:cNvPr id="21" name="TextBox 20">
              <a:extLst>
                <a:ext uri="{FF2B5EF4-FFF2-40B4-BE49-F238E27FC236}">
                  <a16:creationId xmlns:a16="http://schemas.microsoft.com/office/drawing/2014/main" id="{3711D88C-616E-08BF-1275-0C23EC908D64}"/>
                </a:ext>
              </a:extLst>
            </p:cNvPr>
            <p:cNvSpPr txBox="1"/>
            <p:nvPr/>
          </p:nvSpPr>
          <p:spPr>
            <a:xfrm>
              <a:off x="1827875" y="2187431"/>
              <a:ext cx="3731534" cy="461665"/>
            </a:xfrm>
            <a:prstGeom prst="rect">
              <a:avLst/>
            </a:prstGeom>
            <a:noFill/>
          </p:spPr>
          <p:txBody>
            <a:bodyPr wrap="none" rtlCol="0">
              <a:spAutoFit/>
            </a:bodyPr>
            <a:lstStyle/>
            <a:p>
              <a:r>
                <a:rPr lang="en-US" sz="2400">
                  <a:solidFill>
                    <a:srgbClr val="0070C0"/>
                  </a:solidFill>
                  <a:latin typeface="Calibri" panose="020F0502020204030204" pitchFamily="34" charset="0"/>
                  <a:cs typeface="Calibri" panose="020F0502020204030204" pitchFamily="34" charset="0"/>
                </a:rPr>
                <a:t>High-performance hardware</a:t>
              </a:r>
            </a:p>
          </p:txBody>
        </p:sp>
      </p:grpSp>
      <p:grpSp>
        <p:nvGrpSpPr>
          <p:cNvPr id="28" name="Group 27">
            <a:extLst>
              <a:ext uri="{FF2B5EF4-FFF2-40B4-BE49-F238E27FC236}">
                <a16:creationId xmlns:a16="http://schemas.microsoft.com/office/drawing/2014/main" id="{EA806398-156C-7714-035D-33AA84E24CF8}"/>
              </a:ext>
            </a:extLst>
          </p:cNvPr>
          <p:cNvGrpSpPr/>
          <p:nvPr/>
        </p:nvGrpSpPr>
        <p:grpSpPr>
          <a:xfrm>
            <a:off x="5998045" y="2561507"/>
            <a:ext cx="3653908" cy="3020308"/>
            <a:chOff x="5998045" y="2187431"/>
            <a:chExt cx="3653908" cy="3020308"/>
          </a:xfrm>
        </p:grpSpPr>
        <p:sp>
          <p:nvSpPr>
            <p:cNvPr id="18" name="Rectangle 17">
              <a:extLst>
                <a:ext uri="{FF2B5EF4-FFF2-40B4-BE49-F238E27FC236}">
                  <a16:creationId xmlns:a16="http://schemas.microsoft.com/office/drawing/2014/main" id="{1288B56C-7BEE-66A2-F143-5CC8D9E24D23}"/>
                </a:ext>
              </a:extLst>
            </p:cNvPr>
            <p:cNvSpPr/>
            <p:nvPr/>
          </p:nvSpPr>
          <p:spPr>
            <a:xfrm>
              <a:off x="7438281" y="2760753"/>
              <a:ext cx="2122868" cy="24469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7AAE02BC-370D-CBB8-FB27-C30B78D26D6A}"/>
                </a:ext>
              </a:extLst>
            </p:cNvPr>
            <p:cNvGrpSpPr/>
            <p:nvPr/>
          </p:nvGrpSpPr>
          <p:grpSpPr>
            <a:xfrm>
              <a:off x="7951701" y="3135891"/>
              <a:ext cx="1116042" cy="1823927"/>
              <a:chOff x="7951701" y="3135891"/>
              <a:chExt cx="1116042" cy="1823927"/>
            </a:xfrm>
          </p:grpSpPr>
          <p:pic>
            <p:nvPicPr>
              <p:cNvPr id="19" name="Picture 10">
                <a:extLst>
                  <a:ext uri="{FF2B5EF4-FFF2-40B4-BE49-F238E27FC236}">
                    <a16:creationId xmlns:a16="http://schemas.microsoft.com/office/drawing/2014/main" id="{7AFA637E-8753-B5AF-BC2D-2B3EE01FEA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1701" y="3135891"/>
                <a:ext cx="1116041" cy="111604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5250AB39-AF56-71CD-37C7-6FD6E082E68F}"/>
                  </a:ext>
                </a:extLst>
              </p:cNvPr>
              <p:cNvSpPr txBox="1"/>
              <p:nvPr/>
            </p:nvSpPr>
            <p:spPr>
              <a:xfrm>
                <a:off x="7951701" y="4251932"/>
                <a:ext cx="1116042" cy="707886"/>
              </a:xfrm>
              <a:prstGeom prst="rect">
                <a:avLst/>
              </a:prstGeom>
              <a:noFill/>
            </p:spPr>
            <p:txBody>
              <a:bodyPr wrap="square" rtlCol="0">
                <a:spAutoFit/>
              </a:bodyPr>
              <a:lstStyle/>
              <a:p>
                <a:pPr algn="ctr"/>
                <a:r>
                  <a:rPr lang="en-US" sz="2000">
                    <a:latin typeface="Calibri Light" panose="020F0302020204030204" pitchFamily="34" charset="0"/>
                    <a:cs typeface="Calibri Light" panose="020F0302020204030204" pitchFamily="34" charset="0"/>
                  </a:rPr>
                  <a:t>Server CPU</a:t>
                </a:r>
              </a:p>
            </p:txBody>
          </p:sp>
        </p:grpSp>
        <p:sp>
          <p:nvSpPr>
            <p:cNvPr id="22" name="TextBox 21">
              <a:extLst>
                <a:ext uri="{FF2B5EF4-FFF2-40B4-BE49-F238E27FC236}">
                  <a16:creationId xmlns:a16="http://schemas.microsoft.com/office/drawing/2014/main" id="{148FBD9D-1BC7-F596-5C4B-EF26352AFA4C}"/>
                </a:ext>
              </a:extLst>
            </p:cNvPr>
            <p:cNvSpPr txBox="1"/>
            <p:nvPr/>
          </p:nvSpPr>
          <p:spPr>
            <a:xfrm>
              <a:off x="7347476" y="2187431"/>
              <a:ext cx="2304477" cy="461665"/>
            </a:xfrm>
            <a:prstGeom prst="rect">
              <a:avLst/>
            </a:prstGeom>
            <a:noFill/>
          </p:spPr>
          <p:txBody>
            <a:bodyPr wrap="none" rtlCol="0">
              <a:spAutoFit/>
            </a:bodyPr>
            <a:lstStyle/>
            <a:p>
              <a:r>
                <a:rPr lang="en-US" sz="2400">
                  <a:solidFill>
                    <a:srgbClr val="00B050"/>
                  </a:solidFill>
                  <a:latin typeface="Calibri" panose="020F0502020204030204" pitchFamily="34" charset="0"/>
                  <a:cs typeface="Calibri" panose="020F0502020204030204" pitchFamily="34" charset="0"/>
                </a:rPr>
                <a:t>Flexible software</a:t>
              </a:r>
            </a:p>
          </p:txBody>
        </p:sp>
        <p:sp>
          <p:nvSpPr>
            <p:cNvPr id="23" name="Plus 22">
              <a:extLst>
                <a:ext uri="{FF2B5EF4-FFF2-40B4-BE49-F238E27FC236}">
                  <a16:creationId xmlns:a16="http://schemas.microsoft.com/office/drawing/2014/main" id="{6504630A-151C-47F8-75B1-069BDECBA715}"/>
                </a:ext>
              </a:extLst>
            </p:cNvPr>
            <p:cNvSpPr/>
            <p:nvPr/>
          </p:nvSpPr>
          <p:spPr>
            <a:xfrm>
              <a:off x="5998045" y="3468417"/>
              <a:ext cx="1028748" cy="1028748"/>
            </a:xfrm>
            <a:prstGeom prst="mathPlus">
              <a:avLst>
                <a:gd name="adj1" fmla="val 11001"/>
              </a:avLst>
            </a:prstGeom>
            <a:no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5A4E23C8-85FB-F4C1-A74C-402E548FAFE8}"/>
              </a:ext>
            </a:extLst>
          </p:cNvPr>
          <p:cNvSpPr txBox="1"/>
          <p:nvPr/>
        </p:nvSpPr>
        <p:spPr>
          <a:xfrm>
            <a:off x="1698474" y="5820166"/>
            <a:ext cx="4032642" cy="461665"/>
          </a:xfrm>
          <a:prstGeom prst="rect">
            <a:avLst/>
          </a:prstGeom>
          <a:noFill/>
        </p:spPr>
        <p:txBody>
          <a:bodyPr wrap="none" rtlCol="0">
            <a:spAutoFit/>
          </a:bodyPr>
          <a:lstStyle/>
          <a:p>
            <a:r>
              <a:rPr lang="en-US" sz="2400" i="1">
                <a:solidFill>
                  <a:srgbClr val="0070C0"/>
                </a:solidFill>
                <a:latin typeface="Calibri" panose="020F0502020204030204" pitchFamily="34" charset="0"/>
                <a:cs typeface="Calibri" panose="020F0502020204030204" pitchFamily="34" charset="0"/>
              </a:rPr>
              <a:t>For common simple operations</a:t>
            </a:r>
          </a:p>
        </p:txBody>
      </p:sp>
      <p:sp>
        <p:nvSpPr>
          <p:cNvPr id="25" name="TextBox 24">
            <a:extLst>
              <a:ext uri="{FF2B5EF4-FFF2-40B4-BE49-F238E27FC236}">
                <a16:creationId xmlns:a16="http://schemas.microsoft.com/office/drawing/2014/main" id="{75353298-70F8-0D0A-24EF-6BC8062A9F5D}"/>
              </a:ext>
            </a:extLst>
          </p:cNvPr>
          <p:cNvSpPr txBox="1"/>
          <p:nvPr/>
        </p:nvSpPr>
        <p:spPr>
          <a:xfrm>
            <a:off x="6867191" y="5635499"/>
            <a:ext cx="3832397" cy="830997"/>
          </a:xfrm>
          <a:prstGeom prst="rect">
            <a:avLst/>
          </a:prstGeom>
          <a:noFill/>
        </p:spPr>
        <p:txBody>
          <a:bodyPr wrap="square" rtlCol="0">
            <a:spAutoFit/>
          </a:bodyPr>
          <a:lstStyle/>
          <a:p>
            <a:r>
              <a:rPr lang="en-US" sz="2400" i="1">
                <a:solidFill>
                  <a:srgbClr val="00B050"/>
                </a:solidFill>
                <a:latin typeface="Calibri" panose="020F0502020204030204" pitchFamily="34" charset="0"/>
                <a:cs typeface="Calibri" panose="020F0502020204030204" pitchFamily="34" charset="0"/>
              </a:rPr>
              <a:t>For rare complex operations or added memory needs</a:t>
            </a:r>
          </a:p>
        </p:txBody>
      </p:sp>
      <p:sp>
        <p:nvSpPr>
          <p:cNvPr id="30" name="TextBox 29">
            <a:extLst>
              <a:ext uri="{FF2B5EF4-FFF2-40B4-BE49-F238E27FC236}">
                <a16:creationId xmlns:a16="http://schemas.microsoft.com/office/drawing/2014/main" id="{C72C6BA8-46F8-9257-A234-12275D239A98}"/>
              </a:ext>
            </a:extLst>
          </p:cNvPr>
          <p:cNvSpPr txBox="1"/>
          <p:nvPr/>
        </p:nvSpPr>
        <p:spPr>
          <a:xfrm>
            <a:off x="439783" y="1598895"/>
            <a:ext cx="11312434" cy="461665"/>
          </a:xfrm>
          <a:prstGeom prst="rect">
            <a:avLst/>
          </a:prstGeom>
          <a:noFill/>
        </p:spPr>
        <p:txBody>
          <a:bodyPr wrap="square">
            <a:spAutoFit/>
          </a:bodyPr>
          <a:lstStyle/>
          <a:p>
            <a:r>
              <a:rPr lang="en-US" sz="2400">
                <a:latin typeface="Calibri" panose="020F0502020204030204" pitchFamily="34" charset="0"/>
                <a:cs typeface="Calibri" panose="020F0502020204030204" pitchFamily="34" charset="0"/>
              </a:rPr>
              <a:t>E.g. </a:t>
            </a:r>
            <a:r>
              <a:rPr lang="en-US" sz="2400" dirty="0" err="1">
                <a:latin typeface="Calibri" panose="020F0502020204030204" pitchFamily="34" charset="0"/>
                <a:cs typeface="Calibri" panose="020F0502020204030204" pitchFamily="34" charset="0"/>
              </a:rPr>
              <a:t>NetCache</a:t>
            </a:r>
            <a:r>
              <a:rPr lang="en-US" sz="2400" dirty="0">
                <a:latin typeface="Calibri" panose="020F0502020204030204" pitchFamily="34" charset="0"/>
                <a:cs typeface="Calibri" panose="020F0502020204030204" pitchFamily="34" charset="0"/>
              </a:rPr>
              <a:t> [SOSP’17], </a:t>
            </a:r>
            <a:r>
              <a:rPr lang="en-US" sz="2400">
                <a:latin typeface="Calibri" panose="020F0502020204030204" pitchFamily="34" charset="0"/>
                <a:cs typeface="Calibri" panose="020F0502020204030204" pitchFamily="34" charset="0"/>
              </a:rPr>
              <a:t>Gallium [</a:t>
            </a:r>
            <a:r>
              <a:rPr lang="en-US" sz="2400" dirty="0">
                <a:latin typeface="Calibri" panose="020F0502020204030204" pitchFamily="34" charset="0"/>
                <a:cs typeface="Calibri" panose="020F0502020204030204" pitchFamily="34" charset="0"/>
              </a:rPr>
              <a:t>SIGCOMM’20</a:t>
            </a:r>
            <a:r>
              <a:rPr lang="en-US" sz="240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TEA </a:t>
            </a:r>
            <a:r>
              <a:rPr lang="en-US" sz="2400">
                <a:latin typeface="Calibri" panose="020F0502020204030204" pitchFamily="34" charset="0"/>
                <a:cs typeface="Calibri" panose="020F0502020204030204" pitchFamily="34" charset="0"/>
              </a:rPr>
              <a:t>[</a:t>
            </a:r>
            <a:r>
              <a:rPr lang="en-US" sz="2400" dirty="0">
                <a:latin typeface="Calibri" panose="020F0502020204030204" pitchFamily="34" charset="0"/>
                <a:cs typeface="Calibri" panose="020F0502020204030204" pitchFamily="34" charset="0"/>
              </a:rPr>
              <a:t>SIGCOMM’20</a:t>
            </a:r>
            <a:r>
              <a:rPr lang="en-US" sz="2400">
                <a:latin typeface="Calibri" panose="020F0502020204030204" pitchFamily="34" charset="0"/>
                <a:cs typeface="Calibri" panose="020F0502020204030204" pitchFamily="34" charset="0"/>
              </a:rPr>
              <a:t>], </a:t>
            </a:r>
            <a:r>
              <a:rPr lang="en-US" sz="2400" err="1">
                <a:latin typeface="Calibri" panose="020F0502020204030204" pitchFamily="34" charset="0"/>
                <a:cs typeface="Calibri" panose="020F0502020204030204" pitchFamily="34" charset="0"/>
              </a:rPr>
              <a:t>Pigasus</a:t>
            </a:r>
            <a:r>
              <a:rPr lang="en-US" sz="240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OSDI’20</a:t>
            </a:r>
            <a:r>
              <a:rPr lang="en-US" sz="240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07887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EEC09-2B63-07B0-F082-6AA11AECA154}"/>
              </a:ext>
            </a:extLst>
          </p:cNvPr>
          <p:cNvSpPr>
            <a:spLocks noGrp="1"/>
          </p:cNvSpPr>
          <p:nvPr>
            <p:ph type="title"/>
          </p:nvPr>
        </p:nvSpPr>
        <p:spPr>
          <a:xfrm>
            <a:off x="772886" y="2615340"/>
            <a:ext cx="10646228" cy="1627320"/>
          </a:xfrm>
        </p:spPr>
        <p:txBody>
          <a:bodyPr>
            <a:noAutofit/>
          </a:bodyPr>
          <a:lstStyle/>
          <a:p>
            <a:pPr algn="ctr"/>
            <a:r>
              <a:rPr lang="en-US" sz="5400" dirty="0">
                <a:solidFill>
                  <a:srgbClr val="002060"/>
                </a:solidFill>
                <a:latin typeface="Calibri" panose="020F0502020204030204" pitchFamily="34" charset="0"/>
                <a:cs typeface="Calibri" panose="020F0502020204030204" pitchFamily="34" charset="0"/>
              </a:rPr>
              <a:t>Consistency is important, but hard</a:t>
            </a:r>
            <a:endParaRPr lang="en-US" sz="5400" dirty="0">
              <a:solidFill>
                <a:srgbClr val="002060"/>
              </a:solidFill>
              <a:latin typeface="Calibri Light" panose="020F0302020204030204" pitchFamily="34" charset="0"/>
              <a:cs typeface="Calibri Light" panose="020F0302020204030204" pitchFamily="34" charset="0"/>
            </a:endParaRPr>
          </a:p>
        </p:txBody>
      </p:sp>
      <p:sp>
        <p:nvSpPr>
          <p:cNvPr id="4" name="Slide Number Placeholder 3">
            <a:extLst>
              <a:ext uri="{FF2B5EF4-FFF2-40B4-BE49-F238E27FC236}">
                <a16:creationId xmlns:a16="http://schemas.microsoft.com/office/drawing/2014/main" id="{826E4F99-00FF-39A7-6D18-D37DDBC253F5}"/>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4</a:t>
            </a:fld>
            <a:endParaRPr lang="en-US"/>
          </a:p>
        </p:txBody>
      </p:sp>
    </p:spTree>
    <p:extLst>
      <p:ext uri="{BB962C8B-B14F-4D97-AF65-F5344CB8AC3E}">
        <p14:creationId xmlns:p14="http://schemas.microsoft.com/office/powerpoint/2010/main" val="105971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56990-40E0-4EF3-8A73-A8BE2B2BC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E9767-1757-3599-B894-00D989848415}"/>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How existing work handles the states?</a:t>
            </a:r>
          </a:p>
        </p:txBody>
      </p:sp>
      <p:sp>
        <p:nvSpPr>
          <p:cNvPr id="4" name="Slide Number Placeholder 3">
            <a:extLst>
              <a:ext uri="{FF2B5EF4-FFF2-40B4-BE49-F238E27FC236}">
                <a16:creationId xmlns:a16="http://schemas.microsoft.com/office/drawing/2014/main" id="{89F60930-6C94-CDF8-B682-B84AC0506C39}"/>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5</a:t>
            </a:fld>
            <a:endParaRPr lang="en-US"/>
          </a:p>
        </p:txBody>
      </p:sp>
      <p:sp>
        <p:nvSpPr>
          <p:cNvPr id="16" name="TextBox 15">
            <a:extLst>
              <a:ext uri="{FF2B5EF4-FFF2-40B4-BE49-F238E27FC236}">
                <a16:creationId xmlns:a16="http://schemas.microsoft.com/office/drawing/2014/main" id="{53A7139F-A9F7-6EB0-6DB3-8AD40C566C04}"/>
              </a:ext>
            </a:extLst>
          </p:cNvPr>
          <p:cNvSpPr txBox="1"/>
          <p:nvPr/>
        </p:nvSpPr>
        <p:spPr>
          <a:xfrm>
            <a:off x="2576899" y="2551582"/>
            <a:ext cx="3195036" cy="461665"/>
          </a:xfrm>
          <a:prstGeom prst="rect">
            <a:avLst/>
          </a:prstGeom>
          <a:noFill/>
        </p:spPr>
        <p:txBody>
          <a:bodyPr wrap="square">
            <a:spAutoFit/>
          </a:bodyPr>
          <a:lstStyle/>
          <a:p>
            <a:r>
              <a:rPr lang="en-US" sz="2400" i="1" dirty="0">
                <a:solidFill>
                  <a:srgbClr val="0070C0"/>
                </a:solidFill>
                <a:latin typeface="Calibri" panose="020F0502020204030204" pitchFamily="34" charset="0"/>
                <a:cs typeface="Calibri" panose="020F0502020204030204" pitchFamily="34" charset="0"/>
              </a:rPr>
              <a:t>Programmable switch</a:t>
            </a:r>
          </a:p>
        </p:txBody>
      </p:sp>
      <p:sp>
        <p:nvSpPr>
          <p:cNvPr id="17" name="TextBox 16">
            <a:extLst>
              <a:ext uri="{FF2B5EF4-FFF2-40B4-BE49-F238E27FC236}">
                <a16:creationId xmlns:a16="http://schemas.microsoft.com/office/drawing/2014/main" id="{FC4AEC88-9E28-76D6-6F90-91FF18E9B4EB}"/>
              </a:ext>
            </a:extLst>
          </p:cNvPr>
          <p:cNvSpPr txBox="1"/>
          <p:nvPr/>
        </p:nvSpPr>
        <p:spPr>
          <a:xfrm>
            <a:off x="6803734" y="2545289"/>
            <a:ext cx="1214907" cy="461665"/>
          </a:xfrm>
          <a:prstGeom prst="rect">
            <a:avLst/>
          </a:prstGeom>
          <a:noFill/>
        </p:spPr>
        <p:txBody>
          <a:bodyPr wrap="square">
            <a:spAutoFit/>
          </a:bodyPr>
          <a:lstStyle/>
          <a:p>
            <a:r>
              <a:rPr lang="en-US" sz="2400" i="1" dirty="0">
                <a:solidFill>
                  <a:srgbClr val="00B050"/>
                </a:solidFill>
                <a:latin typeface="Calibri" panose="020F0502020204030204" pitchFamily="34" charset="0"/>
                <a:cs typeface="Calibri" panose="020F0502020204030204" pitchFamily="34" charset="0"/>
              </a:rPr>
              <a:t>Server</a:t>
            </a:r>
          </a:p>
        </p:txBody>
      </p:sp>
      <p:sp>
        <p:nvSpPr>
          <p:cNvPr id="18" name="Rectangle 17">
            <a:extLst>
              <a:ext uri="{FF2B5EF4-FFF2-40B4-BE49-F238E27FC236}">
                <a16:creationId xmlns:a16="http://schemas.microsoft.com/office/drawing/2014/main" id="{DE51AC86-3E5A-0792-4AA2-82D2B0B5B885}"/>
              </a:ext>
            </a:extLst>
          </p:cNvPr>
          <p:cNvSpPr/>
          <p:nvPr/>
        </p:nvSpPr>
        <p:spPr>
          <a:xfrm>
            <a:off x="2576899" y="3098689"/>
            <a:ext cx="3004174" cy="283335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a:extLst>
              <a:ext uri="{FF2B5EF4-FFF2-40B4-BE49-F238E27FC236}">
                <a16:creationId xmlns:a16="http://schemas.microsoft.com/office/drawing/2014/main" id="{82CE820B-4756-261F-A4C2-CF1AAEEEF79F}"/>
              </a:ext>
            </a:extLst>
          </p:cNvPr>
          <p:cNvGraphicFramePr>
            <a:graphicFrameLocks noGrp="1"/>
          </p:cNvGraphicFramePr>
          <p:nvPr/>
        </p:nvGraphicFramePr>
        <p:xfrm>
          <a:off x="2733546" y="3316286"/>
          <a:ext cx="2686674" cy="1453896"/>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20" name="Rectangle 19">
            <a:extLst>
              <a:ext uri="{FF2B5EF4-FFF2-40B4-BE49-F238E27FC236}">
                <a16:creationId xmlns:a16="http://schemas.microsoft.com/office/drawing/2014/main" id="{300518EB-44BE-05F0-8737-8B4D18A70600}"/>
              </a:ext>
            </a:extLst>
          </p:cNvPr>
          <p:cNvSpPr/>
          <p:nvPr/>
        </p:nvSpPr>
        <p:spPr>
          <a:xfrm>
            <a:off x="5908082" y="3098033"/>
            <a:ext cx="3004174" cy="28333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163CA45-847C-9FCB-C9E3-4C47978A6F10}"/>
              </a:ext>
            </a:extLst>
          </p:cNvPr>
          <p:cNvSpPr txBox="1"/>
          <p:nvPr/>
        </p:nvSpPr>
        <p:spPr>
          <a:xfrm>
            <a:off x="4523903" y="3875104"/>
            <a:ext cx="459073"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graphicFrame>
        <p:nvGraphicFramePr>
          <p:cNvPr id="25" name="Table 24">
            <a:extLst>
              <a:ext uri="{FF2B5EF4-FFF2-40B4-BE49-F238E27FC236}">
                <a16:creationId xmlns:a16="http://schemas.microsoft.com/office/drawing/2014/main" id="{DA5EB4E3-9441-814F-F353-FC2F29EC93E9}"/>
              </a:ext>
            </a:extLst>
          </p:cNvPr>
          <p:cNvGraphicFramePr>
            <a:graphicFrameLocks noGrp="1"/>
          </p:cNvGraphicFramePr>
          <p:nvPr/>
        </p:nvGraphicFramePr>
        <p:xfrm>
          <a:off x="6028093" y="3316286"/>
          <a:ext cx="2686674" cy="244171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48834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834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834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488342">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488342">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26" name="TextBox 25">
            <a:extLst>
              <a:ext uri="{FF2B5EF4-FFF2-40B4-BE49-F238E27FC236}">
                <a16:creationId xmlns:a16="http://schemas.microsoft.com/office/drawing/2014/main" id="{92019570-659E-E5A1-CCF2-E4129A3B035E}"/>
              </a:ext>
            </a:extLst>
          </p:cNvPr>
          <p:cNvSpPr txBox="1"/>
          <p:nvPr/>
        </p:nvSpPr>
        <p:spPr>
          <a:xfrm>
            <a:off x="7851048" y="3875104"/>
            <a:ext cx="514349"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3" name="TextBox 13">
            <a:extLst>
              <a:ext uri="{FF2B5EF4-FFF2-40B4-BE49-F238E27FC236}">
                <a16:creationId xmlns:a16="http://schemas.microsoft.com/office/drawing/2014/main" id="{CA8AD731-67C5-F35F-0838-2CDB45A71BD3}"/>
              </a:ext>
            </a:extLst>
          </p:cNvPr>
          <p:cNvSpPr txBox="1"/>
          <p:nvPr/>
        </p:nvSpPr>
        <p:spPr>
          <a:xfrm>
            <a:off x="703453" y="1692857"/>
            <a:ext cx="6176942" cy="461665"/>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latin typeface="Calibri"/>
                <a:ea typeface="Calibri"/>
                <a:cs typeface="Calibri"/>
              </a:rPr>
              <a:t>Example: key-value store for food preference</a:t>
            </a:r>
            <a:endParaRPr lang="en-US" dirty="0">
              <a:latin typeface="Aptos" panose="02110004020202020204"/>
              <a:ea typeface="Calibri"/>
              <a:cs typeface="Calibri"/>
            </a:endParaRPr>
          </a:p>
        </p:txBody>
      </p:sp>
    </p:spTree>
    <p:extLst>
      <p:ext uri="{BB962C8B-B14F-4D97-AF65-F5344CB8AC3E}">
        <p14:creationId xmlns:p14="http://schemas.microsoft.com/office/powerpoint/2010/main" val="3895850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3B065-5186-40AC-7124-A9A9E16D1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92C56-89F5-4DB3-B7FC-4D2F243F297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How existing work handles the states?</a:t>
            </a:r>
          </a:p>
        </p:txBody>
      </p:sp>
      <p:sp>
        <p:nvSpPr>
          <p:cNvPr id="4" name="Slide Number Placeholder 3">
            <a:extLst>
              <a:ext uri="{FF2B5EF4-FFF2-40B4-BE49-F238E27FC236}">
                <a16:creationId xmlns:a16="http://schemas.microsoft.com/office/drawing/2014/main" id="{E4CBA9E3-4845-63BA-006A-BBD206725A37}"/>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6</a:t>
            </a:fld>
            <a:endParaRPr lang="en-US"/>
          </a:p>
        </p:txBody>
      </p:sp>
      <p:sp>
        <p:nvSpPr>
          <p:cNvPr id="16" name="TextBox 15">
            <a:extLst>
              <a:ext uri="{FF2B5EF4-FFF2-40B4-BE49-F238E27FC236}">
                <a16:creationId xmlns:a16="http://schemas.microsoft.com/office/drawing/2014/main" id="{E0777543-F436-0245-8D8F-C7423E9236F0}"/>
              </a:ext>
            </a:extLst>
          </p:cNvPr>
          <p:cNvSpPr txBox="1"/>
          <p:nvPr/>
        </p:nvSpPr>
        <p:spPr>
          <a:xfrm>
            <a:off x="6197489" y="3455496"/>
            <a:ext cx="2949102" cy="461665"/>
          </a:xfrm>
          <a:prstGeom prst="rect">
            <a:avLst/>
          </a:prstGeom>
          <a:noFill/>
        </p:spPr>
        <p:txBody>
          <a:bodyPr wrap="square">
            <a:spAutoFit/>
          </a:bodyPr>
          <a:lstStyle/>
          <a:p>
            <a:pPr algn="ctr"/>
            <a:r>
              <a:rPr lang="en-US" sz="2400" i="1" dirty="0">
                <a:solidFill>
                  <a:srgbClr val="0070C0"/>
                </a:solidFill>
                <a:latin typeface="Calibri" panose="020F0502020204030204" pitchFamily="34" charset="0"/>
                <a:cs typeface="Calibri" panose="020F0502020204030204" pitchFamily="34" charset="0"/>
              </a:rPr>
              <a:t>Programmable switch</a:t>
            </a:r>
          </a:p>
        </p:txBody>
      </p:sp>
      <p:sp>
        <p:nvSpPr>
          <p:cNvPr id="17" name="TextBox 16">
            <a:extLst>
              <a:ext uri="{FF2B5EF4-FFF2-40B4-BE49-F238E27FC236}">
                <a16:creationId xmlns:a16="http://schemas.microsoft.com/office/drawing/2014/main" id="{1E226357-FA54-4D39-E995-1F6BAE79539B}"/>
              </a:ext>
            </a:extLst>
          </p:cNvPr>
          <p:cNvSpPr txBox="1"/>
          <p:nvPr/>
        </p:nvSpPr>
        <p:spPr>
          <a:xfrm>
            <a:off x="9848321" y="3446424"/>
            <a:ext cx="1214907" cy="461665"/>
          </a:xfrm>
          <a:prstGeom prst="rect">
            <a:avLst/>
          </a:prstGeom>
          <a:noFill/>
        </p:spPr>
        <p:txBody>
          <a:bodyPr wrap="square">
            <a:spAutoFit/>
          </a:bodyPr>
          <a:lstStyle/>
          <a:p>
            <a:pPr algn="ctr"/>
            <a:r>
              <a:rPr lang="en-US" sz="2400" i="1" dirty="0">
                <a:solidFill>
                  <a:srgbClr val="00B050"/>
                </a:solidFill>
                <a:latin typeface="Calibri" panose="020F0502020204030204" pitchFamily="34" charset="0"/>
                <a:cs typeface="Calibri" panose="020F0502020204030204" pitchFamily="34" charset="0"/>
              </a:rPr>
              <a:t>Server</a:t>
            </a:r>
          </a:p>
        </p:txBody>
      </p:sp>
      <p:sp>
        <p:nvSpPr>
          <p:cNvPr id="5" name="Content Placeholder 2">
            <a:extLst>
              <a:ext uri="{FF2B5EF4-FFF2-40B4-BE49-F238E27FC236}">
                <a16:creationId xmlns:a16="http://schemas.microsoft.com/office/drawing/2014/main" id="{AB37EAAB-2BA1-7766-3258-85AA621899B7}"/>
              </a:ext>
            </a:extLst>
          </p:cNvPr>
          <p:cNvSpPr>
            <a:spLocks noGrp="1"/>
          </p:cNvSpPr>
          <p:nvPr>
            <p:ph idx="1"/>
          </p:nvPr>
        </p:nvSpPr>
        <p:spPr>
          <a:xfrm>
            <a:off x="838200" y="1465383"/>
            <a:ext cx="4506684" cy="1781421"/>
          </a:xfrm>
        </p:spPr>
        <p:txBody>
          <a:bodyPr>
            <a:normAutofit fontScale="92500"/>
          </a:bodyPr>
          <a:lstStyle/>
          <a:p>
            <a:pPr marL="514350" indent="-514350">
              <a:lnSpc>
                <a:spcPct val="150000"/>
              </a:lnSpc>
              <a:buFont typeface="+mj-lt"/>
              <a:buAutoNum type="arabicPeriod"/>
            </a:pPr>
            <a:r>
              <a:rPr lang="en-US" b="1" dirty="0">
                <a:latin typeface="Calibri" panose="020F0502020204030204" pitchFamily="34" charset="0"/>
                <a:cs typeface="Calibri" panose="020F0502020204030204" pitchFamily="34" charset="0"/>
              </a:rPr>
              <a:t>No state sharing</a:t>
            </a:r>
          </a:p>
          <a:p>
            <a:pPr lvl="1">
              <a:lnSpc>
                <a:spcPct val="150000"/>
              </a:lnSpc>
            </a:pPr>
            <a:r>
              <a:rPr lang="en-US" dirty="0" err="1">
                <a:latin typeface="Calibri" panose="020F0502020204030204" pitchFamily="34" charset="0"/>
                <a:cs typeface="Calibri" panose="020F0502020204030204" pitchFamily="34" charset="0"/>
              </a:rPr>
              <a:t>Read+write</a:t>
            </a:r>
            <a:r>
              <a:rPr lang="en-US" dirty="0">
                <a:latin typeface="Calibri" panose="020F0502020204030204" pitchFamily="34" charset="0"/>
                <a:cs typeface="Calibri" panose="020F0502020204030204" pitchFamily="34" charset="0"/>
              </a:rPr>
              <a:t> on both platforms</a:t>
            </a:r>
          </a:p>
          <a:p>
            <a:pPr lvl="1">
              <a:lnSpc>
                <a:spcPct val="150000"/>
              </a:lnSpc>
            </a:pPr>
            <a:r>
              <a:rPr lang="en-US" dirty="0">
                <a:latin typeface="Calibri" panose="020F0502020204030204" pitchFamily="34" charset="0"/>
                <a:cs typeface="Calibri" panose="020F0502020204030204" pitchFamily="34" charset="0"/>
              </a:rPr>
              <a:t>E.g. Gallium [SIGCOMM’20]</a:t>
            </a:r>
          </a:p>
        </p:txBody>
      </p:sp>
      <p:sp>
        <p:nvSpPr>
          <p:cNvPr id="3" name="Content Placeholder 2">
            <a:extLst>
              <a:ext uri="{FF2B5EF4-FFF2-40B4-BE49-F238E27FC236}">
                <a16:creationId xmlns:a16="http://schemas.microsoft.com/office/drawing/2014/main" id="{CFE637DE-296C-6FBA-4F00-17E3B26F3432}"/>
              </a:ext>
            </a:extLst>
          </p:cNvPr>
          <p:cNvSpPr txBox="1">
            <a:spLocks/>
          </p:cNvSpPr>
          <p:nvPr/>
        </p:nvSpPr>
        <p:spPr>
          <a:xfrm>
            <a:off x="6133668" y="1472082"/>
            <a:ext cx="6015335" cy="220087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50000"/>
              </a:lnSpc>
              <a:buFont typeface="+mj-lt"/>
              <a:buAutoNum type="arabicPeriod" startAt="2"/>
            </a:pPr>
            <a:r>
              <a:rPr lang="en-US" b="1" dirty="0">
                <a:latin typeface="Calibri" panose="020F0502020204030204" pitchFamily="34" charset="0"/>
                <a:cs typeface="Calibri" panose="020F0502020204030204" pitchFamily="34" charset="0"/>
              </a:rPr>
              <a:t>Shared, but read-only switch state</a:t>
            </a:r>
          </a:p>
          <a:p>
            <a:pPr lvl="1">
              <a:lnSpc>
                <a:spcPct val="150000"/>
              </a:lnSpc>
            </a:pPr>
            <a:r>
              <a:rPr lang="en-US" dirty="0">
                <a:latin typeface="Calibri" panose="020F0502020204030204" pitchFamily="34" charset="0"/>
                <a:cs typeface="Calibri" panose="020F0502020204030204" pitchFamily="34" charset="0"/>
              </a:rPr>
              <a:t>Write packets go to server</a:t>
            </a:r>
          </a:p>
          <a:p>
            <a:pPr lvl="1">
              <a:lnSpc>
                <a:spcPct val="150000"/>
              </a:lnSpc>
            </a:pPr>
            <a:r>
              <a:rPr lang="en-US" dirty="0">
                <a:latin typeface="Calibri" panose="020F0502020204030204" pitchFamily="34" charset="0"/>
                <a:cs typeface="Calibri" panose="020F0502020204030204" pitchFamily="34" charset="0"/>
              </a:rPr>
              <a:t>E.g. </a:t>
            </a:r>
            <a:r>
              <a:rPr lang="en-US" dirty="0" err="1">
                <a:latin typeface="Calibri" panose="020F0502020204030204" pitchFamily="34" charset="0"/>
                <a:cs typeface="Calibri" panose="020F0502020204030204" pitchFamily="34" charset="0"/>
              </a:rPr>
              <a:t>NetCache</a:t>
            </a:r>
            <a:r>
              <a:rPr lang="en-US" dirty="0">
                <a:latin typeface="Calibri" panose="020F0502020204030204" pitchFamily="34" charset="0"/>
                <a:cs typeface="Calibri" panose="020F0502020204030204" pitchFamily="34" charset="0"/>
              </a:rPr>
              <a:t> [SOSP’17], TEA [SIGCOMM’20]</a:t>
            </a:r>
          </a:p>
        </p:txBody>
      </p:sp>
      <p:sp>
        <p:nvSpPr>
          <p:cNvPr id="6" name="TextBox 5">
            <a:extLst>
              <a:ext uri="{FF2B5EF4-FFF2-40B4-BE49-F238E27FC236}">
                <a16:creationId xmlns:a16="http://schemas.microsoft.com/office/drawing/2014/main" id="{74144550-CC08-D583-0788-ADB767C68DDC}"/>
              </a:ext>
            </a:extLst>
          </p:cNvPr>
          <p:cNvSpPr txBox="1"/>
          <p:nvPr/>
        </p:nvSpPr>
        <p:spPr>
          <a:xfrm>
            <a:off x="160624" y="3470314"/>
            <a:ext cx="2893939" cy="461665"/>
          </a:xfrm>
          <a:prstGeom prst="rect">
            <a:avLst/>
          </a:prstGeom>
          <a:noFill/>
        </p:spPr>
        <p:txBody>
          <a:bodyPr wrap="square">
            <a:spAutoFit/>
          </a:bodyPr>
          <a:lstStyle/>
          <a:p>
            <a:r>
              <a:rPr lang="en-US" sz="2400" i="1" dirty="0">
                <a:solidFill>
                  <a:srgbClr val="0070C0"/>
                </a:solidFill>
                <a:latin typeface="Calibri" panose="020F0502020204030204" pitchFamily="34" charset="0"/>
                <a:cs typeface="Calibri" panose="020F0502020204030204" pitchFamily="34" charset="0"/>
              </a:rPr>
              <a:t>Programmable switch</a:t>
            </a:r>
          </a:p>
        </p:txBody>
      </p:sp>
      <p:sp>
        <p:nvSpPr>
          <p:cNvPr id="7" name="TextBox 6">
            <a:extLst>
              <a:ext uri="{FF2B5EF4-FFF2-40B4-BE49-F238E27FC236}">
                <a16:creationId xmlns:a16="http://schemas.microsoft.com/office/drawing/2014/main" id="{F2AA20D9-FE52-3865-4A13-676E8F5CA6CF}"/>
              </a:ext>
            </a:extLst>
          </p:cNvPr>
          <p:cNvSpPr txBox="1"/>
          <p:nvPr/>
        </p:nvSpPr>
        <p:spPr>
          <a:xfrm>
            <a:off x="3745051" y="3455500"/>
            <a:ext cx="1214907" cy="461665"/>
          </a:xfrm>
          <a:prstGeom prst="rect">
            <a:avLst/>
          </a:prstGeom>
          <a:noFill/>
        </p:spPr>
        <p:txBody>
          <a:bodyPr wrap="square">
            <a:spAutoFit/>
          </a:bodyPr>
          <a:lstStyle/>
          <a:p>
            <a:pPr algn="ctr"/>
            <a:r>
              <a:rPr lang="en-US" sz="2400" i="1" dirty="0">
                <a:solidFill>
                  <a:srgbClr val="00B050"/>
                </a:solidFill>
                <a:latin typeface="Calibri" panose="020F0502020204030204" pitchFamily="34" charset="0"/>
                <a:cs typeface="Calibri" panose="020F0502020204030204" pitchFamily="34" charset="0"/>
              </a:rPr>
              <a:t>Server</a:t>
            </a:r>
          </a:p>
        </p:txBody>
      </p:sp>
      <p:sp>
        <p:nvSpPr>
          <p:cNvPr id="8" name="Rectangle 7">
            <a:extLst>
              <a:ext uri="{FF2B5EF4-FFF2-40B4-BE49-F238E27FC236}">
                <a16:creationId xmlns:a16="http://schemas.microsoft.com/office/drawing/2014/main" id="{F040FF2F-805C-B48F-D47B-C6C3C6990515}"/>
              </a:ext>
            </a:extLst>
          </p:cNvPr>
          <p:cNvSpPr/>
          <p:nvPr/>
        </p:nvSpPr>
        <p:spPr>
          <a:xfrm>
            <a:off x="357583" y="4060375"/>
            <a:ext cx="2511081" cy="17634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0656FAA3-9E4F-7A7E-1BCF-22CA19A9BDFF}"/>
              </a:ext>
            </a:extLst>
          </p:cNvPr>
          <p:cNvGraphicFramePr>
            <a:graphicFrameLocks noGrp="1"/>
          </p:cNvGraphicFramePr>
          <p:nvPr/>
        </p:nvGraphicFramePr>
        <p:xfrm>
          <a:off x="509983" y="4186117"/>
          <a:ext cx="2195223" cy="1453896"/>
        </p:xfrm>
        <a:graphic>
          <a:graphicData uri="http://schemas.openxmlformats.org/drawingml/2006/table">
            <a:tbl>
              <a:tblPr firstRow="1" bandRow="1">
                <a:tableStyleId>{073A0DAA-6AF3-43AB-8588-CEC1D06C72B9}</a:tableStyleId>
              </a:tblPr>
              <a:tblGrid>
                <a:gridCol w="838200">
                  <a:extLst>
                    <a:ext uri="{9D8B030D-6E8A-4147-A177-3AD203B41FA5}">
                      <a16:colId xmlns:a16="http://schemas.microsoft.com/office/drawing/2014/main" val="1986951801"/>
                    </a:ext>
                  </a:extLst>
                </a:gridCol>
                <a:gridCol w="1357023">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dirty="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14" name="Rectangle 13">
            <a:extLst>
              <a:ext uri="{FF2B5EF4-FFF2-40B4-BE49-F238E27FC236}">
                <a16:creationId xmlns:a16="http://schemas.microsoft.com/office/drawing/2014/main" id="{E3D1D9D4-E37D-F3FB-9FFA-7211E5E53979}"/>
              </a:ext>
            </a:extLst>
          </p:cNvPr>
          <p:cNvSpPr/>
          <p:nvPr/>
        </p:nvSpPr>
        <p:spPr>
          <a:xfrm>
            <a:off x="3066153" y="4060375"/>
            <a:ext cx="2623622" cy="17634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able 14">
            <a:extLst>
              <a:ext uri="{FF2B5EF4-FFF2-40B4-BE49-F238E27FC236}">
                <a16:creationId xmlns:a16="http://schemas.microsoft.com/office/drawing/2014/main" id="{50D3F249-9717-589A-24CC-83C8B5966BDB}"/>
              </a:ext>
            </a:extLst>
          </p:cNvPr>
          <p:cNvGraphicFramePr>
            <a:graphicFrameLocks noGrp="1"/>
          </p:cNvGraphicFramePr>
          <p:nvPr/>
        </p:nvGraphicFramePr>
        <p:xfrm>
          <a:off x="3178694" y="4196575"/>
          <a:ext cx="2347623" cy="1453896"/>
        </p:xfrm>
        <a:graphic>
          <a:graphicData uri="http://schemas.openxmlformats.org/drawingml/2006/table">
            <a:tbl>
              <a:tblPr firstRow="1" bandRow="1">
                <a:tableStyleId>{073A0DAA-6AF3-43AB-8588-CEC1D06C72B9}</a:tableStyleId>
              </a:tblPr>
              <a:tblGrid>
                <a:gridCol w="942957">
                  <a:extLst>
                    <a:ext uri="{9D8B030D-6E8A-4147-A177-3AD203B41FA5}">
                      <a16:colId xmlns:a16="http://schemas.microsoft.com/office/drawing/2014/main" val="1986951801"/>
                    </a:ext>
                  </a:extLst>
                </a:gridCol>
                <a:gridCol w="1404666">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dirty="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dirty="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dirty="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22" name="Rectangle 21">
            <a:extLst>
              <a:ext uri="{FF2B5EF4-FFF2-40B4-BE49-F238E27FC236}">
                <a16:creationId xmlns:a16="http://schemas.microsoft.com/office/drawing/2014/main" id="{F06A2027-1FC4-A9DB-1E78-64D600ED5723}"/>
              </a:ext>
            </a:extLst>
          </p:cNvPr>
          <p:cNvSpPr/>
          <p:nvPr/>
        </p:nvSpPr>
        <p:spPr>
          <a:xfrm>
            <a:off x="6422029" y="4048201"/>
            <a:ext cx="2511081" cy="17634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 23">
            <a:extLst>
              <a:ext uri="{FF2B5EF4-FFF2-40B4-BE49-F238E27FC236}">
                <a16:creationId xmlns:a16="http://schemas.microsoft.com/office/drawing/2014/main" id="{74A9D42A-E7D7-C184-77DE-B261C127BE3C}"/>
              </a:ext>
            </a:extLst>
          </p:cNvPr>
          <p:cNvGraphicFramePr>
            <a:graphicFrameLocks noGrp="1"/>
          </p:cNvGraphicFramePr>
          <p:nvPr/>
        </p:nvGraphicFramePr>
        <p:xfrm>
          <a:off x="6574429" y="4173943"/>
          <a:ext cx="2195223" cy="1453896"/>
        </p:xfrm>
        <a:graphic>
          <a:graphicData uri="http://schemas.openxmlformats.org/drawingml/2006/table">
            <a:tbl>
              <a:tblPr firstRow="1" bandRow="1">
                <a:tableStyleId>{073A0DAA-6AF3-43AB-8588-CEC1D06C72B9}</a:tableStyleId>
              </a:tblPr>
              <a:tblGrid>
                <a:gridCol w="838200">
                  <a:extLst>
                    <a:ext uri="{9D8B030D-6E8A-4147-A177-3AD203B41FA5}">
                      <a16:colId xmlns:a16="http://schemas.microsoft.com/office/drawing/2014/main" val="1986951801"/>
                    </a:ext>
                  </a:extLst>
                </a:gridCol>
                <a:gridCol w="1357023">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dirty="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28" name="Rectangle 27">
            <a:extLst>
              <a:ext uri="{FF2B5EF4-FFF2-40B4-BE49-F238E27FC236}">
                <a16:creationId xmlns:a16="http://schemas.microsoft.com/office/drawing/2014/main" id="{8BE3197A-EA5D-B2B5-6988-129581259662}"/>
              </a:ext>
            </a:extLst>
          </p:cNvPr>
          <p:cNvSpPr/>
          <p:nvPr/>
        </p:nvSpPr>
        <p:spPr>
          <a:xfrm>
            <a:off x="9141336" y="4048201"/>
            <a:ext cx="2623622" cy="27129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9" name="Table 28">
            <a:extLst>
              <a:ext uri="{FF2B5EF4-FFF2-40B4-BE49-F238E27FC236}">
                <a16:creationId xmlns:a16="http://schemas.microsoft.com/office/drawing/2014/main" id="{2F458827-DFB8-03BB-8AB6-960707A51C9A}"/>
              </a:ext>
            </a:extLst>
          </p:cNvPr>
          <p:cNvGraphicFramePr>
            <a:graphicFrameLocks noGrp="1"/>
          </p:cNvGraphicFramePr>
          <p:nvPr/>
        </p:nvGraphicFramePr>
        <p:xfrm>
          <a:off x="9253877" y="4184401"/>
          <a:ext cx="2347623" cy="2423160"/>
        </p:xfrm>
        <a:graphic>
          <a:graphicData uri="http://schemas.openxmlformats.org/drawingml/2006/table">
            <a:tbl>
              <a:tblPr firstRow="1" bandRow="1">
                <a:tableStyleId>{073A0DAA-6AF3-43AB-8588-CEC1D06C72B9}</a:tableStyleId>
              </a:tblPr>
              <a:tblGrid>
                <a:gridCol w="942957">
                  <a:extLst>
                    <a:ext uri="{9D8B030D-6E8A-4147-A177-3AD203B41FA5}">
                      <a16:colId xmlns:a16="http://schemas.microsoft.com/office/drawing/2014/main" val="1986951801"/>
                    </a:ext>
                  </a:extLst>
                </a:gridCol>
                <a:gridCol w="1404666">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dirty="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dirty="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9356492"/>
                  </a:ext>
                </a:extLst>
              </a:tr>
              <a:tr h="484632">
                <a:tc>
                  <a:txBody>
                    <a:bodyPr/>
                    <a:lstStyle/>
                    <a:p>
                      <a:pPr algn="ctr"/>
                      <a:r>
                        <a:rPr lang="en-US" sz="2000" dirty="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4626806"/>
                  </a:ext>
                </a:extLst>
              </a:tr>
              <a:tr h="484632">
                <a:tc>
                  <a:txBody>
                    <a:bodyPr/>
                    <a:lstStyle/>
                    <a:p>
                      <a:pPr algn="ctr"/>
                      <a:r>
                        <a:rPr lang="en-US" sz="2000" dirty="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dirty="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cxnSp>
        <p:nvCxnSpPr>
          <p:cNvPr id="31" name="Straight Connector 30">
            <a:extLst>
              <a:ext uri="{FF2B5EF4-FFF2-40B4-BE49-F238E27FC236}">
                <a16:creationId xmlns:a16="http://schemas.microsoft.com/office/drawing/2014/main" id="{2DD74417-62EA-A82A-733B-BFB43FD2411F}"/>
              </a:ext>
            </a:extLst>
          </p:cNvPr>
          <p:cNvCxnSpPr>
            <a:cxnSpLocks/>
          </p:cNvCxnSpPr>
          <p:nvPr/>
        </p:nvCxnSpPr>
        <p:spPr>
          <a:xfrm>
            <a:off x="5856515" y="1735553"/>
            <a:ext cx="0" cy="4758104"/>
          </a:xfrm>
          <a:prstGeom prst="line">
            <a:avLst/>
          </a:prstGeom>
        </p:spPr>
        <p:style>
          <a:lnRef idx="2">
            <a:schemeClr val="dk1"/>
          </a:lnRef>
          <a:fillRef idx="0">
            <a:schemeClr val="dk1"/>
          </a:fillRef>
          <a:effectRef idx="1">
            <a:schemeClr val="dk1"/>
          </a:effectRef>
          <a:fontRef idx="minor">
            <a:schemeClr val="tx1"/>
          </a:fontRef>
        </p:style>
      </p:cxnSp>
      <p:sp>
        <p:nvSpPr>
          <p:cNvPr id="33" name="Rounded Rectangle 32">
            <a:extLst>
              <a:ext uri="{FF2B5EF4-FFF2-40B4-BE49-F238E27FC236}">
                <a16:creationId xmlns:a16="http://schemas.microsoft.com/office/drawing/2014/main" id="{45CF0B0A-8AF3-9628-79BD-25320D3DCA4D}"/>
              </a:ext>
            </a:extLst>
          </p:cNvPr>
          <p:cNvSpPr/>
          <p:nvPr/>
        </p:nvSpPr>
        <p:spPr>
          <a:xfrm>
            <a:off x="403781" y="5338369"/>
            <a:ext cx="5189347" cy="1299063"/>
          </a:xfrm>
          <a:prstGeom prst="roundRect">
            <a:avLst/>
          </a:prstGeom>
          <a:solidFill>
            <a:srgbClr val="C50440">
              <a:alpha val="9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No complex operations for states on switch</a:t>
            </a:r>
            <a:endParaRPr lang="en-US" sz="3200" dirty="0"/>
          </a:p>
        </p:txBody>
      </p:sp>
      <p:sp>
        <p:nvSpPr>
          <p:cNvPr id="35" name="Rounded Rectangle 34">
            <a:extLst>
              <a:ext uri="{FF2B5EF4-FFF2-40B4-BE49-F238E27FC236}">
                <a16:creationId xmlns:a16="http://schemas.microsoft.com/office/drawing/2014/main" id="{9B95F76E-6F4C-D5A3-EDE2-67533D45AEA6}"/>
              </a:ext>
            </a:extLst>
          </p:cNvPr>
          <p:cNvSpPr/>
          <p:nvPr/>
        </p:nvSpPr>
        <p:spPr>
          <a:xfrm>
            <a:off x="6492670" y="5308498"/>
            <a:ext cx="5189347" cy="1299063"/>
          </a:xfrm>
          <a:prstGeom prst="roundRect">
            <a:avLst/>
          </a:prstGeom>
          <a:solidFill>
            <a:srgbClr val="C50440">
              <a:alpha val="9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Even trivial updates must go to the server</a:t>
            </a:r>
            <a:endParaRPr lang="en-US" sz="3200" dirty="0"/>
          </a:p>
        </p:txBody>
      </p:sp>
    </p:spTree>
    <p:extLst>
      <p:ext uri="{BB962C8B-B14F-4D97-AF65-F5344CB8AC3E}">
        <p14:creationId xmlns:p14="http://schemas.microsoft.com/office/powerpoint/2010/main" val="44761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5" grpId="0" build="p"/>
      <p:bldP spid="3" grpId="0" build="allAtOnce"/>
      <p:bldP spid="6" grpId="0"/>
      <p:bldP spid="7" grpId="0"/>
      <p:bldP spid="8" grpId="0" animBg="1"/>
      <p:bldP spid="14" grpId="0" animBg="1"/>
      <p:bldP spid="22" grpId="0" animBg="1"/>
      <p:bldP spid="28" grpId="0" animBg="1"/>
      <p:bldP spid="33"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992A2394-DC0F-35CD-9152-211DA63E9048}"/>
              </a:ext>
            </a:extLst>
          </p:cNvPr>
          <p:cNvGrpSpPr/>
          <p:nvPr/>
        </p:nvGrpSpPr>
        <p:grpSpPr>
          <a:xfrm>
            <a:off x="9969602" y="4043763"/>
            <a:ext cx="1875135" cy="1146424"/>
            <a:chOff x="9969602" y="4043763"/>
            <a:chExt cx="1875135" cy="1146424"/>
          </a:xfrm>
        </p:grpSpPr>
        <p:sp>
          <p:nvSpPr>
            <p:cNvPr id="22" name="Rectangle 21">
              <a:extLst>
                <a:ext uri="{FF2B5EF4-FFF2-40B4-BE49-F238E27FC236}">
                  <a16:creationId xmlns:a16="http://schemas.microsoft.com/office/drawing/2014/main" id="{41528963-A1C0-41FF-2419-A54F836F492A}"/>
                </a:ext>
              </a:extLst>
            </p:cNvPr>
            <p:cNvSpPr/>
            <p:nvPr/>
          </p:nvSpPr>
          <p:spPr>
            <a:xfrm>
              <a:off x="10608365" y="4417455"/>
              <a:ext cx="1236372" cy="772732"/>
            </a:xfrm>
            <a:prstGeom prst="rect">
              <a:avLst/>
            </a:prstGeom>
            <a:solidFill>
              <a:schemeClr val="accent4">
                <a:lumMod val="20000"/>
                <a:lumOff val="80000"/>
              </a:schemeClr>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75F9527B-547F-0AB9-5C91-0F97E7F2EF1D}"/>
                </a:ext>
              </a:extLst>
            </p:cNvPr>
            <p:cNvSpPr txBox="1"/>
            <p:nvPr/>
          </p:nvSpPr>
          <p:spPr>
            <a:xfrm>
              <a:off x="10744271" y="404376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2</a:t>
              </a:r>
            </a:p>
          </p:txBody>
        </p:sp>
        <p:sp>
          <p:nvSpPr>
            <p:cNvPr id="31" name="Right Arrow 30">
              <a:extLst>
                <a:ext uri="{FF2B5EF4-FFF2-40B4-BE49-F238E27FC236}">
                  <a16:creationId xmlns:a16="http://schemas.microsoft.com/office/drawing/2014/main" id="{2FC05702-93AC-A441-6301-0E386410ECD6}"/>
                </a:ext>
              </a:extLst>
            </p:cNvPr>
            <p:cNvSpPr/>
            <p:nvPr/>
          </p:nvSpPr>
          <p:spPr>
            <a:xfrm rot="10800000">
              <a:off x="9969602" y="4647215"/>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AE381ED8-224E-93A8-D63B-44A628F2A834}"/>
              </a:ext>
            </a:extLst>
          </p:cNvPr>
          <p:cNvGrpSpPr/>
          <p:nvPr/>
        </p:nvGrpSpPr>
        <p:grpSpPr>
          <a:xfrm>
            <a:off x="673903" y="4048123"/>
            <a:ext cx="1833261" cy="1142064"/>
            <a:chOff x="517256" y="4048123"/>
            <a:chExt cx="1833261" cy="1142064"/>
          </a:xfrm>
        </p:grpSpPr>
        <p:grpSp>
          <p:nvGrpSpPr>
            <p:cNvPr id="25" name="Group 24">
              <a:extLst>
                <a:ext uri="{FF2B5EF4-FFF2-40B4-BE49-F238E27FC236}">
                  <a16:creationId xmlns:a16="http://schemas.microsoft.com/office/drawing/2014/main" id="{C0FE446C-2B72-28C2-1D00-233451626001}"/>
                </a:ext>
              </a:extLst>
            </p:cNvPr>
            <p:cNvGrpSpPr/>
            <p:nvPr/>
          </p:nvGrpSpPr>
          <p:grpSpPr>
            <a:xfrm>
              <a:off x="517256" y="4048123"/>
              <a:ext cx="1236372" cy="1142064"/>
              <a:chOff x="517256" y="4048123"/>
              <a:chExt cx="1236372" cy="1142064"/>
            </a:xfrm>
          </p:grpSpPr>
          <p:sp>
            <p:nvSpPr>
              <p:cNvPr id="19" name="Rectangle 18">
                <a:extLst>
                  <a:ext uri="{FF2B5EF4-FFF2-40B4-BE49-F238E27FC236}">
                    <a16:creationId xmlns:a16="http://schemas.microsoft.com/office/drawing/2014/main" id="{FAB4C843-8B13-3F34-265F-D1726F6FC197}"/>
                  </a:ext>
                </a:extLst>
              </p:cNvPr>
              <p:cNvSpPr/>
              <p:nvPr/>
            </p:nvSpPr>
            <p:spPr>
              <a:xfrm>
                <a:off x="517256" y="4417455"/>
                <a:ext cx="1236372" cy="772732"/>
              </a:xfrm>
              <a:prstGeom prst="rect">
                <a:avLst/>
              </a:prstGeom>
              <a:solidFill>
                <a:schemeClr val="accent5">
                  <a:lumMod val="20000"/>
                  <a:lumOff val="80000"/>
                </a:schemeClr>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B995015E-353D-3AFE-5A60-6D4D91CF21DB}"/>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1</a:t>
                </a:r>
              </a:p>
            </p:txBody>
          </p:sp>
        </p:grpSp>
        <p:sp>
          <p:nvSpPr>
            <p:cNvPr id="26" name="Right Arrow 25">
              <a:extLst>
                <a:ext uri="{FF2B5EF4-FFF2-40B4-BE49-F238E27FC236}">
                  <a16:creationId xmlns:a16="http://schemas.microsoft.com/office/drawing/2014/main" id="{A6504C1C-67FC-B47A-31A7-A9F572A4B3EF}"/>
                </a:ext>
              </a:extLst>
            </p:cNvPr>
            <p:cNvSpPr/>
            <p:nvPr/>
          </p:nvSpPr>
          <p:spPr>
            <a:xfrm>
              <a:off x="1852027" y="4647215"/>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 name="Title 1">
            <a:extLst>
              <a:ext uri="{FF2B5EF4-FFF2-40B4-BE49-F238E27FC236}">
                <a16:creationId xmlns:a16="http://schemas.microsoft.com/office/drawing/2014/main" id="{DAB26180-01B9-D11F-C2BC-66CF484CEAA7}"/>
              </a:ext>
            </a:extLst>
          </p:cNvPr>
          <p:cNvSpPr>
            <a:spLocks noGrp="1"/>
          </p:cNvSpPr>
          <p:nvPr>
            <p:ph type="title"/>
          </p:nvPr>
        </p:nvSpPr>
        <p:spPr>
          <a:xfrm>
            <a:off x="838200" y="342106"/>
            <a:ext cx="11010363" cy="1325563"/>
          </a:xfrm>
        </p:spPr>
        <p:txBody>
          <a:bodyPr/>
          <a:lstStyle/>
          <a:p>
            <a:r>
              <a:rPr lang="en-US" dirty="0">
                <a:latin typeface="Calibri"/>
                <a:ea typeface="Calibri"/>
                <a:cs typeface="Calibri"/>
              </a:rPr>
              <a:t>What we really want is for both platforms to </a:t>
            </a:r>
            <a:r>
              <a:rPr lang="en-US" b="1" i="1" dirty="0">
                <a:latin typeface="Calibri"/>
                <a:ea typeface="Calibri"/>
                <a:cs typeface="Calibri"/>
              </a:rPr>
              <a:t>write shared </a:t>
            </a:r>
            <a:r>
              <a:rPr lang="en-US" dirty="0">
                <a:latin typeface="Calibri"/>
                <a:ea typeface="Calibri"/>
                <a:cs typeface="Calibri"/>
              </a:rPr>
              <a:t>state</a:t>
            </a:r>
            <a:endParaRPr lang="en-US" dirty="0"/>
          </a:p>
        </p:txBody>
      </p:sp>
      <p:sp>
        <p:nvSpPr>
          <p:cNvPr id="4" name="Slide Number Placeholder 3">
            <a:extLst>
              <a:ext uri="{FF2B5EF4-FFF2-40B4-BE49-F238E27FC236}">
                <a16:creationId xmlns:a16="http://schemas.microsoft.com/office/drawing/2014/main" id="{BDE7A84E-CD0E-D44B-0F73-24953E8A2E85}"/>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7</a:t>
            </a:fld>
            <a:endParaRPr lang="en-US"/>
          </a:p>
        </p:txBody>
      </p:sp>
      <p:sp>
        <p:nvSpPr>
          <p:cNvPr id="6" name="TextBox 5">
            <a:extLst>
              <a:ext uri="{FF2B5EF4-FFF2-40B4-BE49-F238E27FC236}">
                <a16:creationId xmlns:a16="http://schemas.microsoft.com/office/drawing/2014/main" id="{CA4AE4FC-BADC-7B48-49A8-D1FF00D3D1DE}"/>
              </a:ext>
            </a:extLst>
          </p:cNvPr>
          <p:cNvSpPr txBox="1"/>
          <p:nvPr/>
        </p:nvSpPr>
        <p:spPr>
          <a:xfrm>
            <a:off x="2735549" y="2775644"/>
            <a:ext cx="3195036" cy="461665"/>
          </a:xfrm>
          <a:prstGeom prst="rect">
            <a:avLst/>
          </a:prstGeom>
          <a:noFill/>
        </p:spPr>
        <p:txBody>
          <a:bodyPr wrap="square">
            <a:spAutoFit/>
          </a:bodyPr>
          <a:lstStyle/>
          <a:p>
            <a:r>
              <a:rPr lang="en-US" sz="2400" i="1" dirty="0">
                <a:solidFill>
                  <a:srgbClr val="0070C0"/>
                </a:solidFill>
                <a:latin typeface="Calibri" panose="020F0502020204030204" pitchFamily="34" charset="0"/>
                <a:cs typeface="Calibri" panose="020F0502020204030204" pitchFamily="34" charset="0"/>
              </a:rPr>
              <a:t>Programmable switch</a:t>
            </a:r>
          </a:p>
        </p:txBody>
      </p:sp>
      <p:sp>
        <p:nvSpPr>
          <p:cNvPr id="7" name="TextBox 6">
            <a:extLst>
              <a:ext uri="{FF2B5EF4-FFF2-40B4-BE49-F238E27FC236}">
                <a16:creationId xmlns:a16="http://schemas.microsoft.com/office/drawing/2014/main" id="{70F3C80B-F962-39B6-E47A-B841570408FB}"/>
              </a:ext>
            </a:extLst>
          </p:cNvPr>
          <p:cNvSpPr txBox="1"/>
          <p:nvPr/>
        </p:nvSpPr>
        <p:spPr>
          <a:xfrm>
            <a:off x="7706878" y="2779984"/>
            <a:ext cx="1214907" cy="461665"/>
          </a:xfrm>
          <a:prstGeom prst="rect">
            <a:avLst/>
          </a:prstGeom>
          <a:noFill/>
        </p:spPr>
        <p:txBody>
          <a:bodyPr wrap="square">
            <a:spAutoFit/>
          </a:bodyPr>
          <a:lstStyle/>
          <a:p>
            <a:r>
              <a:rPr lang="en-US" sz="2400" i="1">
                <a:solidFill>
                  <a:srgbClr val="00B050"/>
                </a:solidFill>
                <a:latin typeface="Calibri" panose="020F0502020204030204" pitchFamily="34" charset="0"/>
                <a:cs typeface="Calibri" panose="020F0502020204030204" pitchFamily="34" charset="0"/>
              </a:rPr>
              <a:t>Server</a:t>
            </a:r>
          </a:p>
        </p:txBody>
      </p:sp>
      <p:sp>
        <p:nvSpPr>
          <p:cNvPr id="8" name="Rectangle 7">
            <a:extLst>
              <a:ext uri="{FF2B5EF4-FFF2-40B4-BE49-F238E27FC236}">
                <a16:creationId xmlns:a16="http://schemas.microsoft.com/office/drawing/2014/main" id="{B269B2E7-A1AD-A60D-E815-525C4579FAB8}"/>
              </a:ext>
            </a:extLst>
          </p:cNvPr>
          <p:cNvSpPr/>
          <p:nvPr/>
        </p:nvSpPr>
        <p:spPr>
          <a:xfrm>
            <a:off x="2735549" y="3322750"/>
            <a:ext cx="3004174" cy="283335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98AFABE9-7C1A-584B-726D-58D841F6D2A0}"/>
              </a:ext>
            </a:extLst>
          </p:cNvPr>
          <p:cNvGraphicFramePr>
            <a:graphicFrameLocks noGrp="1"/>
          </p:cNvGraphicFramePr>
          <p:nvPr/>
        </p:nvGraphicFramePr>
        <p:xfrm>
          <a:off x="2892196" y="3540348"/>
          <a:ext cx="2686674" cy="1453896"/>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16" name="Rectangle 15">
            <a:extLst>
              <a:ext uri="{FF2B5EF4-FFF2-40B4-BE49-F238E27FC236}">
                <a16:creationId xmlns:a16="http://schemas.microsoft.com/office/drawing/2014/main" id="{E656DE7B-DED3-E71E-43B1-2DFD7F28D236}"/>
              </a:ext>
            </a:extLst>
          </p:cNvPr>
          <p:cNvSpPr/>
          <p:nvPr/>
        </p:nvSpPr>
        <p:spPr>
          <a:xfrm>
            <a:off x="6721644" y="3322094"/>
            <a:ext cx="3004174" cy="28333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a:extLst>
              <a:ext uri="{FF2B5EF4-FFF2-40B4-BE49-F238E27FC236}">
                <a16:creationId xmlns:a16="http://schemas.microsoft.com/office/drawing/2014/main" id="{FCCB9A41-669C-E4DB-D7A3-2980569DF06E}"/>
              </a:ext>
            </a:extLst>
          </p:cNvPr>
          <p:cNvGraphicFramePr>
            <a:graphicFrameLocks noGrp="1"/>
          </p:cNvGraphicFramePr>
          <p:nvPr/>
        </p:nvGraphicFramePr>
        <p:xfrm>
          <a:off x="838200" y="457298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Alice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aphicFrame>
        <p:nvGraphicFramePr>
          <p:cNvPr id="24" name="Table 23">
            <a:extLst>
              <a:ext uri="{FF2B5EF4-FFF2-40B4-BE49-F238E27FC236}">
                <a16:creationId xmlns:a16="http://schemas.microsoft.com/office/drawing/2014/main" id="{28810D8D-E025-18A8-417A-63C1E70E544B}"/>
              </a:ext>
            </a:extLst>
          </p:cNvPr>
          <p:cNvGraphicFramePr>
            <a:graphicFrameLocks noGrp="1"/>
          </p:cNvGraphicFramePr>
          <p:nvPr/>
        </p:nvGraphicFramePr>
        <p:xfrm>
          <a:off x="10768836" y="457298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Alice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36" name="TextBox 35">
            <a:extLst>
              <a:ext uri="{FF2B5EF4-FFF2-40B4-BE49-F238E27FC236}">
                <a16:creationId xmlns:a16="http://schemas.microsoft.com/office/drawing/2014/main" id="{B323F739-D973-71A5-290F-7FEB97C9083E}"/>
              </a:ext>
            </a:extLst>
          </p:cNvPr>
          <p:cNvSpPr txBox="1"/>
          <p:nvPr/>
        </p:nvSpPr>
        <p:spPr>
          <a:xfrm>
            <a:off x="4682553" y="4099166"/>
            <a:ext cx="459073"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34" name="TextBox 33">
            <a:extLst>
              <a:ext uri="{FF2B5EF4-FFF2-40B4-BE49-F238E27FC236}">
                <a16:creationId xmlns:a16="http://schemas.microsoft.com/office/drawing/2014/main" id="{B1081033-5BB9-D607-5DEB-420EA9D40DBD}"/>
              </a:ext>
            </a:extLst>
          </p:cNvPr>
          <p:cNvSpPr txBox="1"/>
          <p:nvPr/>
        </p:nvSpPr>
        <p:spPr>
          <a:xfrm>
            <a:off x="1374193" y="4603765"/>
            <a:ext cx="474008" cy="400110"/>
          </a:xfrm>
          <a:prstGeom prst="rect">
            <a:avLst/>
          </a:prstGeom>
          <a:noFill/>
        </p:spPr>
        <p:txBody>
          <a:bodyPr wrap="square">
            <a:spAutoFit/>
          </a:bodyPr>
          <a:lstStyle/>
          <a:p>
            <a:r>
              <a:rPr lang="en-US" sz="2000" b="0">
                <a:solidFill>
                  <a:schemeClr val="tx1"/>
                </a:solidFill>
                <a:latin typeface="Calibri" panose="020F0502020204030204" pitchFamily="34" charset="0"/>
                <a:cs typeface="Calibri" panose="020F0502020204030204" pitchFamily="34" charset="0"/>
              </a:rPr>
              <a:t>🍉</a:t>
            </a:r>
            <a:endParaRPr lang="en-US" sz="2000"/>
          </a:p>
        </p:txBody>
      </p:sp>
      <p:graphicFrame>
        <p:nvGraphicFramePr>
          <p:cNvPr id="9" name="Table 8">
            <a:extLst>
              <a:ext uri="{FF2B5EF4-FFF2-40B4-BE49-F238E27FC236}">
                <a16:creationId xmlns:a16="http://schemas.microsoft.com/office/drawing/2014/main" id="{7ED28F19-B01F-8AC9-C03D-F7BE5FD15E26}"/>
              </a:ext>
            </a:extLst>
          </p:cNvPr>
          <p:cNvGraphicFramePr>
            <a:graphicFrameLocks noGrp="1"/>
          </p:cNvGraphicFramePr>
          <p:nvPr/>
        </p:nvGraphicFramePr>
        <p:xfrm>
          <a:off x="6841655" y="3540348"/>
          <a:ext cx="2686674" cy="244171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48834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834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834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488342">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488342">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40" name="TextBox 39">
            <a:extLst>
              <a:ext uri="{FF2B5EF4-FFF2-40B4-BE49-F238E27FC236}">
                <a16:creationId xmlns:a16="http://schemas.microsoft.com/office/drawing/2014/main" id="{2C52EE6E-EC13-2B7D-DEC6-8540555CABE1}"/>
              </a:ext>
            </a:extLst>
          </p:cNvPr>
          <p:cNvSpPr txBox="1"/>
          <p:nvPr/>
        </p:nvSpPr>
        <p:spPr>
          <a:xfrm>
            <a:off x="8664610" y="4099166"/>
            <a:ext cx="514349"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3" name="Rounded Rectangle 2">
            <a:extLst>
              <a:ext uri="{FF2B5EF4-FFF2-40B4-BE49-F238E27FC236}">
                <a16:creationId xmlns:a16="http://schemas.microsoft.com/office/drawing/2014/main" id="{5C461AAD-B4FD-FEEB-F283-025917985ABD}"/>
              </a:ext>
            </a:extLst>
          </p:cNvPr>
          <p:cNvSpPr/>
          <p:nvPr/>
        </p:nvSpPr>
        <p:spPr>
          <a:xfrm>
            <a:off x="2102133" y="1903109"/>
            <a:ext cx="3926726" cy="836222"/>
          </a:xfrm>
          <a:prstGeom prst="roundRect">
            <a:avLst/>
          </a:prstGeom>
          <a:solidFill>
            <a:srgbClr val="C50440">
              <a:alpha val="9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For common simple operations</a:t>
            </a:r>
            <a:endParaRPr lang="en-US" sz="2800" dirty="0"/>
          </a:p>
        </p:txBody>
      </p:sp>
      <p:sp>
        <p:nvSpPr>
          <p:cNvPr id="5" name="Rounded Rectangle 4">
            <a:extLst>
              <a:ext uri="{FF2B5EF4-FFF2-40B4-BE49-F238E27FC236}">
                <a16:creationId xmlns:a16="http://schemas.microsoft.com/office/drawing/2014/main" id="{EF79F704-23DB-5591-6418-7057E0856657}"/>
              </a:ext>
            </a:extLst>
          </p:cNvPr>
          <p:cNvSpPr/>
          <p:nvPr/>
        </p:nvSpPr>
        <p:spPr>
          <a:xfrm>
            <a:off x="6490026" y="1903109"/>
            <a:ext cx="3648610" cy="836222"/>
          </a:xfrm>
          <a:prstGeom prst="roundRect">
            <a:avLst/>
          </a:prstGeom>
          <a:solidFill>
            <a:srgbClr val="C50440">
              <a:alpha val="9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For occasional complex operations</a:t>
            </a:r>
            <a:endParaRPr lang="en-US" sz="2800" dirty="0"/>
          </a:p>
        </p:txBody>
      </p:sp>
    </p:spTree>
    <p:extLst>
      <p:ext uri="{BB962C8B-B14F-4D97-AF65-F5344CB8AC3E}">
        <p14:creationId xmlns:p14="http://schemas.microsoft.com/office/powerpoint/2010/main" val="161450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0" presetClass="path" presetSubtype="0" accel="50000" decel="50000" fill="hold" grpId="1" nodeType="withEffect">
                                  <p:stCondLst>
                                    <p:cond delay="0"/>
                                  </p:stCondLst>
                                  <p:childTnLst>
                                    <p:animMotion origin="layout" path="M -1.45833E-6 -2.96296E-6 L 0.27279 -0.07824 " pathEditMode="relative" rAng="0" ptsTypes="AA">
                                      <p:cBhvr>
                                        <p:cTn id="12" dur="2000" fill="hold"/>
                                        <p:tgtEl>
                                          <p:spTgt spid="34"/>
                                        </p:tgtEl>
                                        <p:attrNameLst>
                                          <p:attrName>ppt_x</p:attrName>
                                          <p:attrName>ppt_y</p:attrName>
                                        </p:attrNameLst>
                                      </p:cBhvr>
                                      <p:rCtr x="13633" y="-3912"/>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par>
                          <p:cTn id="17" fill="hold">
                            <p:stCondLst>
                              <p:cond delay="0"/>
                            </p:stCondLst>
                            <p:childTnLst>
                              <p:par>
                                <p:cTn id="18" presetID="1" presetClass="exit" presetSubtype="0" fill="hold" grpId="0" nodeType="afterEffect">
                                  <p:stCondLst>
                                    <p:cond delay="0"/>
                                  </p:stCondLst>
                                  <p:childTnLst>
                                    <p:set>
                                      <p:cBhvr>
                                        <p:cTn id="19" dur="1" fill="hold">
                                          <p:stCondLst>
                                            <p:cond delay="0"/>
                                          </p:stCondLst>
                                        </p:cTn>
                                        <p:tgtEl>
                                          <p:spTgt spid="36"/>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4" grpId="0"/>
      <p:bldP spid="34" grpId="1"/>
      <p:bldP spid="3"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A59FC-4C93-B8E5-ED43-B8E86A4FF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130B8-6811-59F5-0102-21ED68A7F84D}"/>
              </a:ext>
            </a:extLst>
          </p:cNvPr>
          <p:cNvSpPr>
            <a:spLocks noGrp="1"/>
          </p:cNvSpPr>
          <p:nvPr>
            <p:ph type="title"/>
          </p:nvPr>
        </p:nvSpPr>
        <p:spPr>
          <a:xfrm>
            <a:off x="838200" y="342106"/>
            <a:ext cx="11010363" cy="1325563"/>
          </a:xfrm>
        </p:spPr>
        <p:txBody>
          <a:bodyPr/>
          <a:lstStyle/>
          <a:p>
            <a:r>
              <a:rPr lang="en-US" dirty="0">
                <a:latin typeface="Calibri"/>
                <a:ea typeface="Calibri"/>
                <a:cs typeface="Calibri"/>
              </a:rPr>
              <a:t>What we really want is for both platforms to </a:t>
            </a:r>
            <a:r>
              <a:rPr lang="en-US" b="1" i="1" dirty="0">
                <a:latin typeface="Calibri"/>
                <a:ea typeface="Calibri"/>
                <a:cs typeface="Calibri"/>
              </a:rPr>
              <a:t>write shared </a:t>
            </a:r>
            <a:r>
              <a:rPr lang="en-US" dirty="0">
                <a:latin typeface="Calibri"/>
                <a:ea typeface="Calibri"/>
                <a:cs typeface="Calibri"/>
              </a:rPr>
              <a:t>state</a:t>
            </a:r>
            <a:endParaRPr lang="en-US"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E835F08-6437-B56E-1685-F50A35ECBEE6}"/>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8</a:t>
            </a:fld>
            <a:endParaRPr lang="en-US"/>
          </a:p>
        </p:txBody>
      </p:sp>
      <p:sp>
        <p:nvSpPr>
          <p:cNvPr id="6" name="TextBox 5">
            <a:extLst>
              <a:ext uri="{FF2B5EF4-FFF2-40B4-BE49-F238E27FC236}">
                <a16:creationId xmlns:a16="http://schemas.microsoft.com/office/drawing/2014/main" id="{1CD684C4-92FD-502E-321C-613933DF4166}"/>
              </a:ext>
            </a:extLst>
          </p:cNvPr>
          <p:cNvSpPr txBox="1"/>
          <p:nvPr/>
        </p:nvSpPr>
        <p:spPr>
          <a:xfrm>
            <a:off x="2735549" y="2775644"/>
            <a:ext cx="3195036" cy="461665"/>
          </a:xfrm>
          <a:prstGeom prst="rect">
            <a:avLst/>
          </a:prstGeom>
          <a:noFill/>
        </p:spPr>
        <p:txBody>
          <a:bodyPr wrap="square">
            <a:spAutoFit/>
          </a:bodyPr>
          <a:lstStyle/>
          <a:p>
            <a:r>
              <a:rPr lang="en-US" sz="2400" i="1">
                <a:solidFill>
                  <a:srgbClr val="0070C0"/>
                </a:solidFill>
                <a:latin typeface="Calibri" panose="020F0502020204030204" pitchFamily="34" charset="0"/>
                <a:cs typeface="Calibri" panose="020F0502020204030204" pitchFamily="34" charset="0"/>
              </a:rPr>
              <a:t>Programmable switch</a:t>
            </a:r>
          </a:p>
        </p:txBody>
      </p:sp>
      <p:sp>
        <p:nvSpPr>
          <p:cNvPr id="7" name="TextBox 6">
            <a:extLst>
              <a:ext uri="{FF2B5EF4-FFF2-40B4-BE49-F238E27FC236}">
                <a16:creationId xmlns:a16="http://schemas.microsoft.com/office/drawing/2014/main" id="{A2BD944D-2949-50C7-8784-770037762935}"/>
              </a:ext>
            </a:extLst>
          </p:cNvPr>
          <p:cNvSpPr txBox="1"/>
          <p:nvPr/>
        </p:nvSpPr>
        <p:spPr>
          <a:xfrm>
            <a:off x="7706878" y="2779984"/>
            <a:ext cx="1214907" cy="461665"/>
          </a:xfrm>
          <a:prstGeom prst="rect">
            <a:avLst/>
          </a:prstGeom>
          <a:noFill/>
        </p:spPr>
        <p:txBody>
          <a:bodyPr wrap="square">
            <a:spAutoFit/>
          </a:bodyPr>
          <a:lstStyle/>
          <a:p>
            <a:r>
              <a:rPr lang="en-US" sz="2400" i="1">
                <a:solidFill>
                  <a:srgbClr val="00B050"/>
                </a:solidFill>
                <a:latin typeface="Calibri" panose="020F0502020204030204" pitchFamily="34" charset="0"/>
                <a:cs typeface="Calibri" panose="020F0502020204030204" pitchFamily="34" charset="0"/>
              </a:rPr>
              <a:t>Server</a:t>
            </a:r>
          </a:p>
        </p:txBody>
      </p:sp>
      <p:sp>
        <p:nvSpPr>
          <p:cNvPr id="8" name="Rectangle 7">
            <a:extLst>
              <a:ext uri="{FF2B5EF4-FFF2-40B4-BE49-F238E27FC236}">
                <a16:creationId xmlns:a16="http://schemas.microsoft.com/office/drawing/2014/main" id="{541DA027-6304-D1AD-C77A-261776B45E8B}"/>
              </a:ext>
            </a:extLst>
          </p:cNvPr>
          <p:cNvSpPr/>
          <p:nvPr/>
        </p:nvSpPr>
        <p:spPr>
          <a:xfrm>
            <a:off x="2735549" y="3322750"/>
            <a:ext cx="3004174" cy="283335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61CC3098-F967-FC18-3783-0CB8A54ECED2}"/>
              </a:ext>
            </a:extLst>
          </p:cNvPr>
          <p:cNvGraphicFramePr>
            <a:graphicFrameLocks noGrp="1"/>
          </p:cNvGraphicFramePr>
          <p:nvPr/>
        </p:nvGraphicFramePr>
        <p:xfrm>
          <a:off x="2894299" y="3540349"/>
          <a:ext cx="2686674" cy="1453896"/>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16" name="Rectangle 15">
            <a:extLst>
              <a:ext uri="{FF2B5EF4-FFF2-40B4-BE49-F238E27FC236}">
                <a16:creationId xmlns:a16="http://schemas.microsoft.com/office/drawing/2014/main" id="{E92B4E03-BBE2-61FF-E907-B2059B2FCD8A}"/>
              </a:ext>
            </a:extLst>
          </p:cNvPr>
          <p:cNvSpPr/>
          <p:nvPr/>
        </p:nvSpPr>
        <p:spPr>
          <a:xfrm>
            <a:off x="6721644" y="3322094"/>
            <a:ext cx="3004174" cy="28333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820A97E6-031E-1B84-D660-213E7CB5BDA2}"/>
              </a:ext>
            </a:extLst>
          </p:cNvPr>
          <p:cNvGraphicFramePr>
            <a:graphicFrameLocks noGrp="1"/>
          </p:cNvGraphicFramePr>
          <p:nvPr/>
        </p:nvGraphicFramePr>
        <p:xfrm>
          <a:off x="6841655" y="3540348"/>
          <a:ext cx="2686674" cy="242316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484632">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484632">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484632">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484632">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484632">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grpSp>
        <p:nvGrpSpPr>
          <p:cNvPr id="9" name="Group 8">
            <a:extLst>
              <a:ext uri="{FF2B5EF4-FFF2-40B4-BE49-F238E27FC236}">
                <a16:creationId xmlns:a16="http://schemas.microsoft.com/office/drawing/2014/main" id="{E7628858-7665-0485-2A38-FE79A52DD63B}"/>
              </a:ext>
            </a:extLst>
          </p:cNvPr>
          <p:cNvGrpSpPr/>
          <p:nvPr/>
        </p:nvGrpSpPr>
        <p:grpSpPr>
          <a:xfrm>
            <a:off x="2972748" y="2585166"/>
            <a:ext cx="9204100" cy="1910292"/>
            <a:chOff x="2987899" y="2775644"/>
            <a:chExt cx="9204100" cy="1910292"/>
          </a:xfrm>
        </p:grpSpPr>
        <p:sp>
          <p:nvSpPr>
            <p:cNvPr id="3" name="Frame 2">
              <a:extLst>
                <a:ext uri="{FF2B5EF4-FFF2-40B4-BE49-F238E27FC236}">
                  <a16:creationId xmlns:a16="http://schemas.microsoft.com/office/drawing/2014/main" id="{1E12C01D-8D3A-5674-C25E-BCDB3DC96416}"/>
                </a:ext>
              </a:extLst>
            </p:cNvPr>
            <p:cNvSpPr/>
            <p:nvPr/>
          </p:nvSpPr>
          <p:spPr>
            <a:xfrm>
              <a:off x="2987899" y="4224271"/>
              <a:ext cx="6468552" cy="461665"/>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Oval Callout 4">
              <a:extLst>
                <a:ext uri="{FF2B5EF4-FFF2-40B4-BE49-F238E27FC236}">
                  <a16:creationId xmlns:a16="http://schemas.microsoft.com/office/drawing/2014/main" id="{D36BD304-12E3-C61B-8787-91C45C1F388A}"/>
                </a:ext>
              </a:extLst>
            </p:cNvPr>
            <p:cNvSpPr/>
            <p:nvPr/>
          </p:nvSpPr>
          <p:spPr>
            <a:xfrm>
              <a:off x="9884568" y="2775644"/>
              <a:ext cx="2307431" cy="1616052"/>
            </a:xfrm>
            <a:prstGeom prst="wedgeEllipseCallout">
              <a:avLst>
                <a:gd name="adj1" fmla="val -75011"/>
                <a:gd name="adj2" fmla="val 5121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Inconsistency: What is Alice’s preference</a:t>
              </a:r>
            </a:p>
          </p:txBody>
        </p:sp>
      </p:grpSp>
      <p:sp>
        <p:nvSpPr>
          <p:cNvPr id="11" name="TextBox 10">
            <a:extLst>
              <a:ext uri="{FF2B5EF4-FFF2-40B4-BE49-F238E27FC236}">
                <a16:creationId xmlns:a16="http://schemas.microsoft.com/office/drawing/2014/main" id="{796D96F4-158D-B8F5-91DA-3C2572F014E5}"/>
              </a:ext>
            </a:extLst>
          </p:cNvPr>
          <p:cNvSpPr txBox="1"/>
          <p:nvPr/>
        </p:nvSpPr>
        <p:spPr>
          <a:xfrm>
            <a:off x="8664610" y="4099166"/>
            <a:ext cx="514349" cy="400110"/>
          </a:xfrm>
          <a:prstGeom prst="rect">
            <a:avLst/>
          </a:prstGeom>
          <a:noFill/>
        </p:spPr>
        <p:txBody>
          <a:bodyPr wrap="square">
            <a:spAutoFit/>
          </a:bodyPr>
          <a:lstStyle/>
          <a:p>
            <a:r>
              <a:rPr lang="en-US" sz="2000" dirty="0">
                <a:latin typeface="Calibri" panose="020F0502020204030204" pitchFamily="34" charset="0"/>
                <a:cs typeface="Calibri" panose="020F0502020204030204" pitchFamily="34" charset="0"/>
              </a:rPr>
              <a:t>🍎</a:t>
            </a:r>
            <a:endParaRPr lang="en-US" sz="2000" dirty="0"/>
          </a:p>
        </p:txBody>
      </p:sp>
      <p:sp>
        <p:nvSpPr>
          <p:cNvPr id="14" name="Rounded Rectangle 13">
            <a:extLst>
              <a:ext uri="{FF2B5EF4-FFF2-40B4-BE49-F238E27FC236}">
                <a16:creationId xmlns:a16="http://schemas.microsoft.com/office/drawing/2014/main" id="{E6A301E3-325D-445A-FFBE-512289D45828}"/>
              </a:ext>
            </a:extLst>
          </p:cNvPr>
          <p:cNvSpPr/>
          <p:nvPr/>
        </p:nvSpPr>
        <p:spPr>
          <a:xfrm>
            <a:off x="2102133" y="1903109"/>
            <a:ext cx="3926726" cy="836222"/>
          </a:xfrm>
          <a:prstGeom prst="roundRect">
            <a:avLst/>
          </a:prstGeom>
          <a:solidFill>
            <a:srgbClr val="C50440">
              <a:alpha val="9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For common simple operations</a:t>
            </a:r>
            <a:endParaRPr lang="en-US" sz="2800" dirty="0"/>
          </a:p>
        </p:txBody>
      </p:sp>
      <p:sp>
        <p:nvSpPr>
          <p:cNvPr id="15" name="Rounded Rectangle 14">
            <a:extLst>
              <a:ext uri="{FF2B5EF4-FFF2-40B4-BE49-F238E27FC236}">
                <a16:creationId xmlns:a16="http://schemas.microsoft.com/office/drawing/2014/main" id="{DDCF5D59-FDF6-778F-AD14-E364189425EA}"/>
              </a:ext>
            </a:extLst>
          </p:cNvPr>
          <p:cNvSpPr/>
          <p:nvPr/>
        </p:nvSpPr>
        <p:spPr>
          <a:xfrm>
            <a:off x="6490026" y="1903109"/>
            <a:ext cx="3648610" cy="836222"/>
          </a:xfrm>
          <a:prstGeom prst="roundRect">
            <a:avLst/>
          </a:prstGeom>
          <a:solidFill>
            <a:srgbClr val="C50440">
              <a:alpha val="9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For occasional complex operations</a:t>
            </a:r>
            <a:endParaRPr lang="en-US" sz="2800" dirty="0"/>
          </a:p>
        </p:txBody>
      </p:sp>
    </p:spTree>
    <p:extLst>
      <p:ext uri="{BB962C8B-B14F-4D97-AF65-F5344CB8AC3E}">
        <p14:creationId xmlns:p14="http://schemas.microsoft.com/office/powerpoint/2010/main" val="191170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B820B-2EEF-95CE-D9DC-AB62A012BC9D}"/>
              </a:ext>
            </a:extLst>
          </p:cNvPr>
          <p:cNvSpPr>
            <a:spLocks noGrp="1"/>
          </p:cNvSpPr>
          <p:nvPr>
            <p:ph type="title"/>
          </p:nvPr>
        </p:nvSpPr>
        <p:spPr>
          <a:xfrm>
            <a:off x="448056" y="511429"/>
            <a:ext cx="11585448" cy="1325563"/>
          </a:xfrm>
        </p:spPr>
        <p:txBody>
          <a:bodyPr>
            <a:normAutofit fontScale="90000"/>
          </a:bodyPr>
          <a:lstStyle/>
          <a:p>
            <a:r>
              <a:rPr lang="en-US" b="1" dirty="0">
                <a:latin typeface="Calibri"/>
                <a:ea typeface="Calibri"/>
                <a:cs typeface="Calibri"/>
              </a:rPr>
              <a:t>Assumption:</a:t>
            </a:r>
            <a:r>
              <a:rPr lang="en-US" dirty="0">
                <a:latin typeface="Calibri"/>
                <a:ea typeface="Calibri"/>
                <a:cs typeface="Calibri"/>
              </a:rPr>
              <a:t> both income and outgoing traffic of </a:t>
            </a:r>
            <a:r>
              <a:rPr lang="en-US" dirty="0">
                <a:solidFill>
                  <a:srgbClr val="0070C0"/>
                </a:solidFill>
                <a:latin typeface="Calibri"/>
                <a:ea typeface="Calibri"/>
                <a:cs typeface="Calibri"/>
              </a:rPr>
              <a:t>a</a:t>
            </a:r>
            <a:r>
              <a:rPr lang="en-US" dirty="0">
                <a:latin typeface="Calibri"/>
                <a:ea typeface="Calibri"/>
                <a:cs typeface="Calibri"/>
              </a:rPr>
              <a:t> </a:t>
            </a:r>
            <a:r>
              <a:rPr lang="en-US" dirty="0">
                <a:solidFill>
                  <a:srgbClr val="0070C0"/>
                </a:solidFill>
                <a:latin typeface="Calibri"/>
                <a:ea typeface="Calibri"/>
                <a:cs typeface="Calibri"/>
              </a:rPr>
              <a:t>flow </a:t>
            </a:r>
            <a:r>
              <a:rPr lang="en-US" dirty="0">
                <a:latin typeface="Calibri"/>
                <a:ea typeface="Calibri"/>
                <a:cs typeface="Calibri"/>
              </a:rPr>
              <a:t>to a server must go through the </a:t>
            </a:r>
            <a:r>
              <a:rPr lang="en-US" dirty="0">
                <a:solidFill>
                  <a:srgbClr val="0070C0"/>
                </a:solidFill>
                <a:latin typeface="Calibri"/>
                <a:ea typeface="Calibri"/>
                <a:cs typeface="Calibri"/>
              </a:rPr>
              <a:t>same switch</a:t>
            </a:r>
          </a:p>
        </p:txBody>
      </p:sp>
      <p:pic>
        <p:nvPicPr>
          <p:cNvPr id="5" name="Picture 4" descr="Core switch Vector Icons free download in SVG, PNG Format">
            <a:extLst>
              <a:ext uri="{FF2B5EF4-FFF2-40B4-BE49-F238E27FC236}">
                <a16:creationId xmlns:a16="http://schemas.microsoft.com/office/drawing/2014/main" id="{654B7C0B-B696-FBD8-9D6C-97DB700EF8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449" y="2601108"/>
            <a:ext cx="1359101" cy="115601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a:extLst>
              <a:ext uri="{FF2B5EF4-FFF2-40B4-BE49-F238E27FC236}">
                <a16:creationId xmlns:a16="http://schemas.microsoft.com/office/drawing/2014/main" id="{3D4BB863-F153-72A0-B2F8-0B852B4D4B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09091" y="2564617"/>
            <a:ext cx="1192509" cy="1192509"/>
          </a:xfrm>
          <a:prstGeom prst="rect">
            <a:avLst/>
          </a:prstGeom>
          <a:noFill/>
          <a:extLst>
            <a:ext uri="{909E8E84-426E-40DD-AFC4-6F175D3DCCD1}">
              <a14:hiddenFill xmlns:a14="http://schemas.microsoft.com/office/drawing/2010/main">
                <a:solidFill>
                  <a:srgbClr val="FFFFFF"/>
                </a:solidFill>
              </a14:hiddenFill>
            </a:ext>
          </a:extLst>
        </p:spPr>
      </p:pic>
      <p:sp>
        <p:nvSpPr>
          <p:cNvPr id="9" name="Right Arrow 8">
            <a:extLst>
              <a:ext uri="{FF2B5EF4-FFF2-40B4-BE49-F238E27FC236}">
                <a16:creationId xmlns:a16="http://schemas.microsoft.com/office/drawing/2014/main" id="{85AEDB6C-F073-BF41-3A06-5E61224D2596}"/>
              </a:ext>
            </a:extLst>
          </p:cNvPr>
          <p:cNvSpPr/>
          <p:nvPr/>
        </p:nvSpPr>
        <p:spPr>
          <a:xfrm>
            <a:off x="4278496" y="2701147"/>
            <a:ext cx="1052802" cy="36576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ight Arrow 9">
            <a:extLst>
              <a:ext uri="{FF2B5EF4-FFF2-40B4-BE49-F238E27FC236}">
                <a16:creationId xmlns:a16="http://schemas.microsoft.com/office/drawing/2014/main" id="{F3E09569-3FBE-7D3B-F4C6-F39ACE780F4D}"/>
              </a:ext>
            </a:extLst>
          </p:cNvPr>
          <p:cNvSpPr/>
          <p:nvPr/>
        </p:nvSpPr>
        <p:spPr>
          <a:xfrm rot="10800000">
            <a:off x="4278496" y="3256133"/>
            <a:ext cx="1052802" cy="36576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9C9D901E-0D2C-B3EC-3EDE-94CD43711444}"/>
              </a:ext>
            </a:extLst>
          </p:cNvPr>
          <p:cNvSpPr txBox="1"/>
          <p:nvPr/>
        </p:nvSpPr>
        <p:spPr>
          <a:xfrm>
            <a:off x="2139000" y="2601108"/>
            <a:ext cx="2139496" cy="461665"/>
          </a:xfrm>
          <a:prstGeom prst="rect">
            <a:avLst/>
          </a:prstGeom>
          <a:noFill/>
        </p:spPr>
        <p:txBody>
          <a:bodyPr wrap="none" rtlCol="0">
            <a:spAutoFit/>
          </a:bodyPr>
          <a:lstStyle/>
          <a:p>
            <a:r>
              <a:rPr lang="en-US" sz="2400">
                <a:latin typeface="Calibri Light" panose="020F0302020204030204" pitchFamily="34" charset="0"/>
                <a:cs typeface="Calibri Light" panose="020F0302020204030204" pitchFamily="34" charset="0"/>
              </a:rPr>
              <a:t>Incoming traffic</a:t>
            </a:r>
          </a:p>
        </p:txBody>
      </p:sp>
      <p:sp>
        <p:nvSpPr>
          <p:cNvPr id="12" name="TextBox 11">
            <a:extLst>
              <a:ext uri="{FF2B5EF4-FFF2-40B4-BE49-F238E27FC236}">
                <a16:creationId xmlns:a16="http://schemas.microsoft.com/office/drawing/2014/main" id="{DBA9C277-E2D3-AA61-6424-165F5285A896}"/>
              </a:ext>
            </a:extLst>
          </p:cNvPr>
          <p:cNvSpPr txBox="1"/>
          <p:nvPr/>
        </p:nvSpPr>
        <p:spPr>
          <a:xfrm>
            <a:off x="2139000" y="3208180"/>
            <a:ext cx="2138342" cy="461665"/>
          </a:xfrm>
          <a:prstGeom prst="rect">
            <a:avLst/>
          </a:prstGeom>
          <a:noFill/>
        </p:spPr>
        <p:txBody>
          <a:bodyPr wrap="none" rtlCol="0">
            <a:spAutoFit/>
          </a:bodyPr>
          <a:lstStyle/>
          <a:p>
            <a:r>
              <a:rPr lang="en-US" sz="2400">
                <a:latin typeface="Calibri Light" panose="020F0302020204030204" pitchFamily="34" charset="0"/>
                <a:cs typeface="Calibri Light" panose="020F0302020204030204" pitchFamily="34" charset="0"/>
              </a:rPr>
              <a:t>Outgoing traffic</a:t>
            </a:r>
          </a:p>
        </p:txBody>
      </p:sp>
      <p:sp>
        <p:nvSpPr>
          <p:cNvPr id="13" name="Right Arrow 12">
            <a:extLst>
              <a:ext uri="{FF2B5EF4-FFF2-40B4-BE49-F238E27FC236}">
                <a16:creationId xmlns:a16="http://schemas.microsoft.com/office/drawing/2014/main" id="{7D9C98CE-7616-E58A-6773-D62A5EE6CED0}"/>
              </a:ext>
            </a:extLst>
          </p:cNvPr>
          <p:cNvSpPr/>
          <p:nvPr/>
        </p:nvSpPr>
        <p:spPr>
          <a:xfrm>
            <a:off x="6899776" y="2697013"/>
            <a:ext cx="1052802" cy="36576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ight Arrow 13">
            <a:extLst>
              <a:ext uri="{FF2B5EF4-FFF2-40B4-BE49-F238E27FC236}">
                <a16:creationId xmlns:a16="http://schemas.microsoft.com/office/drawing/2014/main" id="{1A665F67-0E90-8320-475F-CC46E2F0DC2A}"/>
              </a:ext>
            </a:extLst>
          </p:cNvPr>
          <p:cNvSpPr/>
          <p:nvPr/>
        </p:nvSpPr>
        <p:spPr>
          <a:xfrm rot="10800000">
            <a:off x="6899776" y="3309665"/>
            <a:ext cx="1052802" cy="36576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ular Callout 14">
            <a:extLst>
              <a:ext uri="{FF2B5EF4-FFF2-40B4-BE49-F238E27FC236}">
                <a16:creationId xmlns:a16="http://schemas.microsoft.com/office/drawing/2014/main" id="{72D51879-90E0-F02D-EF97-46336EE4EE45}"/>
              </a:ext>
            </a:extLst>
          </p:cNvPr>
          <p:cNvSpPr/>
          <p:nvPr/>
        </p:nvSpPr>
        <p:spPr>
          <a:xfrm>
            <a:off x="3127241" y="4350670"/>
            <a:ext cx="5743804" cy="1847907"/>
          </a:xfrm>
          <a:prstGeom prst="wedgeRectCallout">
            <a:avLst>
              <a:gd name="adj1" fmla="val -909"/>
              <a:gd name="adj2" fmla="val -75755"/>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lnSpc>
                <a:spcPct val="150000"/>
              </a:lnSpc>
              <a:buFont typeface="Arial" panose="020B0604020202020204" pitchFamily="34" charset="0"/>
              <a:buChar char="•"/>
            </a:pPr>
            <a:r>
              <a:rPr lang="en-US" sz="2400">
                <a:latin typeface="Calibri Light" panose="020F0302020204030204" pitchFamily="34" charset="0"/>
                <a:cs typeface="Calibri Light" panose="020F0302020204030204" pitchFamily="34" charset="0"/>
              </a:rPr>
              <a:t>Tracks state locations</a:t>
            </a:r>
          </a:p>
          <a:p>
            <a:pPr marL="285750" indent="-285750">
              <a:lnSpc>
                <a:spcPct val="150000"/>
              </a:lnSpc>
              <a:buFont typeface="Arial" panose="020B0604020202020204" pitchFamily="34" charset="0"/>
              <a:buChar char="•"/>
            </a:pPr>
            <a:r>
              <a:rPr lang="en-US" sz="2400">
                <a:latin typeface="Calibri Light" panose="020F0302020204030204" pitchFamily="34" charset="0"/>
                <a:cs typeface="Calibri Light" panose="020F0302020204030204" pitchFamily="34" charset="0"/>
              </a:rPr>
              <a:t>Triggers synchronization when needed</a:t>
            </a:r>
            <a:endParaRPr lang="en-US" sz="2200">
              <a:solidFill>
                <a:schemeClr val="tx1"/>
              </a:solidFill>
              <a:latin typeface="Calibri Light" panose="020F0302020204030204" pitchFamily="34" charset="0"/>
              <a:cs typeface="Calibri Light" panose="020F0302020204030204" pitchFamily="34" charset="0"/>
            </a:endParaRPr>
          </a:p>
          <a:p>
            <a:pPr marL="285750" indent="-285750">
              <a:lnSpc>
                <a:spcPct val="150000"/>
              </a:lnSpc>
              <a:buFont typeface="Arial" panose="020B0604020202020204" pitchFamily="34" charset="0"/>
              <a:buChar char="•"/>
            </a:pPr>
            <a:r>
              <a:rPr lang="en-US" sz="2400">
                <a:latin typeface="Calibri Light" panose="020F0302020204030204" pitchFamily="34" charset="0"/>
                <a:cs typeface="Calibri Light" panose="020F0302020204030204" pitchFamily="34" charset="0"/>
              </a:rPr>
              <a:t>State piggybacks on the packets that use it</a:t>
            </a:r>
            <a:endParaRPr lang="en-US" sz="2200">
              <a:solidFill>
                <a:schemeClr val="tx1"/>
              </a:solidFill>
              <a:latin typeface="Calibri Light" panose="020F0302020204030204" pitchFamily="34" charset="0"/>
              <a:cs typeface="Calibri Light" panose="020F0302020204030204" pitchFamily="34" charset="0"/>
            </a:endParaRPr>
          </a:p>
        </p:txBody>
      </p:sp>
      <p:sp>
        <p:nvSpPr>
          <p:cNvPr id="16" name="Slide Number Placeholder 15">
            <a:extLst>
              <a:ext uri="{FF2B5EF4-FFF2-40B4-BE49-F238E27FC236}">
                <a16:creationId xmlns:a16="http://schemas.microsoft.com/office/drawing/2014/main" id="{1F1E731F-50C1-BE93-F47A-7F81307F52DD}"/>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9</a:t>
            </a:fld>
            <a:endParaRPr lang="en-US"/>
          </a:p>
        </p:txBody>
      </p:sp>
      <p:sp>
        <p:nvSpPr>
          <p:cNvPr id="3" name="TextBox 2">
            <a:extLst>
              <a:ext uri="{FF2B5EF4-FFF2-40B4-BE49-F238E27FC236}">
                <a16:creationId xmlns:a16="http://schemas.microsoft.com/office/drawing/2014/main" id="{ECC8AE81-FF4B-3A8A-8080-2B03F83DAB4C}"/>
              </a:ext>
            </a:extLst>
          </p:cNvPr>
          <p:cNvSpPr txBox="1"/>
          <p:nvPr/>
        </p:nvSpPr>
        <p:spPr>
          <a:xfrm>
            <a:off x="5197835" y="1984111"/>
            <a:ext cx="1701941" cy="523220"/>
          </a:xfrm>
          <a:prstGeom prst="rect">
            <a:avLst/>
          </a:prstGeom>
          <a:noFill/>
        </p:spPr>
        <p:txBody>
          <a:bodyPr wrap="none" rtlCol="0">
            <a:spAutoFit/>
          </a:bodyPr>
          <a:lstStyle/>
          <a:p>
            <a:r>
              <a:rPr lang="en-US" sz="2800">
                <a:latin typeface="Calibri" panose="020F0502020204030204" pitchFamily="34" charset="0"/>
                <a:cs typeface="Calibri" panose="020F0502020204030204" pitchFamily="34" charset="0"/>
              </a:rPr>
              <a:t>Interposer</a:t>
            </a:r>
          </a:p>
        </p:txBody>
      </p:sp>
    </p:spTree>
    <p:custDataLst>
      <p:tags r:id="rId1"/>
    </p:custDataLst>
    <p:extLst>
      <p:ext uri="{BB962C8B-B14F-4D97-AF65-F5344CB8AC3E}">
        <p14:creationId xmlns:p14="http://schemas.microsoft.com/office/powerpoint/2010/main" val="281150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622F5-F9AD-F3A7-4F48-F17AE738F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ED5F3-437A-9426-DA78-717EBB6F9FE1}"/>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Sounds easy enough, what’s the problem?</a:t>
            </a:r>
          </a:p>
        </p:txBody>
      </p:sp>
      <p:sp>
        <p:nvSpPr>
          <p:cNvPr id="3" name="Content Placeholder 2">
            <a:extLst>
              <a:ext uri="{FF2B5EF4-FFF2-40B4-BE49-F238E27FC236}">
                <a16:creationId xmlns:a16="http://schemas.microsoft.com/office/drawing/2014/main" id="{892B09EF-2885-FDD6-B151-01B7F6C9811A}"/>
              </a:ext>
            </a:extLst>
          </p:cNvPr>
          <p:cNvSpPr>
            <a:spLocks noGrp="1"/>
          </p:cNvSpPr>
          <p:nvPr>
            <p:ph idx="1"/>
          </p:nvPr>
        </p:nvSpPr>
        <p:spPr>
          <a:xfrm>
            <a:off x="838200" y="1647579"/>
            <a:ext cx="10515600" cy="4667250"/>
          </a:xfrm>
        </p:spPr>
        <p:txBody>
          <a:bodyPr/>
          <a:lstStyle/>
          <a:p>
            <a:pPr marL="0" indent="0">
              <a:lnSpc>
                <a:spcPct val="150000"/>
              </a:lnSpc>
              <a:buNone/>
            </a:pPr>
            <a:r>
              <a:rPr lang="en-US" b="1" dirty="0">
                <a:latin typeface="Calibri" panose="020F0502020204030204" pitchFamily="34" charset="0"/>
                <a:cs typeface="Calibri" panose="020F0502020204030204" pitchFamily="34" charset="0"/>
              </a:rPr>
              <a:t>Realizing this requires:</a:t>
            </a:r>
          </a:p>
          <a:p>
            <a:pPr marL="971550" lvl="1"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Strong Consistency Protocol</a:t>
            </a:r>
          </a:p>
          <a:p>
            <a:pPr lvl="2">
              <a:lnSpc>
                <a:spcPct val="150000"/>
              </a:lnSpc>
            </a:pPr>
            <a:r>
              <a:rPr lang="en-US" sz="2400" dirty="0">
                <a:latin typeface="Calibri" panose="020F0502020204030204" pitchFamily="34" charset="0"/>
                <a:cs typeface="Calibri" panose="020F0502020204030204" pitchFamily="34" charset="0"/>
              </a:rPr>
              <a:t>Latency and lossy communication channel</a:t>
            </a:r>
          </a:p>
          <a:p>
            <a:pPr marL="971550" lvl="1"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Fully Mutable Data Plane State Table</a:t>
            </a:r>
          </a:p>
          <a:p>
            <a:pPr lvl="2">
              <a:lnSpc>
                <a:spcPct val="150000"/>
              </a:lnSpc>
            </a:pPr>
            <a:r>
              <a:rPr lang="en-US" sz="2400" dirty="0">
                <a:latin typeface="Calibri" panose="020F0502020204030204" pitchFamily="34" charset="0"/>
                <a:cs typeface="Calibri" panose="020F0502020204030204" pitchFamily="34" charset="0"/>
              </a:rPr>
              <a:t>Limited programmability of the switch</a:t>
            </a:r>
          </a:p>
          <a:p>
            <a:pPr marL="971550" lvl="1"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Caching Algorithm</a:t>
            </a:r>
          </a:p>
          <a:p>
            <a:pPr lvl="2">
              <a:lnSpc>
                <a:spcPct val="150000"/>
              </a:lnSpc>
            </a:pPr>
            <a:r>
              <a:rPr lang="en-US" sz="2400" dirty="0">
                <a:latin typeface="Calibri" panose="020F0502020204030204" pitchFamily="34" charset="0"/>
                <a:cs typeface="Calibri" panose="020F0502020204030204" pitchFamily="34" charset="0"/>
              </a:rPr>
              <a:t>Based on both Recency and Frequency</a:t>
            </a:r>
          </a:p>
        </p:txBody>
      </p:sp>
      <p:sp>
        <p:nvSpPr>
          <p:cNvPr id="4" name="Slide Number Placeholder 3">
            <a:extLst>
              <a:ext uri="{FF2B5EF4-FFF2-40B4-BE49-F238E27FC236}">
                <a16:creationId xmlns:a16="http://schemas.microsoft.com/office/drawing/2014/main" id="{F53C9C27-B200-F4A9-0DFA-5C2AA3482586}"/>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10</a:t>
            </a:fld>
            <a:endParaRPr lang="en-US"/>
          </a:p>
        </p:txBody>
      </p:sp>
    </p:spTree>
    <p:extLst>
      <p:ext uri="{BB962C8B-B14F-4D97-AF65-F5344CB8AC3E}">
        <p14:creationId xmlns:p14="http://schemas.microsoft.com/office/powerpoint/2010/main" val="230249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363E-7295-EF48-1520-F4F05EE8A2C6}"/>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We propose </a:t>
            </a:r>
            <a:r>
              <a:rPr lang="en-US" dirty="0" err="1">
                <a:latin typeface="Calibri" panose="020F0502020204030204" pitchFamily="34" charset="0"/>
                <a:cs typeface="Calibri" panose="020F0502020204030204" pitchFamily="34" charset="0"/>
              </a:rPr>
              <a:t>SwitchNIC</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4ED0C71-7FB5-89E3-5BE0-E0D519040CCF}"/>
              </a:ext>
            </a:extLst>
          </p:cNvPr>
          <p:cNvSpPr>
            <a:spLocks noGrp="1"/>
          </p:cNvSpPr>
          <p:nvPr>
            <p:ph idx="1"/>
          </p:nvPr>
        </p:nvSpPr>
        <p:spPr>
          <a:xfrm>
            <a:off x="838199" y="1825625"/>
            <a:ext cx="10882745" cy="4351338"/>
          </a:xfrm>
        </p:spPr>
        <p:txBody>
          <a:bodyPr>
            <a:normAutofit/>
          </a:bodyPr>
          <a:lstStyle/>
          <a:p>
            <a:pPr marL="0" indent="0">
              <a:lnSpc>
                <a:spcPct val="150000"/>
              </a:lnSpc>
              <a:buNone/>
            </a:pPr>
            <a:r>
              <a:rPr lang="en-US" b="1" dirty="0">
                <a:latin typeface="Calibri" panose="020F0502020204030204" pitchFamily="34" charset="0"/>
                <a:cs typeface="Calibri" panose="020F0502020204030204" pitchFamily="34" charset="0"/>
              </a:rPr>
              <a:t>Tightly integrated heterogeneous architecture</a:t>
            </a:r>
          </a:p>
          <a:p>
            <a:pPr marL="0" indent="0">
              <a:lnSpc>
                <a:spcPct val="150000"/>
              </a:lnSpc>
              <a:buNone/>
            </a:pPr>
            <a:r>
              <a:rPr lang="en-US" b="1" dirty="0">
                <a:solidFill>
                  <a:srgbClr val="0070C0"/>
                </a:solidFill>
                <a:latin typeface="Calibri" panose="020F0502020204030204" pitchFamily="34" charset="0"/>
                <a:cs typeface="Calibri" panose="020F0502020204030204" pitchFamily="34" charset="0"/>
              </a:rPr>
              <a:t>Fast-path</a:t>
            </a:r>
            <a:r>
              <a:rPr lang="en-US" b="1" dirty="0">
                <a:latin typeface="Calibri" panose="020F0502020204030204" pitchFamily="34" charset="0"/>
                <a:cs typeface="Calibri" panose="020F0502020204030204" pitchFamily="34" charset="0"/>
              </a:rPr>
              <a:t> programmable switch + </a:t>
            </a:r>
            <a:r>
              <a:rPr lang="en-US" b="1" dirty="0">
                <a:solidFill>
                  <a:srgbClr val="0070C0"/>
                </a:solidFill>
                <a:latin typeface="Calibri" panose="020F0502020204030204" pitchFamily="34" charset="0"/>
                <a:cs typeface="Calibri" panose="020F0502020204030204" pitchFamily="34" charset="0"/>
              </a:rPr>
              <a:t>flexible</a:t>
            </a:r>
            <a:r>
              <a:rPr lang="en-US" b="1" dirty="0">
                <a:latin typeface="Calibri" panose="020F0502020204030204" pitchFamily="34" charset="0"/>
                <a:cs typeface="Calibri" panose="020F0502020204030204" pitchFamily="34" charset="0"/>
              </a:rPr>
              <a:t> slow-path ARM cores</a:t>
            </a:r>
          </a:p>
          <a:p>
            <a:pPr marL="0" indent="0">
              <a:lnSpc>
                <a:spcPct val="150000"/>
              </a:lnSpc>
              <a:buNone/>
            </a:pPr>
            <a:r>
              <a:rPr lang="en-US" dirty="0">
                <a:latin typeface="Calibri" panose="020F0502020204030204" pitchFamily="34" charset="0"/>
                <a:cs typeface="Calibri" panose="020F0502020204030204" pitchFamily="34" charset="0"/>
              </a:rPr>
              <a:t>In this talk:</a:t>
            </a:r>
          </a:p>
          <a:p>
            <a:pPr marL="971550" lvl="1" indent="-514350">
              <a:lnSpc>
                <a:spcPct val="150000"/>
              </a:lnSpc>
              <a:buFont typeface="+mj-lt"/>
              <a:buAutoNum type="arabicPeriod"/>
            </a:pPr>
            <a:r>
              <a:rPr lang="en-US" dirty="0">
                <a:latin typeface="Calibri" panose="020F0502020204030204" pitchFamily="34" charset="0"/>
                <a:cs typeface="Calibri" panose="020F0502020204030204" pitchFamily="34" charset="0"/>
              </a:rPr>
              <a:t>Strong Consistency Protocol</a:t>
            </a:r>
          </a:p>
          <a:p>
            <a:pPr marL="971550" lvl="1" indent="-514350">
              <a:lnSpc>
                <a:spcPct val="150000"/>
              </a:lnSpc>
              <a:buFont typeface="+mj-lt"/>
              <a:buAutoNum type="arabicPeriod"/>
            </a:pPr>
            <a:r>
              <a:rPr lang="en-US" dirty="0">
                <a:solidFill>
                  <a:schemeClr val="bg2">
                    <a:lumMod val="75000"/>
                  </a:schemeClr>
                </a:solidFill>
                <a:latin typeface="Calibri" panose="020F0502020204030204" pitchFamily="34" charset="0"/>
                <a:cs typeface="Calibri" panose="020F0502020204030204" pitchFamily="34" charset="0"/>
              </a:rPr>
              <a:t>Fully Mutable Data Plane State Table</a:t>
            </a:r>
          </a:p>
          <a:p>
            <a:pPr marL="971550" lvl="1" indent="-514350">
              <a:lnSpc>
                <a:spcPct val="150000"/>
              </a:lnSpc>
              <a:buFont typeface="+mj-lt"/>
              <a:buAutoNum type="arabicPeriod"/>
            </a:pPr>
            <a:r>
              <a:rPr lang="en-US" dirty="0">
                <a:solidFill>
                  <a:schemeClr val="bg2">
                    <a:lumMod val="75000"/>
                  </a:schemeClr>
                </a:solidFill>
                <a:latin typeface="Calibri" panose="020F0502020204030204" pitchFamily="34" charset="0"/>
                <a:cs typeface="Calibri" panose="020F0502020204030204" pitchFamily="34" charset="0"/>
              </a:rPr>
              <a:t>Caching Algorithm</a:t>
            </a:r>
          </a:p>
        </p:txBody>
      </p:sp>
      <p:sp>
        <p:nvSpPr>
          <p:cNvPr id="4" name="Slide Number Placeholder 3">
            <a:extLst>
              <a:ext uri="{FF2B5EF4-FFF2-40B4-BE49-F238E27FC236}">
                <a16:creationId xmlns:a16="http://schemas.microsoft.com/office/drawing/2014/main" id="{7D109C9A-4E06-3661-07A4-313D07AEC5A5}"/>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11</a:t>
            </a:fld>
            <a:endParaRPr lang="en-US"/>
          </a:p>
        </p:txBody>
      </p:sp>
    </p:spTree>
    <p:extLst>
      <p:ext uri="{BB962C8B-B14F-4D97-AF65-F5344CB8AC3E}">
        <p14:creationId xmlns:p14="http://schemas.microsoft.com/office/powerpoint/2010/main" val="357907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59D68-80D2-D1CA-6F0C-AA60BF25F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F28B5-9042-726E-4C95-CBCDF3003BCB}"/>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Strong Consistency Protocol</a:t>
            </a:r>
          </a:p>
        </p:txBody>
      </p:sp>
      <p:sp>
        <p:nvSpPr>
          <p:cNvPr id="3" name="Content Placeholder 2">
            <a:extLst>
              <a:ext uri="{FF2B5EF4-FFF2-40B4-BE49-F238E27FC236}">
                <a16:creationId xmlns:a16="http://schemas.microsoft.com/office/drawing/2014/main" id="{0C6AA50C-A0A6-42DA-A491-CF531AF4E6E1}"/>
              </a:ext>
            </a:extLst>
          </p:cNvPr>
          <p:cNvSpPr>
            <a:spLocks noGrp="1"/>
          </p:cNvSpPr>
          <p:nvPr>
            <p:ph idx="1"/>
          </p:nvPr>
        </p:nvSpPr>
        <p:spPr/>
        <p:txBody>
          <a:bodyPr/>
          <a:lstStyle/>
          <a:p>
            <a:pPr marL="0" indent="0">
              <a:lnSpc>
                <a:spcPct val="150000"/>
              </a:lnSpc>
              <a:buNone/>
            </a:pPr>
            <a:r>
              <a:rPr lang="en-US" b="1" dirty="0">
                <a:latin typeface="Calibri" panose="020F0502020204030204" pitchFamily="34" charset="0"/>
                <a:cs typeface="Calibri" panose="020F0502020204030204" pitchFamily="34" charset="0"/>
              </a:rPr>
              <a:t>Managing mutable, shared states in a </a:t>
            </a:r>
            <a:r>
              <a:rPr lang="en-US" b="1" dirty="0">
                <a:solidFill>
                  <a:srgbClr val="0070C0"/>
                </a:solidFill>
                <a:latin typeface="Calibri" panose="020F0502020204030204" pitchFamily="34" charset="0"/>
                <a:cs typeface="Calibri" panose="020F0502020204030204" pitchFamily="34" charset="0"/>
              </a:rPr>
              <a:t>loss-free</a:t>
            </a:r>
            <a:r>
              <a:rPr lang="en-US" b="1" dirty="0">
                <a:latin typeface="Calibri" panose="020F0502020204030204" pitchFamily="34" charset="0"/>
                <a:cs typeface="Calibri" panose="020F0502020204030204" pitchFamily="34" charset="0"/>
              </a:rPr>
              <a:t> network:</a:t>
            </a:r>
          </a:p>
          <a:p>
            <a:pPr marL="514350" indent="-514350">
              <a:lnSpc>
                <a:spcPct val="150000"/>
              </a:lnSpc>
              <a:buFont typeface="+mj-lt"/>
              <a:buAutoNum type="arabicPeriod"/>
            </a:pPr>
            <a:r>
              <a:rPr lang="en-US" dirty="0">
                <a:latin typeface="Calibri" panose="020F0502020204030204" pitchFamily="34" charset="0"/>
                <a:cs typeface="Calibri" panose="020F0502020204030204" pitchFamily="34" charset="0"/>
              </a:rPr>
              <a:t>Direct updates at switch</a:t>
            </a:r>
          </a:p>
          <a:p>
            <a:pPr marL="514350" indent="-514350">
              <a:lnSpc>
                <a:spcPct val="150000"/>
              </a:lnSpc>
              <a:buFont typeface="+mj-lt"/>
              <a:buAutoNum type="arabicPeriod"/>
            </a:pPr>
            <a:r>
              <a:rPr lang="en-US" dirty="0">
                <a:latin typeface="Calibri" panose="020F0502020204030204" pitchFamily="34" charset="0"/>
                <a:cs typeface="Calibri" panose="020F0502020204030204" pitchFamily="34" charset="0"/>
              </a:rPr>
              <a:t>Migrate to server</a:t>
            </a:r>
          </a:p>
          <a:p>
            <a:pPr marL="514350" indent="-514350">
              <a:lnSpc>
                <a:spcPct val="150000"/>
              </a:lnSpc>
              <a:buFont typeface="+mj-lt"/>
              <a:buAutoNum type="arabicPeriod"/>
            </a:pPr>
            <a:r>
              <a:rPr lang="en-US" dirty="0">
                <a:latin typeface="Calibri" panose="020F0502020204030204" pitchFamily="34" charset="0"/>
                <a:cs typeface="Calibri" panose="020F0502020204030204" pitchFamily="34" charset="0"/>
              </a:rPr>
              <a:t>Migrate back to switch</a:t>
            </a:r>
          </a:p>
        </p:txBody>
      </p:sp>
      <p:sp>
        <p:nvSpPr>
          <p:cNvPr id="4" name="Slide Number Placeholder 3">
            <a:extLst>
              <a:ext uri="{FF2B5EF4-FFF2-40B4-BE49-F238E27FC236}">
                <a16:creationId xmlns:a16="http://schemas.microsoft.com/office/drawing/2014/main" id="{B311C220-DF82-DA4D-EECF-93A433ADC74D}"/>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12</a:t>
            </a:fld>
            <a:endParaRPr lang="en-US"/>
          </a:p>
        </p:txBody>
      </p:sp>
    </p:spTree>
    <p:extLst>
      <p:ext uri="{BB962C8B-B14F-4D97-AF65-F5344CB8AC3E}">
        <p14:creationId xmlns:p14="http://schemas.microsoft.com/office/powerpoint/2010/main" val="1869934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DA38F8A-D55A-F832-A965-3FC81D651B55}"/>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0" name="Table 29">
            <a:extLst>
              <a:ext uri="{FF2B5EF4-FFF2-40B4-BE49-F238E27FC236}">
                <a16:creationId xmlns:a16="http://schemas.microsoft.com/office/drawing/2014/main" id="{AA26AFF2-C8F8-364E-43AF-61B0A67CDC87}"/>
              </a:ext>
            </a:extLst>
          </p:cNvPr>
          <p:cNvGraphicFramePr>
            <a:graphicFrameLocks noGrp="1"/>
          </p:cNvGraphicFramePr>
          <p:nvPr/>
        </p:nvGraphicFramePr>
        <p:xfrm>
          <a:off x="2990088" y="3483864"/>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29" name="TextBox 28">
            <a:extLst>
              <a:ext uri="{FF2B5EF4-FFF2-40B4-BE49-F238E27FC236}">
                <a16:creationId xmlns:a16="http://schemas.microsoft.com/office/drawing/2014/main" id="{16925FB1-50DD-C844-3554-44EFDDCA9785}"/>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sp>
        <p:nvSpPr>
          <p:cNvPr id="2" name="Title 1">
            <a:extLst>
              <a:ext uri="{FF2B5EF4-FFF2-40B4-BE49-F238E27FC236}">
                <a16:creationId xmlns:a16="http://schemas.microsoft.com/office/drawing/2014/main" id="{3BD6C98C-F3A0-5199-3FA8-D2EF9CFCB759}"/>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#1: Direct updates at switch</a:t>
            </a:r>
          </a:p>
        </p:txBody>
      </p:sp>
      <p:sp>
        <p:nvSpPr>
          <p:cNvPr id="4" name="Slide Number Placeholder 3">
            <a:extLst>
              <a:ext uri="{FF2B5EF4-FFF2-40B4-BE49-F238E27FC236}">
                <a16:creationId xmlns:a16="http://schemas.microsoft.com/office/drawing/2014/main" id="{8F869BB3-2E87-4364-75FD-58495CB00BC8}"/>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13</a:t>
            </a:fld>
            <a:endParaRPr lang="en-US"/>
          </a:p>
        </p:txBody>
      </p:sp>
      <p:grpSp>
        <p:nvGrpSpPr>
          <p:cNvPr id="11" name="Group 10">
            <a:extLst>
              <a:ext uri="{FF2B5EF4-FFF2-40B4-BE49-F238E27FC236}">
                <a16:creationId xmlns:a16="http://schemas.microsoft.com/office/drawing/2014/main" id="{9407E2B1-B21E-16CF-F51F-685C749B3106}"/>
              </a:ext>
            </a:extLst>
          </p:cNvPr>
          <p:cNvGrpSpPr/>
          <p:nvPr/>
        </p:nvGrpSpPr>
        <p:grpSpPr>
          <a:xfrm>
            <a:off x="548640" y="3675888"/>
            <a:ext cx="1833261" cy="1142064"/>
            <a:chOff x="517256" y="4048123"/>
            <a:chExt cx="1833261" cy="1142064"/>
          </a:xfrm>
        </p:grpSpPr>
        <p:grpSp>
          <p:nvGrpSpPr>
            <p:cNvPr id="12" name="Group 11">
              <a:extLst>
                <a:ext uri="{FF2B5EF4-FFF2-40B4-BE49-F238E27FC236}">
                  <a16:creationId xmlns:a16="http://schemas.microsoft.com/office/drawing/2014/main" id="{82A9B6A6-0E7B-80FC-47CF-4F92970C22A2}"/>
                </a:ext>
              </a:extLst>
            </p:cNvPr>
            <p:cNvGrpSpPr/>
            <p:nvPr/>
          </p:nvGrpSpPr>
          <p:grpSpPr>
            <a:xfrm>
              <a:off x="517256" y="4048123"/>
              <a:ext cx="1236372" cy="1142064"/>
              <a:chOff x="517256" y="4048123"/>
              <a:chExt cx="1236372" cy="1142064"/>
            </a:xfrm>
          </p:grpSpPr>
          <p:sp>
            <p:nvSpPr>
              <p:cNvPr id="14" name="Rectangle 13">
                <a:extLst>
                  <a:ext uri="{FF2B5EF4-FFF2-40B4-BE49-F238E27FC236}">
                    <a16:creationId xmlns:a16="http://schemas.microsoft.com/office/drawing/2014/main" id="{D6D999EE-41CF-C809-B8A7-820A2A9C9265}"/>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89454DD6-E35C-FCA4-E691-14218F6F7410}"/>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1</a:t>
                </a:r>
              </a:p>
            </p:txBody>
          </p:sp>
        </p:grpSp>
        <p:sp>
          <p:nvSpPr>
            <p:cNvPr id="13" name="Right Arrow 12">
              <a:extLst>
                <a:ext uri="{FF2B5EF4-FFF2-40B4-BE49-F238E27FC236}">
                  <a16:creationId xmlns:a16="http://schemas.microsoft.com/office/drawing/2014/main" id="{854CA31E-371D-0010-B164-7A6CC2919BD9}"/>
                </a:ext>
              </a:extLst>
            </p:cNvPr>
            <p:cNvSpPr/>
            <p:nvPr/>
          </p:nvSpPr>
          <p:spPr>
            <a:xfrm>
              <a:off x="1852027" y="4647215"/>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16" name="Table 15">
            <a:extLst>
              <a:ext uri="{FF2B5EF4-FFF2-40B4-BE49-F238E27FC236}">
                <a16:creationId xmlns:a16="http://schemas.microsoft.com/office/drawing/2014/main" id="{5E3E9748-D0CC-1EBE-77D0-148C879264B4}"/>
              </a:ext>
            </a:extLst>
          </p:cNvPr>
          <p:cNvGraphicFramePr>
            <a:graphicFrameLocks noGrp="1"/>
          </p:cNvGraphicFramePr>
          <p:nvPr/>
        </p:nvGraphicFramePr>
        <p:xfrm>
          <a:off x="705286" y="4200753"/>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Alice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18" name="Group 17">
            <a:extLst>
              <a:ext uri="{FF2B5EF4-FFF2-40B4-BE49-F238E27FC236}">
                <a16:creationId xmlns:a16="http://schemas.microsoft.com/office/drawing/2014/main" id="{C89D043A-70A1-EBE2-0DE5-180C29AC5CF7}"/>
              </a:ext>
            </a:extLst>
          </p:cNvPr>
          <p:cNvGrpSpPr/>
          <p:nvPr/>
        </p:nvGrpSpPr>
        <p:grpSpPr>
          <a:xfrm>
            <a:off x="3710137" y="5077626"/>
            <a:ext cx="1236372" cy="1142064"/>
            <a:chOff x="517256" y="4048123"/>
            <a:chExt cx="1236372" cy="1142064"/>
          </a:xfrm>
        </p:grpSpPr>
        <p:sp>
          <p:nvSpPr>
            <p:cNvPr id="20" name="Rectangle 19">
              <a:extLst>
                <a:ext uri="{FF2B5EF4-FFF2-40B4-BE49-F238E27FC236}">
                  <a16:creationId xmlns:a16="http://schemas.microsoft.com/office/drawing/2014/main" id="{99DF821D-9A80-E6AB-9115-20F53DD7FB6D}"/>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ABF9FE67-95A6-4EDC-869A-9A01808BDB16}"/>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1</a:t>
              </a:r>
            </a:p>
          </p:txBody>
        </p:sp>
      </p:grpSp>
      <p:graphicFrame>
        <p:nvGraphicFramePr>
          <p:cNvPr id="22" name="Table 21">
            <a:extLst>
              <a:ext uri="{FF2B5EF4-FFF2-40B4-BE49-F238E27FC236}">
                <a16:creationId xmlns:a16="http://schemas.microsoft.com/office/drawing/2014/main" id="{DD164BBF-63FA-6BC1-7A52-E374B7BA4334}"/>
              </a:ext>
            </a:extLst>
          </p:cNvPr>
          <p:cNvGraphicFramePr>
            <a:graphicFrameLocks noGrp="1"/>
          </p:cNvGraphicFramePr>
          <p:nvPr/>
        </p:nvGraphicFramePr>
        <p:xfrm>
          <a:off x="3875711" y="560249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Alice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23" name="Oval Callout 22">
            <a:extLst>
              <a:ext uri="{FF2B5EF4-FFF2-40B4-BE49-F238E27FC236}">
                <a16:creationId xmlns:a16="http://schemas.microsoft.com/office/drawing/2014/main" id="{58F19A9D-6470-958C-AA21-672704C9CFFD}"/>
              </a:ext>
            </a:extLst>
          </p:cNvPr>
          <p:cNvSpPr/>
          <p:nvPr/>
        </p:nvSpPr>
        <p:spPr>
          <a:xfrm>
            <a:off x="4419385" y="1511430"/>
            <a:ext cx="2511548" cy="730039"/>
          </a:xfrm>
          <a:prstGeom prst="wedgeEllipseCallout">
            <a:avLst>
              <a:gd name="adj1" fmla="val -19808"/>
              <a:gd name="adj2" fmla="val 6974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Switch has valid state for Alice</a:t>
            </a:r>
          </a:p>
        </p:txBody>
      </p:sp>
      <p:sp>
        <p:nvSpPr>
          <p:cNvPr id="25" name="TextBox 24">
            <a:extLst>
              <a:ext uri="{FF2B5EF4-FFF2-40B4-BE49-F238E27FC236}">
                <a16:creationId xmlns:a16="http://schemas.microsoft.com/office/drawing/2014/main" id="{EE3DA6CA-0046-1587-36C8-EAA1E5AEDB4C}"/>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26" name="Rectangle 25">
            <a:extLst>
              <a:ext uri="{FF2B5EF4-FFF2-40B4-BE49-F238E27FC236}">
                <a16:creationId xmlns:a16="http://schemas.microsoft.com/office/drawing/2014/main" id="{D6603E4A-4CBE-F7C8-36B2-4A65DCEFC24A}"/>
              </a:ext>
            </a:extLst>
          </p:cNvPr>
          <p:cNvSpPr/>
          <p:nvPr/>
        </p:nvSpPr>
        <p:spPr>
          <a:xfrm>
            <a:off x="8349626" y="2945833"/>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Table 26">
            <a:extLst>
              <a:ext uri="{FF2B5EF4-FFF2-40B4-BE49-F238E27FC236}">
                <a16:creationId xmlns:a16="http://schemas.microsoft.com/office/drawing/2014/main" id="{EC8FAA89-2F61-FC8D-BDA5-C842255D5BC6}"/>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26533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26533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26533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26533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26533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4" name="TextBox 33">
            <a:extLst>
              <a:ext uri="{FF2B5EF4-FFF2-40B4-BE49-F238E27FC236}">
                <a16:creationId xmlns:a16="http://schemas.microsoft.com/office/drawing/2014/main" id="{57542A86-ECFA-0B80-7D64-23D8EC4F5285}"/>
              </a:ext>
            </a:extLst>
          </p:cNvPr>
          <p:cNvSpPr txBox="1"/>
          <p:nvPr/>
        </p:nvSpPr>
        <p:spPr>
          <a:xfrm>
            <a:off x="4791139" y="4104839"/>
            <a:ext cx="419414"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32" name="TextBox 31">
            <a:extLst>
              <a:ext uri="{FF2B5EF4-FFF2-40B4-BE49-F238E27FC236}">
                <a16:creationId xmlns:a16="http://schemas.microsoft.com/office/drawing/2014/main" id="{53C4043F-215E-4490-924E-3D78B32C4EA5}"/>
              </a:ext>
            </a:extLst>
          </p:cNvPr>
          <p:cNvSpPr txBox="1"/>
          <p:nvPr/>
        </p:nvSpPr>
        <p:spPr>
          <a:xfrm>
            <a:off x="4430755" y="5633268"/>
            <a:ext cx="401089" cy="400110"/>
          </a:xfrm>
          <a:prstGeom prst="rect">
            <a:avLst/>
          </a:prstGeom>
          <a:noFill/>
        </p:spPr>
        <p:txBody>
          <a:bodyPr wrap="square">
            <a:spAutoFit/>
          </a:bodyPr>
          <a:lstStyle/>
          <a:p>
            <a:pPr algn="ctr"/>
            <a:r>
              <a:rPr lang="en-US" sz="2000" b="0">
                <a:solidFill>
                  <a:schemeClr val="tx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32059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0" presetClass="path" presetSubtype="0" accel="50000" decel="50000" fill="hold" grpId="1" nodeType="withEffect">
                                  <p:stCondLst>
                                    <p:cond delay="0"/>
                                  </p:stCondLst>
                                  <p:childTnLst>
                                    <p:animMotion origin="layout" path="M 2.29167E-6 -4.44444E-6 L 0.03047 -0.22731 " pathEditMode="relative" rAng="0" ptsTypes="AA">
                                      <p:cBhvr>
                                        <p:cTn id="28" dur="2000" fill="hold"/>
                                        <p:tgtEl>
                                          <p:spTgt spid="32"/>
                                        </p:tgtEl>
                                        <p:attrNameLst>
                                          <p:attrName>ppt_x</p:attrName>
                                          <p:attrName>ppt_y</p:attrName>
                                        </p:attrNameLst>
                                      </p:cBhvr>
                                      <p:rCtr x="1523" y="-11366"/>
                                    </p:animMotion>
                                  </p:childTnLst>
                                </p:cTn>
                              </p:par>
                            </p:childTnLst>
                          </p:cTn>
                        </p:par>
                        <p:par>
                          <p:cTn id="29" fill="hold">
                            <p:stCondLst>
                              <p:cond delay="2000"/>
                            </p:stCondLst>
                            <p:childTnLst>
                              <p:par>
                                <p:cTn id="30" presetID="1" presetClass="exit" presetSubtype="0" fill="hold" grpId="0" nodeType="afterEffect">
                                  <p:stCondLst>
                                    <p:cond delay="0"/>
                                  </p:stCondLst>
                                  <p:childTnLst>
                                    <p:set>
                                      <p:cBhvr>
                                        <p:cTn id="31"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4" grpId="0"/>
      <p:bldP spid="32" grpId="0"/>
      <p:bldP spid="3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D490E-E669-4674-1421-72CBFB19BB48}"/>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D292632E-4E32-DD20-BD8C-D5C5CA9F83AA}"/>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6" name="Table 35">
            <a:extLst>
              <a:ext uri="{FF2B5EF4-FFF2-40B4-BE49-F238E27FC236}">
                <a16:creationId xmlns:a16="http://schemas.microsoft.com/office/drawing/2014/main" id="{DC744F62-F9BF-5245-5FF0-A55397F58FA9}"/>
              </a:ext>
            </a:extLst>
          </p:cNvPr>
          <p:cNvGraphicFramePr>
            <a:graphicFrameLocks noGrp="1"/>
          </p:cNvGraphicFramePr>
          <p:nvPr/>
        </p:nvGraphicFramePr>
        <p:xfrm>
          <a:off x="2990088" y="3483864"/>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2" name="Title 1">
            <a:extLst>
              <a:ext uri="{FF2B5EF4-FFF2-40B4-BE49-F238E27FC236}">
                <a16:creationId xmlns:a16="http://schemas.microsoft.com/office/drawing/2014/main" id="{5B855B47-1976-1380-BD79-F53A077E124A}"/>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#1: Direct updates at switch</a:t>
            </a:r>
          </a:p>
        </p:txBody>
      </p:sp>
      <p:sp>
        <p:nvSpPr>
          <p:cNvPr id="4" name="Slide Number Placeholder 3">
            <a:extLst>
              <a:ext uri="{FF2B5EF4-FFF2-40B4-BE49-F238E27FC236}">
                <a16:creationId xmlns:a16="http://schemas.microsoft.com/office/drawing/2014/main" id="{2B431952-7832-5D92-8022-105DC36378E4}"/>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14</a:t>
            </a:fld>
            <a:endParaRPr lang="en-US"/>
          </a:p>
        </p:txBody>
      </p:sp>
      <p:grpSp>
        <p:nvGrpSpPr>
          <p:cNvPr id="11" name="Group 10">
            <a:extLst>
              <a:ext uri="{FF2B5EF4-FFF2-40B4-BE49-F238E27FC236}">
                <a16:creationId xmlns:a16="http://schemas.microsoft.com/office/drawing/2014/main" id="{2FE6AB23-49CD-7816-741F-74F9D8D19881}"/>
              </a:ext>
            </a:extLst>
          </p:cNvPr>
          <p:cNvGrpSpPr/>
          <p:nvPr/>
        </p:nvGrpSpPr>
        <p:grpSpPr>
          <a:xfrm>
            <a:off x="548640" y="3675888"/>
            <a:ext cx="1893612" cy="1142064"/>
            <a:chOff x="517256" y="4048123"/>
            <a:chExt cx="1893612" cy="1142064"/>
          </a:xfrm>
        </p:grpSpPr>
        <p:grpSp>
          <p:nvGrpSpPr>
            <p:cNvPr id="12" name="Group 11">
              <a:extLst>
                <a:ext uri="{FF2B5EF4-FFF2-40B4-BE49-F238E27FC236}">
                  <a16:creationId xmlns:a16="http://schemas.microsoft.com/office/drawing/2014/main" id="{D76EC850-64C5-2F1F-351B-C4A174A1E9F0}"/>
                </a:ext>
              </a:extLst>
            </p:cNvPr>
            <p:cNvGrpSpPr/>
            <p:nvPr/>
          </p:nvGrpSpPr>
          <p:grpSpPr>
            <a:xfrm>
              <a:off x="517256" y="4048123"/>
              <a:ext cx="1236372" cy="1142064"/>
              <a:chOff x="517256" y="4048123"/>
              <a:chExt cx="1236372" cy="1142064"/>
            </a:xfrm>
          </p:grpSpPr>
          <p:sp>
            <p:nvSpPr>
              <p:cNvPr id="14" name="Rectangle 13">
                <a:extLst>
                  <a:ext uri="{FF2B5EF4-FFF2-40B4-BE49-F238E27FC236}">
                    <a16:creationId xmlns:a16="http://schemas.microsoft.com/office/drawing/2014/main" id="{BF315003-5A99-BA2D-C4CF-508008816AEF}"/>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F430105F-C0D9-2E47-C92D-A473C74EE9D5}"/>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1</a:t>
                </a:r>
              </a:p>
            </p:txBody>
          </p:sp>
        </p:grpSp>
        <p:sp>
          <p:nvSpPr>
            <p:cNvPr id="13" name="Right Arrow 12">
              <a:extLst>
                <a:ext uri="{FF2B5EF4-FFF2-40B4-BE49-F238E27FC236}">
                  <a16:creationId xmlns:a16="http://schemas.microsoft.com/office/drawing/2014/main" id="{163FDB1B-A3A1-D120-C6BB-E007F07862A7}"/>
                </a:ext>
              </a:extLst>
            </p:cNvPr>
            <p:cNvSpPr/>
            <p:nvPr/>
          </p:nvSpPr>
          <p:spPr>
            <a:xfrm rot="10800000">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16" name="Table 15">
            <a:extLst>
              <a:ext uri="{FF2B5EF4-FFF2-40B4-BE49-F238E27FC236}">
                <a16:creationId xmlns:a16="http://schemas.microsoft.com/office/drawing/2014/main" id="{87ADD123-4BCB-8F88-AA50-5C597A0FD80C}"/>
              </a:ext>
            </a:extLst>
          </p:cNvPr>
          <p:cNvGraphicFramePr>
            <a:graphicFrameLocks noGrp="1"/>
          </p:cNvGraphicFramePr>
          <p:nvPr/>
        </p:nvGraphicFramePr>
        <p:xfrm>
          <a:off x="705286" y="4212281"/>
          <a:ext cx="915428" cy="45238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52385">
                <a:tc>
                  <a:txBody>
                    <a:bodyPr/>
                    <a:lstStyle/>
                    <a:p>
                      <a:pPr algn="ctr"/>
                      <a:r>
                        <a:rPr lang="en-US" sz="2000" b="0">
                          <a:solidFill>
                            <a:schemeClr val="tx1"/>
                          </a:solidFill>
                          <a:latin typeface="Calibri" panose="020F0502020204030204" pitchFamily="34" charset="0"/>
                          <a:cs typeface="Calibri" panose="020F0502020204030204" pitchFamily="34" charset="0"/>
                        </a:rPr>
                        <a:t>Alice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23" name="Oval Callout 22">
            <a:extLst>
              <a:ext uri="{FF2B5EF4-FFF2-40B4-BE49-F238E27FC236}">
                <a16:creationId xmlns:a16="http://schemas.microsoft.com/office/drawing/2014/main" id="{D84B7857-0D84-4063-368E-D9A66A671913}"/>
              </a:ext>
            </a:extLst>
          </p:cNvPr>
          <p:cNvSpPr/>
          <p:nvPr/>
        </p:nvSpPr>
        <p:spPr>
          <a:xfrm>
            <a:off x="4419385" y="1511430"/>
            <a:ext cx="2511548" cy="730039"/>
          </a:xfrm>
          <a:prstGeom prst="wedgeEllipseCallout">
            <a:avLst>
              <a:gd name="adj1" fmla="val -19808"/>
              <a:gd name="adj2" fmla="val 6974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Direct update at switch and exit</a:t>
            </a:r>
          </a:p>
        </p:txBody>
      </p:sp>
      <p:sp>
        <p:nvSpPr>
          <p:cNvPr id="31" name="TextBox 30">
            <a:extLst>
              <a:ext uri="{FF2B5EF4-FFF2-40B4-BE49-F238E27FC236}">
                <a16:creationId xmlns:a16="http://schemas.microsoft.com/office/drawing/2014/main" id="{F5AB0A92-3C64-24B8-6D61-637DEC09FA1F}"/>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2" name="Rectangle 31">
            <a:extLst>
              <a:ext uri="{FF2B5EF4-FFF2-40B4-BE49-F238E27FC236}">
                <a16:creationId xmlns:a16="http://schemas.microsoft.com/office/drawing/2014/main" id="{3E912B8E-61D4-6A28-E712-1D5170D2CFE7}"/>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Table 32">
            <a:extLst>
              <a:ext uri="{FF2B5EF4-FFF2-40B4-BE49-F238E27FC236}">
                <a16:creationId xmlns:a16="http://schemas.microsoft.com/office/drawing/2014/main" id="{3A7AE78B-F1E1-20FB-BE87-77B1D7D0B3CA}"/>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51676">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51676">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51676">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51676">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51676">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grpSp>
        <p:nvGrpSpPr>
          <p:cNvPr id="26" name="Group 25">
            <a:extLst>
              <a:ext uri="{FF2B5EF4-FFF2-40B4-BE49-F238E27FC236}">
                <a16:creationId xmlns:a16="http://schemas.microsoft.com/office/drawing/2014/main" id="{B71D331A-CC6B-A4FD-7D27-6971534F07DD}"/>
              </a:ext>
            </a:extLst>
          </p:cNvPr>
          <p:cNvGrpSpPr/>
          <p:nvPr/>
        </p:nvGrpSpPr>
        <p:grpSpPr>
          <a:xfrm>
            <a:off x="8508376" y="1383678"/>
            <a:ext cx="3635986" cy="2487283"/>
            <a:chOff x="7524337" y="1540498"/>
            <a:chExt cx="3635986" cy="2487283"/>
          </a:xfrm>
        </p:grpSpPr>
        <p:grpSp>
          <p:nvGrpSpPr>
            <p:cNvPr id="24" name="Group 23">
              <a:extLst>
                <a:ext uri="{FF2B5EF4-FFF2-40B4-BE49-F238E27FC236}">
                  <a16:creationId xmlns:a16="http://schemas.microsoft.com/office/drawing/2014/main" id="{2F39ECB5-C36A-6FFE-8DA4-22A741C3ADD8}"/>
                </a:ext>
              </a:extLst>
            </p:cNvPr>
            <p:cNvGrpSpPr/>
            <p:nvPr/>
          </p:nvGrpSpPr>
          <p:grpSpPr>
            <a:xfrm>
              <a:off x="7524337" y="3121702"/>
              <a:ext cx="3635986" cy="906079"/>
              <a:chOff x="7524337" y="3121702"/>
              <a:chExt cx="3635986" cy="906079"/>
            </a:xfrm>
          </p:grpSpPr>
          <p:sp>
            <p:nvSpPr>
              <p:cNvPr id="3" name="Oval Callout 2">
                <a:extLst>
                  <a:ext uri="{FF2B5EF4-FFF2-40B4-BE49-F238E27FC236}">
                    <a16:creationId xmlns:a16="http://schemas.microsoft.com/office/drawing/2014/main" id="{ADC9A04A-DE23-A2E3-73AD-E2A40A62C4FC}"/>
                  </a:ext>
                </a:extLst>
              </p:cNvPr>
              <p:cNvSpPr/>
              <p:nvPr/>
            </p:nvSpPr>
            <p:spPr>
              <a:xfrm>
                <a:off x="10211011" y="3121702"/>
                <a:ext cx="949312" cy="730039"/>
              </a:xfrm>
              <a:prstGeom prst="wedgeEllipseCallout">
                <a:avLst>
                  <a:gd name="adj1" fmla="val -77859"/>
                  <a:gd name="adj2" fmla="val 6445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Stale</a:t>
                </a:r>
              </a:p>
            </p:txBody>
          </p:sp>
          <p:sp>
            <p:nvSpPr>
              <p:cNvPr id="19" name="Frame 18">
                <a:extLst>
                  <a:ext uri="{FF2B5EF4-FFF2-40B4-BE49-F238E27FC236}">
                    <a16:creationId xmlns:a16="http://schemas.microsoft.com/office/drawing/2014/main" id="{C6ED03DE-F63F-9437-91DD-AA364C87E5AF}"/>
                  </a:ext>
                </a:extLst>
              </p:cNvPr>
              <p:cNvSpPr/>
              <p:nvPr/>
            </p:nvSpPr>
            <p:spPr>
              <a:xfrm>
                <a:off x="7524337" y="3585821"/>
                <a:ext cx="2686674" cy="441960"/>
              </a:xfrm>
              <a:prstGeom prst="fram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5" name="Oval Callout 24">
              <a:extLst>
                <a:ext uri="{FF2B5EF4-FFF2-40B4-BE49-F238E27FC236}">
                  <a16:creationId xmlns:a16="http://schemas.microsoft.com/office/drawing/2014/main" id="{031EEA86-E6F7-FC93-DEA9-1035B8F1E265}"/>
                </a:ext>
              </a:extLst>
            </p:cNvPr>
            <p:cNvSpPr/>
            <p:nvPr/>
          </p:nvSpPr>
          <p:spPr>
            <a:xfrm>
              <a:off x="9210588" y="1540498"/>
              <a:ext cx="1609812" cy="730039"/>
            </a:xfrm>
            <a:prstGeom prst="wedgeEllipseCallout">
              <a:avLst>
                <a:gd name="adj1" fmla="val -54658"/>
                <a:gd name="adj2" fmla="val 768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Bypass</a:t>
              </a:r>
            </a:p>
          </p:txBody>
        </p:sp>
      </p:grpSp>
      <p:sp>
        <p:nvSpPr>
          <p:cNvPr id="35" name="TextBox 34">
            <a:extLst>
              <a:ext uri="{FF2B5EF4-FFF2-40B4-BE49-F238E27FC236}">
                <a16:creationId xmlns:a16="http://schemas.microsoft.com/office/drawing/2014/main" id="{52864033-F5DA-6408-8BE1-A402EEC7A159}"/>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spTree>
    <p:extLst>
      <p:ext uri="{BB962C8B-B14F-4D97-AF65-F5344CB8AC3E}">
        <p14:creationId xmlns:p14="http://schemas.microsoft.com/office/powerpoint/2010/main" val="2947923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CBE8-1B2E-770D-BB2B-1EF7FF1B3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82567-DFA3-F09D-3165-F342B710CE1C}"/>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#2: Migrate to server</a:t>
            </a:r>
          </a:p>
        </p:txBody>
      </p:sp>
      <p:sp>
        <p:nvSpPr>
          <p:cNvPr id="4" name="Slide Number Placeholder 3">
            <a:extLst>
              <a:ext uri="{FF2B5EF4-FFF2-40B4-BE49-F238E27FC236}">
                <a16:creationId xmlns:a16="http://schemas.microsoft.com/office/drawing/2014/main" id="{D793258A-4A08-3026-1987-A780E4885484}"/>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15</a:t>
            </a:fld>
            <a:endParaRPr lang="en-US"/>
          </a:p>
        </p:txBody>
      </p:sp>
      <p:sp>
        <p:nvSpPr>
          <p:cNvPr id="7" name="Rectangle 6">
            <a:extLst>
              <a:ext uri="{FF2B5EF4-FFF2-40B4-BE49-F238E27FC236}">
                <a16:creationId xmlns:a16="http://schemas.microsoft.com/office/drawing/2014/main" id="{A33AC4D2-CED4-8692-0E4C-B1093B949076}"/>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04C731AD-5ACF-B2C1-B9E9-B9C8B2C80D40}"/>
              </a:ext>
            </a:extLst>
          </p:cNvPr>
          <p:cNvGraphicFramePr>
            <a:graphicFrameLocks noGrp="1"/>
          </p:cNvGraphicFramePr>
          <p:nvPr/>
        </p:nvGraphicFramePr>
        <p:xfrm>
          <a:off x="2992499" y="3482568"/>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grpSp>
        <p:nvGrpSpPr>
          <p:cNvPr id="11" name="Group 10">
            <a:extLst>
              <a:ext uri="{FF2B5EF4-FFF2-40B4-BE49-F238E27FC236}">
                <a16:creationId xmlns:a16="http://schemas.microsoft.com/office/drawing/2014/main" id="{25DA801A-2F14-F4D6-5293-A55A8E9CB9D3}"/>
              </a:ext>
            </a:extLst>
          </p:cNvPr>
          <p:cNvGrpSpPr/>
          <p:nvPr/>
        </p:nvGrpSpPr>
        <p:grpSpPr>
          <a:xfrm>
            <a:off x="548640" y="3673469"/>
            <a:ext cx="1893612" cy="1142064"/>
            <a:chOff x="517256" y="4048123"/>
            <a:chExt cx="1893612" cy="1142064"/>
          </a:xfrm>
        </p:grpSpPr>
        <p:grpSp>
          <p:nvGrpSpPr>
            <p:cNvPr id="12" name="Group 11">
              <a:extLst>
                <a:ext uri="{FF2B5EF4-FFF2-40B4-BE49-F238E27FC236}">
                  <a16:creationId xmlns:a16="http://schemas.microsoft.com/office/drawing/2014/main" id="{AE877BC5-6CF5-11B9-1427-5B43CF901BFD}"/>
                </a:ext>
              </a:extLst>
            </p:cNvPr>
            <p:cNvGrpSpPr/>
            <p:nvPr/>
          </p:nvGrpSpPr>
          <p:grpSpPr>
            <a:xfrm>
              <a:off x="517256" y="4048123"/>
              <a:ext cx="1236372" cy="1142064"/>
              <a:chOff x="517256" y="4048123"/>
              <a:chExt cx="1236372" cy="1142064"/>
            </a:xfrm>
          </p:grpSpPr>
          <p:sp>
            <p:nvSpPr>
              <p:cNvPr id="14" name="Rectangle 13">
                <a:extLst>
                  <a:ext uri="{FF2B5EF4-FFF2-40B4-BE49-F238E27FC236}">
                    <a16:creationId xmlns:a16="http://schemas.microsoft.com/office/drawing/2014/main" id="{810DCA7E-47A5-1F90-7403-B3ECD0EEB760}"/>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A637E363-C542-38A9-296E-1B4FF803A6A2}"/>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sp>
          <p:nvSpPr>
            <p:cNvPr id="13" name="Right Arrow 12">
              <a:extLst>
                <a:ext uri="{FF2B5EF4-FFF2-40B4-BE49-F238E27FC236}">
                  <a16:creationId xmlns:a16="http://schemas.microsoft.com/office/drawing/2014/main" id="{A78D0C93-0AAF-75A8-4CD2-7A83241CC5CD}"/>
                </a:ext>
              </a:extLst>
            </p:cNvPr>
            <p:cNvSpPr/>
            <p:nvPr/>
          </p:nvSpPr>
          <p:spPr>
            <a:xfrm>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16" name="Table 15">
            <a:extLst>
              <a:ext uri="{FF2B5EF4-FFF2-40B4-BE49-F238E27FC236}">
                <a16:creationId xmlns:a16="http://schemas.microsoft.com/office/drawing/2014/main" id="{53659729-DFF2-D9B1-8A74-81EEEFC49838}"/>
              </a:ext>
            </a:extLst>
          </p:cNvPr>
          <p:cNvGraphicFramePr>
            <a:graphicFrameLocks noGrp="1"/>
          </p:cNvGraphicFramePr>
          <p:nvPr/>
        </p:nvGraphicFramePr>
        <p:xfrm>
          <a:off x="709587"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21" name="Group 20">
            <a:extLst>
              <a:ext uri="{FF2B5EF4-FFF2-40B4-BE49-F238E27FC236}">
                <a16:creationId xmlns:a16="http://schemas.microsoft.com/office/drawing/2014/main" id="{2BDF4EF8-A326-EA98-BDCE-688C256A05DB}"/>
              </a:ext>
            </a:extLst>
          </p:cNvPr>
          <p:cNvGrpSpPr/>
          <p:nvPr/>
        </p:nvGrpSpPr>
        <p:grpSpPr>
          <a:xfrm>
            <a:off x="3717650" y="5156776"/>
            <a:ext cx="1236372" cy="1142064"/>
            <a:chOff x="517256" y="4048123"/>
            <a:chExt cx="1236372" cy="1142064"/>
          </a:xfrm>
        </p:grpSpPr>
        <p:sp>
          <p:nvSpPr>
            <p:cNvPr id="27" name="Rectangle 26">
              <a:extLst>
                <a:ext uri="{FF2B5EF4-FFF2-40B4-BE49-F238E27FC236}">
                  <a16:creationId xmlns:a16="http://schemas.microsoft.com/office/drawing/2014/main" id="{6898C384-090C-CAA6-23ED-8F56E41EEE65}"/>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F9886E76-09A5-BF8D-E415-7618F6B3933B}"/>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graphicFrame>
        <p:nvGraphicFramePr>
          <p:cNvPr id="29" name="Table 28">
            <a:extLst>
              <a:ext uri="{FF2B5EF4-FFF2-40B4-BE49-F238E27FC236}">
                <a16:creationId xmlns:a16="http://schemas.microsoft.com/office/drawing/2014/main" id="{7550E729-7821-0A42-468D-468055B6E4C2}"/>
              </a:ext>
            </a:extLst>
          </p:cNvPr>
          <p:cNvGraphicFramePr>
            <a:graphicFrameLocks noGrp="1"/>
          </p:cNvGraphicFramePr>
          <p:nvPr/>
        </p:nvGraphicFramePr>
        <p:xfrm>
          <a:off x="3898862" y="568164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31" name="TextBox 30">
            <a:extLst>
              <a:ext uri="{FF2B5EF4-FFF2-40B4-BE49-F238E27FC236}">
                <a16:creationId xmlns:a16="http://schemas.microsoft.com/office/drawing/2014/main" id="{C2047921-02CC-B742-9E46-2494F4100CD8}"/>
              </a:ext>
            </a:extLst>
          </p:cNvPr>
          <p:cNvSpPr txBox="1"/>
          <p:nvPr/>
        </p:nvSpPr>
        <p:spPr>
          <a:xfrm>
            <a:off x="859816" y="1449962"/>
            <a:ext cx="9980904" cy="461665"/>
          </a:xfrm>
          <a:prstGeom prst="rect">
            <a:avLst/>
          </a:prstGeom>
          <a:noFill/>
        </p:spPr>
        <p:txBody>
          <a:bodyPr wrap="square" rtlCol="0">
            <a:spAutoFit/>
          </a:bodyPr>
          <a:lstStyle/>
          <a:p>
            <a:r>
              <a:rPr lang="en-US" sz="2400">
                <a:solidFill>
                  <a:srgbClr val="0070C0"/>
                </a:solidFill>
                <a:latin typeface="Calibri" panose="020F0502020204030204" pitchFamily="34" charset="0"/>
                <a:cs typeface="Calibri" panose="020F0502020204030204" pitchFamily="34" charset="0"/>
              </a:rPr>
              <a:t>Clear Bob’s state due to a popularity change or a complex operation</a:t>
            </a:r>
          </a:p>
        </p:txBody>
      </p:sp>
      <p:sp>
        <p:nvSpPr>
          <p:cNvPr id="32" name="TextBox 31">
            <a:extLst>
              <a:ext uri="{FF2B5EF4-FFF2-40B4-BE49-F238E27FC236}">
                <a16:creationId xmlns:a16="http://schemas.microsoft.com/office/drawing/2014/main" id="{58F0B135-2927-0F83-9D9D-29FF7835B457}"/>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3" name="Rectangle 32">
            <a:extLst>
              <a:ext uri="{FF2B5EF4-FFF2-40B4-BE49-F238E27FC236}">
                <a16:creationId xmlns:a16="http://schemas.microsoft.com/office/drawing/2014/main" id="{B33D10DE-8B17-F26F-DF0C-61A2F6332422}"/>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a:extLst>
              <a:ext uri="{FF2B5EF4-FFF2-40B4-BE49-F238E27FC236}">
                <a16:creationId xmlns:a16="http://schemas.microsoft.com/office/drawing/2014/main" id="{8D022B51-9B01-7DB7-EE17-B9059459D765}"/>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0661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0661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0661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0661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0661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5" name="TextBox 34">
            <a:extLst>
              <a:ext uri="{FF2B5EF4-FFF2-40B4-BE49-F238E27FC236}">
                <a16:creationId xmlns:a16="http://schemas.microsoft.com/office/drawing/2014/main" id="{56106FA0-90ED-4FEF-FA97-DD1EC5546462}"/>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sp>
        <p:nvSpPr>
          <p:cNvPr id="37" name="TextBox 36">
            <a:extLst>
              <a:ext uri="{FF2B5EF4-FFF2-40B4-BE49-F238E27FC236}">
                <a16:creationId xmlns:a16="http://schemas.microsoft.com/office/drawing/2014/main" id="{F3959B9A-1707-54A4-E08F-203765C287AA}"/>
              </a:ext>
            </a:extLst>
          </p:cNvPr>
          <p:cNvSpPr txBox="1"/>
          <p:nvPr/>
        </p:nvSpPr>
        <p:spPr>
          <a:xfrm>
            <a:off x="4483871" y="5757196"/>
            <a:ext cx="330419"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p:txBody>
      </p:sp>
      <p:grpSp>
        <p:nvGrpSpPr>
          <p:cNvPr id="43" name="Group 42">
            <a:extLst>
              <a:ext uri="{FF2B5EF4-FFF2-40B4-BE49-F238E27FC236}">
                <a16:creationId xmlns:a16="http://schemas.microsoft.com/office/drawing/2014/main" id="{492688E7-FFCA-E2D6-DACB-C66F09100272}"/>
              </a:ext>
            </a:extLst>
          </p:cNvPr>
          <p:cNvGrpSpPr/>
          <p:nvPr/>
        </p:nvGrpSpPr>
        <p:grpSpPr>
          <a:xfrm>
            <a:off x="6277028" y="3673469"/>
            <a:ext cx="1893612" cy="1142064"/>
            <a:chOff x="517256" y="4048123"/>
            <a:chExt cx="1893612" cy="1142064"/>
          </a:xfrm>
        </p:grpSpPr>
        <p:grpSp>
          <p:nvGrpSpPr>
            <p:cNvPr id="44" name="Group 43">
              <a:extLst>
                <a:ext uri="{FF2B5EF4-FFF2-40B4-BE49-F238E27FC236}">
                  <a16:creationId xmlns:a16="http://schemas.microsoft.com/office/drawing/2014/main" id="{64056FFB-7D84-97D0-0C18-4535BBE1D771}"/>
                </a:ext>
              </a:extLst>
            </p:cNvPr>
            <p:cNvGrpSpPr/>
            <p:nvPr/>
          </p:nvGrpSpPr>
          <p:grpSpPr>
            <a:xfrm>
              <a:off x="517256" y="4048123"/>
              <a:ext cx="1236372" cy="1142064"/>
              <a:chOff x="517256" y="4048123"/>
              <a:chExt cx="1236372" cy="1142064"/>
            </a:xfrm>
          </p:grpSpPr>
          <p:sp>
            <p:nvSpPr>
              <p:cNvPr id="46" name="Rectangle 45">
                <a:extLst>
                  <a:ext uri="{FF2B5EF4-FFF2-40B4-BE49-F238E27FC236}">
                    <a16:creationId xmlns:a16="http://schemas.microsoft.com/office/drawing/2014/main" id="{05E9B7F5-7F83-09A7-0A29-9C6314BCAB46}"/>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FA88D2C8-08F4-F6D9-86AA-1B68E7A4B319}"/>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sp>
          <p:nvSpPr>
            <p:cNvPr id="45" name="Right Arrow 44">
              <a:extLst>
                <a:ext uri="{FF2B5EF4-FFF2-40B4-BE49-F238E27FC236}">
                  <a16:creationId xmlns:a16="http://schemas.microsoft.com/office/drawing/2014/main" id="{AAEA57D2-15D7-3689-3BB7-D52D311D1EEA}"/>
                </a:ext>
              </a:extLst>
            </p:cNvPr>
            <p:cNvSpPr/>
            <p:nvPr/>
          </p:nvSpPr>
          <p:spPr>
            <a:xfrm>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48" name="Table 47">
            <a:extLst>
              <a:ext uri="{FF2B5EF4-FFF2-40B4-BE49-F238E27FC236}">
                <a16:creationId xmlns:a16="http://schemas.microsoft.com/office/drawing/2014/main" id="{699CBD58-3804-85D2-D4FA-C5A27FF350D9}"/>
              </a:ext>
            </a:extLst>
          </p:cNvPr>
          <p:cNvGraphicFramePr>
            <a:graphicFrameLocks noGrp="1"/>
          </p:cNvGraphicFramePr>
          <p:nvPr/>
        </p:nvGraphicFramePr>
        <p:xfrm>
          <a:off x="6433674"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49" name="TextBox 48">
            <a:extLst>
              <a:ext uri="{FF2B5EF4-FFF2-40B4-BE49-F238E27FC236}">
                <a16:creationId xmlns:a16="http://schemas.microsoft.com/office/drawing/2014/main" id="{5FE499E1-FB59-C2AD-5A52-95CB198F52A6}"/>
              </a:ext>
            </a:extLst>
          </p:cNvPr>
          <p:cNvSpPr txBox="1"/>
          <p:nvPr/>
        </p:nvSpPr>
        <p:spPr>
          <a:xfrm>
            <a:off x="3109588" y="6385161"/>
            <a:ext cx="3299521" cy="400110"/>
          </a:xfrm>
          <a:prstGeom prst="rect">
            <a:avLst/>
          </a:prstGeom>
          <a:noFill/>
        </p:spPr>
        <p:txBody>
          <a:bodyPr wrap="square">
            <a:spAutoFit/>
          </a:bodyPr>
          <a:lstStyle/>
          <a:p>
            <a:r>
              <a:rPr lang="en-US" sz="2000">
                <a:solidFill>
                  <a:srgbClr val="0070C0"/>
                </a:solidFill>
                <a:latin typeface="Calibri Light" panose="020F0302020204030204" pitchFamily="34" charset="0"/>
                <a:cs typeface="Calibri Light" panose="020F0302020204030204" pitchFamily="34" charset="0"/>
              </a:rPr>
              <a:t>State travels with packet</a:t>
            </a:r>
          </a:p>
        </p:txBody>
      </p:sp>
      <p:grpSp>
        <p:nvGrpSpPr>
          <p:cNvPr id="51" name="Group 50">
            <a:extLst>
              <a:ext uri="{FF2B5EF4-FFF2-40B4-BE49-F238E27FC236}">
                <a16:creationId xmlns:a16="http://schemas.microsoft.com/office/drawing/2014/main" id="{3DE2A864-CA4D-FC71-B7DA-BF2A19B71955}"/>
              </a:ext>
            </a:extLst>
          </p:cNvPr>
          <p:cNvGrpSpPr/>
          <p:nvPr/>
        </p:nvGrpSpPr>
        <p:grpSpPr>
          <a:xfrm>
            <a:off x="9233527" y="5156776"/>
            <a:ext cx="1236372" cy="1142064"/>
            <a:chOff x="517256" y="4048123"/>
            <a:chExt cx="1236372" cy="1142064"/>
          </a:xfrm>
        </p:grpSpPr>
        <p:sp>
          <p:nvSpPr>
            <p:cNvPr id="53" name="Rectangle 52">
              <a:extLst>
                <a:ext uri="{FF2B5EF4-FFF2-40B4-BE49-F238E27FC236}">
                  <a16:creationId xmlns:a16="http://schemas.microsoft.com/office/drawing/2014/main" id="{A3E340F0-CB97-832D-D4C3-B3CDFE88FC24}"/>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TextBox 53">
              <a:extLst>
                <a:ext uri="{FF2B5EF4-FFF2-40B4-BE49-F238E27FC236}">
                  <a16:creationId xmlns:a16="http://schemas.microsoft.com/office/drawing/2014/main" id="{A21B3B73-00B4-D0CE-66C0-9CBC1A48AE9B}"/>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graphicFrame>
        <p:nvGraphicFramePr>
          <p:cNvPr id="55" name="Table 54">
            <a:extLst>
              <a:ext uri="{FF2B5EF4-FFF2-40B4-BE49-F238E27FC236}">
                <a16:creationId xmlns:a16="http://schemas.microsoft.com/office/drawing/2014/main" id="{C30F9BA1-65EA-65D0-4459-58BE0E5E6539}"/>
              </a:ext>
            </a:extLst>
          </p:cNvPr>
          <p:cNvGraphicFramePr>
            <a:graphicFrameLocks noGrp="1"/>
          </p:cNvGraphicFramePr>
          <p:nvPr/>
        </p:nvGraphicFramePr>
        <p:xfrm>
          <a:off x="9414739" y="568164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59" name="TextBox 58">
            <a:extLst>
              <a:ext uri="{FF2B5EF4-FFF2-40B4-BE49-F238E27FC236}">
                <a16:creationId xmlns:a16="http://schemas.microsoft.com/office/drawing/2014/main" id="{DF88CB9E-5E29-BF62-F4F6-AF5529702108}"/>
              </a:ext>
            </a:extLst>
          </p:cNvPr>
          <p:cNvSpPr txBox="1"/>
          <p:nvPr/>
        </p:nvSpPr>
        <p:spPr>
          <a:xfrm>
            <a:off x="10316028" y="3879339"/>
            <a:ext cx="404668"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57" name="TextBox 56">
            <a:extLst>
              <a:ext uri="{FF2B5EF4-FFF2-40B4-BE49-F238E27FC236}">
                <a16:creationId xmlns:a16="http://schemas.microsoft.com/office/drawing/2014/main" id="{238C3A29-E987-4B4D-198E-800EF6CC37CA}"/>
              </a:ext>
            </a:extLst>
          </p:cNvPr>
          <p:cNvSpPr txBox="1"/>
          <p:nvPr/>
        </p:nvSpPr>
        <p:spPr>
          <a:xfrm>
            <a:off x="9967621" y="5712419"/>
            <a:ext cx="43241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p:txBody>
      </p:sp>
      <p:grpSp>
        <p:nvGrpSpPr>
          <p:cNvPr id="61" name="Group 60">
            <a:extLst>
              <a:ext uri="{FF2B5EF4-FFF2-40B4-BE49-F238E27FC236}">
                <a16:creationId xmlns:a16="http://schemas.microsoft.com/office/drawing/2014/main" id="{0337A592-0EE7-326C-DD0B-0D282CC91D79}"/>
              </a:ext>
            </a:extLst>
          </p:cNvPr>
          <p:cNvGrpSpPr/>
          <p:nvPr/>
        </p:nvGrpSpPr>
        <p:grpSpPr>
          <a:xfrm>
            <a:off x="8508376" y="3360999"/>
            <a:ext cx="3635986" cy="906079"/>
            <a:chOff x="7524337" y="3121702"/>
            <a:chExt cx="3635986" cy="906079"/>
          </a:xfrm>
        </p:grpSpPr>
        <p:sp>
          <p:nvSpPr>
            <p:cNvPr id="63" name="Oval Callout 62">
              <a:extLst>
                <a:ext uri="{FF2B5EF4-FFF2-40B4-BE49-F238E27FC236}">
                  <a16:creationId xmlns:a16="http://schemas.microsoft.com/office/drawing/2014/main" id="{5C5B7B49-E10D-0A73-465C-05C76CC876AB}"/>
                </a:ext>
              </a:extLst>
            </p:cNvPr>
            <p:cNvSpPr/>
            <p:nvPr/>
          </p:nvSpPr>
          <p:spPr>
            <a:xfrm>
              <a:off x="10211011" y="3121702"/>
              <a:ext cx="949312" cy="730039"/>
            </a:xfrm>
            <a:prstGeom prst="wedgeEllipseCallout">
              <a:avLst>
                <a:gd name="adj1" fmla="val -77859"/>
                <a:gd name="adj2" fmla="val 6445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Valid</a:t>
              </a:r>
            </a:p>
          </p:txBody>
        </p:sp>
        <p:sp>
          <p:nvSpPr>
            <p:cNvPr id="64" name="Frame 63">
              <a:extLst>
                <a:ext uri="{FF2B5EF4-FFF2-40B4-BE49-F238E27FC236}">
                  <a16:creationId xmlns:a16="http://schemas.microsoft.com/office/drawing/2014/main" id="{63AA010D-D369-CE20-5344-DDA8F8FAA5D8}"/>
                </a:ext>
              </a:extLst>
            </p:cNvPr>
            <p:cNvSpPr/>
            <p:nvPr/>
          </p:nvSpPr>
          <p:spPr>
            <a:xfrm>
              <a:off x="7524337" y="3585821"/>
              <a:ext cx="2686674" cy="441960"/>
            </a:xfrm>
            <a:prstGeom prst="fram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126826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0" presetClass="path" presetSubtype="0" accel="50000" decel="50000" fill="hold" grpId="0" nodeType="withEffect">
                                  <p:stCondLst>
                                    <p:cond delay="0"/>
                                  </p:stCondLst>
                                  <p:childTnLst>
                                    <p:animMotion origin="layout" path="M 0.02708 -0.16157 C 0.0151 -0.09421 0.00339 -0.02685 0 0 " pathEditMode="relative" rAng="0" ptsTypes="AA">
                                      <p:cBhvr>
                                        <p:cTn id="24" dur="2000" fill="hold"/>
                                        <p:tgtEl>
                                          <p:spTgt spid="37"/>
                                        </p:tgtEl>
                                        <p:attrNameLst>
                                          <p:attrName>ppt_x</p:attrName>
                                          <p:attrName>ppt_y</p:attrName>
                                        </p:attrNameLst>
                                      </p:cBhvr>
                                      <p:rCtr x="-1354" y="8079"/>
                                    </p:animMotion>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21"/>
                                        </p:tgtEl>
                                        <p:attrNameLst>
                                          <p:attrName>style.visibility</p:attrName>
                                        </p:attrNameLst>
                                      </p:cBhvr>
                                      <p:to>
                                        <p:strVal val="hidden"/>
                                      </p:to>
                                    </p:set>
                                  </p:childTnLst>
                                </p:cTn>
                              </p:par>
                              <p:par>
                                <p:cTn id="35" presetID="1" presetClass="exit" presetSubtype="0" fill="hold" grpId="2" nodeType="withEffect">
                                  <p:stCondLst>
                                    <p:cond delay="0"/>
                                  </p:stCondLst>
                                  <p:childTnLst>
                                    <p:set>
                                      <p:cBhvr>
                                        <p:cTn id="36" dur="1" fill="hold">
                                          <p:stCondLst>
                                            <p:cond delay="0"/>
                                          </p:stCondLst>
                                        </p:cTn>
                                        <p:tgtEl>
                                          <p:spTgt spid="37"/>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9"/>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4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48"/>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4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0" presetClass="path" presetSubtype="0" accel="50000" decel="50000" fill="hold" grpId="1" nodeType="withEffect">
                                  <p:stCondLst>
                                    <p:cond delay="0"/>
                                  </p:stCondLst>
                                  <p:childTnLst>
                                    <p:animMotion origin="layout" path="M 0 0 L 0.02604 -0.27153 " pathEditMode="relative" ptsTypes="AA">
                                      <p:cBhvr>
                                        <p:cTn id="56" dur="2000" fill="hold"/>
                                        <p:tgtEl>
                                          <p:spTgt spid="57"/>
                                        </p:tgtEl>
                                        <p:attrNameLst>
                                          <p:attrName>ppt_x</p:attrName>
                                          <p:attrName>ppt_y</p:attrName>
                                        </p:attrNameLst>
                                      </p:cBhvr>
                                    </p:animMotion>
                                  </p:childTnLst>
                                </p:cTn>
                              </p:par>
                            </p:childTnLst>
                          </p:cTn>
                        </p:par>
                        <p:par>
                          <p:cTn id="57" fill="hold">
                            <p:stCondLst>
                              <p:cond delay="2000"/>
                            </p:stCondLst>
                            <p:childTnLst>
                              <p:par>
                                <p:cTn id="58" presetID="1" presetClass="exit" presetSubtype="0" fill="hold" grpId="0" nodeType="afterEffect">
                                  <p:stCondLst>
                                    <p:cond delay="0"/>
                                  </p:stCondLst>
                                  <p:childTnLst>
                                    <p:set>
                                      <p:cBhvr>
                                        <p:cTn id="59" dur="1" fill="hold">
                                          <p:stCondLst>
                                            <p:cond delay="0"/>
                                          </p:stCondLst>
                                        </p:cTn>
                                        <p:tgtEl>
                                          <p:spTgt spid="59"/>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37" grpId="2"/>
      <p:bldP spid="49" grpId="0"/>
      <p:bldP spid="49" grpId="1"/>
      <p:bldP spid="59" grpId="0"/>
      <p:bldP spid="57" grpId="0"/>
      <p:bldP spid="5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86A7-8B77-D349-243C-68297EDCC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CBD16-83C1-127E-5F7C-CEBC283DAE53}"/>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#2: Migrate to server</a:t>
            </a:r>
          </a:p>
        </p:txBody>
      </p:sp>
      <p:sp>
        <p:nvSpPr>
          <p:cNvPr id="4" name="Slide Number Placeholder 3">
            <a:extLst>
              <a:ext uri="{FF2B5EF4-FFF2-40B4-BE49-F238E27FC236}">
                <a16:creationId xmlns:a16="http://schemas.microsoft.com/office/drawing/2014/main" id="{25C1EA53-BDF7-C31F-865F-796AD2233519}"/>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16</a:t>
            </a:fld>
            <a:endParaRPr lang="en-US"/>
          </a:p>
        </p:txBody>
      </p:sp>
      <p:sp>
        <p:nvSpPr>
          <p:cNvPr id="7" name="Rectangle 6">
            <a:extLst>
              <a:ext uri="{FF2B5EF4-FFF2-40B4-BE49-F238E27FC236}">
                <a16:creationId xmlns:a16="http://schemas.microsoft.com/office/drawing/2014/main" id="{D18613EA-6E6C-6369-61D1-FAED799E8E47}"/>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E9EB93D3-16DC-E904-2657-6DB960940DFF}"/>
              </a:ext>
            </a:extLst>
          </p:cNvPr>
          <p:cNvGraphicFramePr>
            <a:graphicFrameLocks noGrp="1"/>
          </p:cNvGraphicFramePr>
          <p:nvPr/>
        </p:nvGraphicFramePr>
        <p:xfrm>
          <a:off x="2992499" y="3482568"/>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grpSp>
        <p:nvGrpSpPr>
          <p:cNvPr id="11" name="Group 10">
            <a:extLst>
              <a:ext uri="{FF2B5EF4-FFF2-40B4-BE49-F238E27FC236}">
                <a16:creationId xmlns:a16="http://schemas.microsoft.com/office/drawing/2014/main" id="{4ABA179B-B47B-8FCD-C49D-D559BD5AEDDD}"/>
              </a:ext>
            </a:extLst>
          </p:cNvPr>
          <p:cNvGrpSpPr/>
          <p:nvPr/>
        </p:nvGrpSpPr>
        <p:grpSpPr>
          <a:xfrm>
            <a:off x="548640" y="3673469"/>
            <a:ext cx="1893612" cy="1142064"/>
            <a:chOff x="517256" y="4048123"/>
            <a:chExt cx="1893612" cy="1142064"/>
          </a:xfrm>
        </p:grpSpPr>
        <p:grpSp>
          <p:nvGrpSpPr>
            <p:cNvPr id="12" name="Group 11">
              <a:extLst>
                <a:ext uri="{FF2B5EF4-FFF2-40B4-BE49-F238E27FC236}">
                  <a16:creationId xmlns:a16="http://schemas.microsoft.com/office/drawing/2014/main" id="{37EA755C-759E-563A-A4A1-9302829C019E}"/>
                </a:ext>
              </a:extLst>
            </p:cNvPr>
            <p:cNvGrpSpPr/>
            <p:nvPr/>
          </p:nvGrpSpPr>
          <p:grpSpPr>
            <a:xfrm>
              <a:off x="517256" y="4048123"/>
              <a:ext cx="1236372" cy="1142064"/>
              <a:chOff x="517256" y="4048123"/>
              <a:chExt cx="1236372" cy="1142064"/>
            </a:xfrm>
          </p:grpSpPr>
          <p:sp>
            <p:nvSpPr>
              <p:cNvPr id="14" name="Rectangle 13">
                <a:extLst>
                  <a:ext uri="{FF2B5EF4-FFF2-40B4-BE49-F238E27FC236}">
                    <a16:creationId xmlns:a16="http://schemas.microsoft.com/office/drawing/2014/main" id="{DD4981C3-86D8-2417-FD10-6436CD042D5F}"/>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1E740896-F334-D8DB-85D5-33EE28B08955}"/>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sp>
          <p:nvSpPr>
            <p:cNvPr id="13" name="Right Arrow 12">
              <a:extLst>
                <a:ext uri="{FF2B5EF4-FFF2-40B4-BE49-F238E27FC236}">
                  <a16:creationId xmlns:a16="http://schemas.microsoft.com/office/drawing/2014/main" id="{0FBB7BD9-31EF-25BB-9F79-D9D45D00D16F}"/>
                </a:ext>
              </a:extLst>
            </p:cNvPr>
            <p:cNvSpPr/>
            <p:nvPr/>
          </p:nvSpPr>
          <p:spPr>
            <a:xfrm rot="10800000">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16" name="Table 15">
            <a:extLst>
              <a:ext uri="{FF2B5EF4-FFF2-40B4-BE49-F238E27FC236}">
                <a16:creationId xmlns:a16="http://schemas.microsoft.com/office/drawing/2014/main" id="{B73A5BFB-EC80-B34E-170C-6A9E9AA6BDA3}"/>
              </a:ext>
            </a:extLst>
          </p:cNvPr>
          <p:cNvGraphicFramePr>
            <a:graphicFrameLocks noGrp="1"/>
          </p:cNvGraphicFramePr>
          <p:nvPr/>
        </p:nvGraphicFramePr>
        <p:xfrm>
          <a:off x="709587"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21" name="Group 20">
            <a:extLst>
              <a:ext uri="{FF2B5EF4-FFF2-40B4-BE49-F238E27FC236}">
                <a16:creationId xmlns:a16="http://schemas.microsoft.com/office/drawing/2014/main" id="{F9C689C4-F8B9-3C93-2AD6-CA121F5A6292}"/>
              </a:ext>
            </a:extLst>
          </p:cNvPr>
          <p:cNvGrpSpPr/>
          <p:nvPr/>
        </p:nvGrpSpPr>
        <p:grpSpPr>
          <a:xfrm>
            <a:off x="3717650" y="5156776"/>
            <a:ext cx="1236372" cy="1142064"/>
            <a:chOff x="517256" y="4048123"/>
            <a:chExt cx="1236372" cy="1142064"/>
          </a:xfrm>
        </p:grpSpPr>
        <p:sp>
          <p:nvSpPr>
            <p:cNvPr id="27" name="Rectangle 26">
              <a:extLst>
                <a:ext uri="{FF2B5EF4-FFF2-40B4-BE49-F238E27FC236}">
                  <a16:creationId xmlns:a16="http://schemas.microsoft.com/office/drawing/2014/main" id="{99B8635C-40D6-14D2-D4D2-69BC39120E26}"/>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D6827C11-F8D3-0D5E-581F-AB90E9A6528A}"/>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graphicFrame>
        <p:nvGraphicFramePr>
          <p:cNvPr id="29" name="Table 28">
            <a:extLst>
              <a:ext uri="{FF2B5EF4-FFF2-40B4-BE49-F238E27FC236}">
                <a16:creationId xmlns:a16="http://schemas.microsoft.com/office/drawing/2014/main" id="{DA4F4460-D653-00EC-F5F3-292CA186E7F7}"/>
              </a:ext>
            </a:extLst>
          </p:cNvPr>
          <p:cNvGraphicFramePr>
            <a:graphicFrameLocks noGrp="1"/>
          </p:cNvGraphicFramePr>
          <p:nvPr/>
        </p:nvGraphicFramePr>
        <p:xfrm>
          <a:off x="3898862" y="568164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32" name="TextBox 31">
            <a:extLst>
              <a:ext uri="{FF2B5EF4-FFF2-40B4-BE49-F238E27FC236}">
                <a16:creationId xmlns:a16="http://schemas.microsoft.com/office/drawing/2014/main" id="{34F55059-0F57-76A5-0C59-9A6AC15ABA58}"/>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3" name="Rectangle 32">
            <a:extLst>
              <a:ext uri="{FF2B5EF4-FFF2-40B4-BE49-F238E27FC236}">
                <a16:creationId xmlns:a16="http://schemas.microsoft.com/office/drawing/2014/main" id="{A4CEA21D-150E-02BE-FE19-63D3A1AA8A7F}"/>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a:extLst>
              <a:ext uri="{FF2B5EF4-FFF2-40B4-BE49-F238E27FC236}">
                <a16:creationId xmlns:a16="http://schemas.microsoft.com/office/drawing/2014/main" id="{1F08F879-8682-9ED3-C160-95F232C8541F}"/>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0661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0661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0661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0661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0661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5" name="TextBox 34">
            <a:extLst>
              <a:ext uri="{FF2B5EF4-FFF2-40B4-BE49-F238E27FC236}">
                <a16:creationId xmlns:a16="http://schemas.microsoft.com/office/drawing/2014/main" id="{8159F0E8-BEF4-58E7-B42F-8CFF41DE4DA8}"/>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grpSp>
        <p:nvGrpSpPr>
          <p:cNvPr id="43" name="Group 42">
            <a:extLst>
              <a:ext uri="{FF2B5EF4-FFF2-40B4-BE49-F238E27FC236}">
                <a16:creationId xmlns:a16="http://schemas.microsoft.com/office/drawing/2014/main" id="{5B69A9AD-10A9-0523-AF96-43A82DE14ECC}"/>
              </a:ext>
            </a:extLst>
          </p:cNvPr>
          <p:cNvGrpSpPr/>
          <p:nvPr/>
        </p:nvGrpSpPr>
        <p:grpSpPr>
          <a:xfrm>
            <a:off x="6277028" y="3673469"/>
            <a:ext cx="1893612" cy="1142064"/>
            <a:chOff x="517256" y="4048123"/>
            <a:chExt cx="1893612" cy="1142064"/>
          </a:xfrm>
        </p:grpSpPr>
        <p:grpSp>
          <p:nvGrpSpPr>
            <p:cNvPr id="44" name="Group 43">
              <a:extLst>
                <a:ext uri="{FF2B5EF4-FFF2-40B4-BE49-F238E27FC236}">
                  <a16:creationId xmlns:a16="http://schemas.microsoft.com/office/drawing/2014/main" id="{CBAE9044-06B2-4E41-662B-A6154DF84080}"/>
                </a:ext>
              </a:extLst>
            </p:cNvPr>
            <p:cNvGrpSpPr/>
            <p:nvPr/>
          </p:nvGrpSpPr>
          <p:grpSpPr>
            <a:xfrm>
              <a:off x="517256" y="4048123"/>
              <a:ext cx="1236372" cy="1142064"/>
              <a:chOff x="517256" y="4048123"/>
              <a:chExt cx="1236372" cy="1142064"/>
            </a:xfrm>
          </p:grpSpPr>
          <p:sp>
            <p:nvSpPr>
              <p:cNvPr id="46" name="Rectangle 45">
                <a:extLst>
                  <a:ext uri="{FF2B5EF4-FFF2-40B4-BE49-F238E27FC236}">
                    <a16:creationId xmlns:a16="http://schemas.microsoft.com/office/drawing/2014/main" id="{E1DEFACF-BC65-19BA-FEE9-104394817D21}"/>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DE1BFEBF-C8EC-8C40-01CC-496071AA300E}"/>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3</a:t>
                </a:r>
              </a:p>
            </p:txBody>
          </p:sp>
        </p:grpSp>
        <p:sp>
          <p:nvSpPr>
            <p:cNvPr id="45" name="Right Arrow 44">
              <a:extLst>
                <a:ext uri="{FF2B5EF4-FFF2-40B4-BE49-F238E27FC236}">
                  <a16:creationId xmlns:a16="http://schemas.microsoft.com/office/drawing/2014/main" id="{0328D11D-413F-0AC6-885A-60C8DB449DBB}"/>
                </a:ext>
              </a:extLst>
            </p:cNvPr>
            <p:cNvSpPr/>
            <p:nvPr/>
          </p:nvSpPr>
          <p:spPr>
            <a:xfrm rot="10800000">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48" name="Table 47">
            <a:extLst>
              <a:ext uri="{FF2B5EF4-FFF2-40B4-BE49-F238E27FC236}">
                <a16:creationId xmlns:a16="http://schemas.microsoft.com/office/drawing/2014/main" id="{34C049C3-F9C5-D852-5AE0-A97BA822B1D0}"/>
              </a:ext>
            </a:extLst>
          </p:cNvPr>
          <p:cNvGraphicFramePr>
            <a:graphicFrameLocks noGrp="1"/>
          </p:cNvGraphicFramePr>
          <p:nvPr/>
        </p:nvGraphicFramePr>
        <p:xfrm>
          <a:off x="6433674"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Bob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5" name="TextBox 4">
            <a:extLst>
              <a:ext uri="{FF2B5EF4-FFF2-40B4-BE49-F238E27FC236}">
                <a16:creationId xmlns:a16="http://schemas.microsoft.com/office/drawing/2014/main" id="{A27AFDA8-7BC2-D031-C3AB-A83F34CDAC02}"/>
              </a:ext>
            </a:extLst>
          </p:cNvPr>
          <p:cNvSpPr txBox="1"/>
          <p:nvPr/>
        </p:nvSpPr>
        <p:spPr>
          <a:xfrm>
            <a:off x="4791032" y="4673863"/>
            <a:ext cx="460289" cy="400110"/>
          </a:xfrm>
          <a:prstGeom prst="rect">
            <a:avLst/>
          </a:prstGeom>
          <a:noFill/>
        </p:spPr>
        <p:txBody>
          <a:bodyPr wrap="square">
            <a:spAutoFit/>
          </a:bodyPr>
          <a:lstStyle/>
          <a:p>
            <a:r>
              <a:rPr lang="en-US" sz="2000" b="0">
                <a:solidFill>
                  <a:schemeClr val="tx1"/>
                </a:solidFill>
                <a:latin typeface="Calibri" panose="020F0502020204030204" pitchFamily="34" charset="0"/>
                <a:cs typeface="Calibri" panose="020F0502020204030204" pitchFamily="34" charset="0"/>
              </a:rPr>
              <a:t>🫐</a:t>
            </a:r>
            <a:endParaRPr lang="en-US" sz="2000"/>
          </a:p>
        </p:txBody>
      </p:sp>
      <p:sp>
        <p:nvSpPr>
          <p:cNvPr id="9" name="TextBox 8">
            <a:extLst>
              <a:ext uri="{FF2B5EF4-FFF2-40B4-BE49-F238E27FC236}">
                <a16:creationId xmlns:a16="http://schemas.microsoft.com/office/drawing/2014/main" id="{9245820C-B232-1007-56A5-517BB950E6AC}"/>
              </a:ext>
            </a:extLst>
          </p:cNvPr>
          <p:cNvSpPr txBox="1"/>
          <p:nvPr/>
        </p:nvSpPr>
        <p:spPr>
          <a:xfrm>
            <a:off x="3369244" y="4615478"/>
            <a:ext cx="669117"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Bob</a:t>
            </a:r>
            <a:endParaRPr lang="en-US" sz="2000"/>
          </a:p>
        </p:txBody>
      </p:sp>
      <p:grpSp>
        <p:nvGrpSpPr>
          <p:cNvPr id="10" name="Group 9">
            <a:extLst>
              <a:ext uri="{FF2B5EF4-FFF2-40B4-BE49-F238E27FC236}">
                <a16:creationId xmlns:a16="http://schemas.microsoft.com/office/drawing/2014/main" id="{36A3DB62-4E9A-2EC5-80DB-692C21021439}"/>
              </a:ext>
            </a:extLst>
          </p:cNvPr>
          <p:cNvGrpSpPr/>
          <p:nvPr/>
        </p:nvGrpSpPr>
        <p:grpSpPr>
          <a:xfrm>
            <a:off x="3019145" y="4597717"/>
            <a:ext cx="4204614" cy="1117252"/>
            <a:chOff x="7524337" y="3585821"/>
            <a:chExt cx="4204614" cy="1117252"/>
          </a:xfrm>
        </p:grpSpPr>
        <p:sp>
          <p:nvSpPr>
            <p:cNvPr id="17" name="Oval Callout 16">
              <a:extLst>
                <a:ext uri="{FF2B5EF4-FFF2-40B4-BE49-F238E27FC236}">
                  <a16:creationId xmlns:a16="http://schemas.microsoft.com/office/drawing/2014/main" id="{4556A8FB-77E7-75FD-62DD-90A78F2AA25B}"/>
                </a:ext>
              </a:extLst>
            </p:cNvPr>
            <p:cNvSpPr/>
            <p:nvPr/>
          </p:nvSpPr>
          <p:spPr>
            <a:xfrm>
              <a:off x="10389996" y="3973034"/>
              <a:ext cx="1338955" cy="730039"/>
            </a:xfrm>
            <a:prstGeom prst="wedgeEllipseCallout">
              <a:avLst>
                <a:gd name="adj1" fmla="val -81070"/>
                <a:gd name="adj2" fmla="val -691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Good to clear</a:t>
              </a:r>
            </a:p>
          </p:txBody>
        </p:sp>
        <p:sp>
          <p:nvSpPr>
            <p:cNvPr id="18" name="Frame 17">
              <a:extLst>
                <a:ext uri="{FF2B5EF4-FFF2-40B4-BE49-F238E27FC236}">
                  <a16:creationId xmlns:a16="http://schemas.microsoft.com/office/drawing/2014/main" id="{AD5DBBC6-8D2A-BA8E-917A-CBD9FEF99B03}"/>
                </a:ext>
              </a:extLst>
            </p:cNvPr>
            <p:cNvSpPr/>
            <p:nvPr/>
          </p:nvSpPr>
          <p:spPr>
            <a:xfrm>
              <a:off x="7524337" y="3585821"/>
              <a:ext cx="2686674" cy="441960"/>
            </a:xfrm>
            <a:prstGeom prst="fram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9" name="TextBox 18">
            <a:extLst>
              <a:ext uri="{FF2B5EF4-FFF2-40B4-BE49-F238E27FC236}">
                <a16:creationId xmlns:a16="http://schemas.microsoft.com/office/drawing/2014/main" id="{1D43AD7E-3A20-C48D-C785-51764B6DF4EC}"/>
              </a:ext>
            </a:extLst>
          </p:cNvPr>
          <p:cNvSpPr txBox="1"/>
          <p:nvPr/>
        </p:nvSpPr>
        <p:spPr>
          <a:xfrm>
            <a:off x="859816" y="1449962"/>
            <a:ext cx="8677632" cy="461665"/>
          </a:xfrm>
          <a:prstGeom prst="rect">
            <a:avLst/>
          </a:prstGeom>
          <a:noFill/>
        </p:spPr>
        <p:txBody>
          <a:bodyPr wrap="none" rtlCol="0">
            <a:spAutoFit/>
          </a:bodyPr>
          <a:lstStyle/>
          <a:p>
            <a:r>
              <a:rPr lang="en-US" sz="2400">
                <a:solidFill>
                  <a:srgbClr val="0070C0"/>
                </a:solidFill>
                <a:latin typeface="Calibri" panose="020F0502020204030204" pitchFamily="34" charset="0"/>
                <a:cs typeface="Calibri" panose="020F0502020204030204" pitchFamily="34" charset="0"/>
              </a:rPr>
              <a:t>Clean Bob’s state due to a popularity change or a complex operation</a:t>
            </a:r>
          </a:p>
        </p:txBody>
      </p:sp>
    </p:spTree>
    <p:extLst>
      <p:ext uri="{BB962C8B-B14F-4D97-AF65-F5344CB8AC3E}">
        <p14:creationId xmlns:p14="http://schemas.microsoft.com/office/powerpoint/2010/main" val="181725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par>
                          <p:cTn id="17" fill="hold">
                            <p:stCondLst>
                              <p:cond delay="0"/>
                            </p:stCondLst>
                            <p:childTnLst>
                              <p:par>
                                <p:cTn id="18" presetID="1" presetClass="exit"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10"/>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21"/>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29"/>
                                        </p:tgtEl>
                                        <p:attrNameLst>
                                          <p:attrName>style.visibility</p:attrName>
                                        </p:attrNameLst>
                                      </p:cBhvr>
                                      <p:to>
                                        <p:strVal val="hidden"/>
                                      </p:to>
                                    </p:set>
                                  </p:childTnLst>
                                </p:cTn>
                              </p:par>
                              <p:par>
                                <p:cTn id="30" presetID="1"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D875C-175E-B18B-3D15-7B6B11B1E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1F45C-C6B6-48F5-D0E6-6294483F663E}"/>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#3: Migrate back to switch</a:t>
            </a:r>
          </a:p>
        </p:txBody>
      </p:sp>
      <p:sp>
        <p:nvSpPr>
          <p:cNvPr id="4" name="Slide Number Placeholder 3">
            <a:extLst>
              <a:ext uri="{FF2B5EF4-FFF2-40B4-BE49-F238E27FC236}">
                <a16:creationId xmlns:a16="http://schemas.microsoft.com/office/drawing/2014/main" id="{9CBE55EA-5E53-0B14-11B1-FF5CF3FEC746}"/>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17</a:t>
            </a:fld>
            <a:endParaRPr lang="en-US"/>
          </a:p>
        </p:txBody>
      </p:sp>
      <p:sp>
        <p:nvSpPr>
          <p:cNvPr id="7" name="Rectangle 6">
            <a:extLst>
              <a:ext uri="{FF2B5EF4-FFF2-40B4-BE49-F238E27FC236}">
                <a16:creationId xmlns:a16="http://schemas.microsoft.com/office/drawing/2014/main" id="{61A889E8-ECF4-6B7D-AF8A-6B91D6B10EC8}"/>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F709A446-1614-5548-3073-BFB5C0C18636}"/>
              </a:ext>
            </a:extLst>
          </p:cNvPr>
          <p:cNvGraphicFramePr>
            <a:graphicFrameLocks noGrp="1"/>
          </p:cNvGraphicFramePr>
          <p:nvPr/>
        </p:nvGraphicFramePr>
        <p:xfrm>
          <a:off x="2992499" y="3482568"/>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31" name="TextBox 30">
            <a:extLst>
              <a:ext uri="{FF2B5EF4-FFF2-40B4-BE49-F238E27FC236}">
                <a16:creationId xmlns:a16="http://schemas.microsoft.com/office/drawing/2014/main" id="{1E0F36BC-3466-EBB8-E3EC-272D0E6C2E6A}"/>
              </a:ext>
            </a:extLst>
          </p:cNvPr>
          <p:cNvSpPr txBox="1"/>
          <p:nvPr/>
        </p:nvSpPr>
        <p:spPr>
          <a:xfrm>
            <a:off x="817472" y="1421788"/>
            <a:ext cx="7690903" cy="461665"/>
          </a:xfrm>
          <a:prstGeom prst="rect">
            <a:avLst/>
          </a:prstGeom>
          <a:noFill/>
        </p:spPr>
        <p:txBody>
          <a:bodyPr wrap="square" rtlCol="0">
            <a:spAutoFit/>
          </a:bodyPr>
          <a:lstStyle/>
          <a:p>
            <a:r>
              <a:rPr lang="en-US" sz="2400">
                <a:solidFill>
                  <a:srgbClr val="0070C0"/>
                </a:solidFill>
                <a:latin typeface="Calibri" panose="020F0502020204030204" pitchFamily="34" charset="0"/>
                <a:cs typeface="Calibri" panose="020F0502020204030204" pitchFamily="34" charset="0"/>
              </a:rPr>
              <a:t>Offload popular David’s state to switch</a:t>
            </a:r>
          </a:p>
        </p:txBody>
      </p:sp>
      <p:sp>
        <p:nvSpPr>
          <p:cNvPr id="32" name="TextBox 31">
            <a:extLst>
              <a:ext uri="{FF2B5EF4-FFF2-40B4-BE49-F238E27FC236}">
                <a16:creationId xmlns:a16="http://schemas.microsoft.com/office/drawing/2014/main" id="{0F892960-447F-E3BC-324F-BF28C3FF9392}"/>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3" name="Rectangle 32">
            <a:extLst>
              <a:ext uri="{FF2B5EF4-FFF2-40B4-BE49-F238E27FC236}">
                <a16:creationId xmlns:a16="http://schemas.microsoft.com/office/drawing/2014/main" id="{84748598-4F34-672C-5093-DEC82D4F8D8D}"/>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a:extLst>
              <a:ext uri="{FF2B5EF4-FFF2-40B4-BE49-F238E27FC236}">
                <a16:creationId xmlns:a16="http://schemas.microsoft.com/office/drawing/2014/main" id="{CF71EF9B-A905-4088-3A31-906F935E999F}"/>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0661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0661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0661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0661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0661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5" name="TextBox 34">
            <a:extLst>
              <a:ext uri="{FF2B5EF4-FFF2-40B4-BE49-F238E27FC236}">
                <a16:creationId xmlns:a16="http://schemas.microsoft.com/office/drawing/2014/main" id="{2F3C29FB-EA4D-468E-21F5-85442A8F646A}"/>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grpSp>
        <p:nvGrpSpPr>
          <p:cNvPr id="3" name="Group 2">
            <a:extLst>
              <a:ext uri="{FF2B5EF4-FFF2-40B4-BE49-F238E27FC236}">
                <a16:creationId xmlns:a16="http://schemas.microsoft.com/office/drawing/2014/main" id="{73EB432C-CC1A-9FA3-27D1-13F437C1A1DF}"/>
              </a:ext>
            </a:extLst>
          </p:cNvPr>
          <p:cNvGrpSpPr/>
          <p:nvPr/>
        </p:nvGrpSpPr>
        <p:grpSpPr>
          <a:xfrm>
            <a:off x="548640" y="3673469"/>
            <a:ext cx="1893612" cy="1142064"/>
            <a:chOff x="517256" y="4048123"/>
            <a:chExt cx="1893612" cy="1142064"/>
          </a:xfrm>
        </p:grpSpPr>
        <p:grpSp>
          <p:nvGrpSpPr>
            <p:cNvPr id="6" name="Group 5">
              <a:extLst>
                <a:ext uri="{FF2B5EF4-FFF2-40B4-BE49-F238E27FC236}">
                  <a16:creationId xmlns:a16="http://schemas.microsoft.com/office/drawing/2014/main" id="{0F506AC7-113C-BE0D-2D3D-AF93D138C48A}"/>
                </a:ext>
              </a:extLst>
            </p:cNvPr>
            <p:cNvGrpSpPr/>
            <p:nvPr/>
          </p:nvGrpSpPr>
          <p:grpSpPr>
            <a:xfrm>
              <a:off x="517256" y="4048123"/>
              <a:ext cx="1236372" cy="1142064"/>
              <a:chOff x="517256" y="4048123"/>
              <a:chExt cx="1236372" cy="1142064"/>
            </a:xfrm>
          </p:grpSpPr>
          <p:sp>
            <p:nvSpPr>
              <p:cNvPr id="20" name="Rectangle 19">
                <a:extLst>
                  <a:ext uri="{FF2B5EF4-FFF2-40B4-BE49-F238E27FC236}">
                    <a16:creationId xmlns:a16="http://schemas.microsoft.com/office/drawing/2014/main" id="{045A1DD3-A352-530A-EE01-9E0AD3C25CD1}"/>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TextBox 21">
                <a:extLst>
                  <a:ext uri="{FF2B5EF4-FFF2-40B4-BE49-F238E27FC236}">
                    <a16:creationId xmlns:a16="http://schemas.microsoft.com/office/drawing/2014/main" id="{0E6FBE87-E665-7604-77B8-938073DAC5BF}"/>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sp>
          <p:nvSpPr>
            <p:cNvPr id="19" name="Right Arrow 18">
              <a:extLst>
                <a:ext uri="{FF2B5EF4-FFF2-40B4-BE49-F238E27FC236}">
                  <a16:creationId xmlns:a16="http://schemas.microsoft.com/office/drawing/2014/main" id="{A909093F-FB6E-035B-372E-A148B7C49333}"/>
                </a:ext>
              </a:extLst>
            </p:cNvPr>
            <p:cNvSpPr/>
            <p:nvPr/>
          </p:nvSpPr>
          <p:spPr>
            <a:xfrm>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23" name="Table 22">
            <a:extLst>
              <a:ext uri="{FF2B5EF4-FFF2-40B4-BE49-F238E27FC236}">
                <a16:creationId xmlns:a16="http://schemas.microsoft.com/office/drawing/2014/main" id="{1547C44F-530F-67C3-2F17-D23EE564C51E}"/>
              </a:ext>
            </a:extLst>
          </p:cNvPr>
          <p:cNvGraphicFramePr>
            <a:graphicFrameLocks noGrp="1"/>
          </p:cNvGraphicFramePr>
          <p:nvPr/>
        </p:nvGraphicFramePr>
        <p:xfrm>
          <a:off x="709587"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24" name="Group 23">
            <a:extLst>
              <a:ext uri="{FF2B5EF4-FFF2-40B4-BE49-F238E27FC236}">
                <a16:creationId xmlns:a16="http://schemas.microsoft.com/office/drawing/2014/main" id="{4B0E1B85-E2DC-14A5-869D-554DA36E5C77}"/>
              </a:ext>
            </a:extLst>
          </p:cNvPr>
          <p:cNvGrpSpPr/>
          <p:nvPr/>
        </p:nvGrpSpPr>
        <p:grpSpPr>
          <a:xfrm>
            <a:off x="3717650" y="5156776"/>
            <a:ext cx="1236372" cy="1142064"/>
            <a:chOff x="517256" y="4048123"/>
            <a:chExt cx="1236372" cy="1142064"/>
          </a:xfrm>
        </p:grpSpPr>
        <p:sp>
          <p:nvSpPr>
            <p:cNvPr id="25" name="Rectangle 24">
              <a:extLst>
                <a:ext uri="{FF2B5EF4-FFF2-40B4-BE49-F238E27FC236}">
                  <a16:creationId xmlns:a16="http://schemas.microsoft.com/office/drawing/2014/main" id="{ABF02071-8AFB-98AF-C04A-9A5CE9166B90}"/>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EFF0735D-EBED-FCDE-DB63-49F6B9A529CD}"/>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graphicFrame>
        <p:nvGraphicFramePr>
          <p:cNvPr id="30" name="Table 29">
            <a:extLst>
              <a:ext uri="{FF2B5EF4-FFF2-40B4-BE49-F238E27FC236}">
                <a16:creationId xmlns:a16="http://schemas.microsoft.com/office/drawing/2014/main" id="{C9350590-EFAF-0B0C-F678-52571D085E10}"/>
              </a:ext>
            </a:extLst>
          </p:cNvPr>
          <p:cNvGraphicFramePr>
            <a:graphicFrameLocks noGrp="1"/>
          </p:cNvGraphicFramePr>
          <p:nvPr/>
        </p:nvGraphicFramePr>
        <p:xfrm>
          <a:off x="3898862" y="568164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36" name="Oval Callout 35">
            <a:extLst>
              <a:ext uri="{FF2B5EF4-FFF2-40B4-BE49-F238E27FC236}">
                <a16:creationId xmlns:a16="http://schemas.microsoft.com/office/drawing/2014/main" id="{6B32D25A-1A53-102B-97E8-F4949C989534}"/>
              </a:ext>
            </a:extLst>
          </p:cNvPr>
          <p:cNvSpPr/>
          <p:nvPr/>
        </p:nvSpPr>
        <p:spPr>
          <a:xfrm>
            <a:off x="5125796" y="2808649"/>
            <a:ext cx="2686674" cy="730039"/>
          </a:xfrm>
          <a:prstGeom prst="wedgeEllipseCallout">
            <a:avLst>
              <a:gd name="adj1" fmla="val -30730"/>
              <a:gd name="adj2" fmla="val 64375"/>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Switch does not have David’s state</a:t>
            </a:r>
          </a:p>
        </p:txBody>
      </p:sp>
      <p:grpSp>
        <p:nvGrpSpPr>
          <p:cNvPr id="42" name="Group 41">
            <a:extLst>
              <a:ext uri="{FF2B5EF4-FFF2-40B4-BE49-F238E27FC236}">
                <a16:creationId xmlns:a16="http://schemas.microsoft.com/office/drawing/2014/main" id="{50439733-082A-8793-2A9C-8862E4FA0274}"/>
              </a:ext>
            </a:extLst>
          </p:cNvPr>
          <p:cNvGrpSpPr/>
          <p:nvPr/>
        </p:nvGrpSpPr>
        <p:grpSpPr>
          <a:xfrm>
            <a:off x="6277028" y="3673469"/>
            <a:ext cx="1893612" cy="1142064"/>
            <a:chOff x="517256" y="4048123"/>
            <a:chExt cx="1893612" cy="1142064"/>
          </a:xfrm>
        </p:grpSpPr>
        <p:grpSp>
          <p:nvGrpSpPr>
            <p:cNvPr id="49" name="Group 48">
              <a:extLst>
                <a:ext uri="{FF2B5EF4-FFF2-40B4-BE49-F238E27FC236}">
                  <a16:creationId xmlns:a16="http://schemas.microsoft.com/office/drawing/2014/main" id="{43EE66E4-465E-692F-8FBC-3ABF203053C4}"/>
                </a:ext>
              </a:extLst>
            </p:cNvPr>
            <p:cNvGrpSpPr/>
            <p:nvPr/>
          </p:nvGrpSpPr>
          <p:grpSpPr>
            <a:xfrm>
              <a:off x="517256" y="4048123"/>
              <a:ext cx="1236372" cy="1142064"/>
              <a:chOff x="517256" y="4048123"/>
              <a:chExt cx="1236372" cy="1142064"/>
            </a:xfrm>
          </p:grpSpPr>
          <p:sp>
            <p:nvSpPr>
              <p:cNvPr id="51" name="Rectangle 50">
                <a:extLst>
                  <a:ext uri="{FF2B5EF4-FFF2-40B4-BE49-F238E27FC236}">
                    <a16:creationId xmlns:a16="http://schemas.microsoft.com/office/drawing/2014/main" id="{B86273E0-AA16-B616-B003-C567C403DB56}"/>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TextBox 51">
                <a:extLst>
                  <a:ext uri="{FF2B5EF4-FFF2-40B4-BE49-F238E27FC236}">
                    <a16:creationId xmlns:a16="http://schemas.microsoft.com/office/drawing/2014/main" id="{F665951D-A61A-0597-7F27-3F51904ADE03}"/>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sp>
          <p:nvSpPr>
            <p:cNvPr id="50" name="Right Arrow 49">
              <a:extLst>
                <a:ext uri="{FF2B5EF4-FFF2-40B4-BE49-F238E27FC236}">
                  <a16:creationId xmlns:a16="http://schemas.microsoft.com/office/drawing/2014/main" id="{31CBD2C4-DCE4-888B-39B9-4174D6EE000F}"/>
                </a:ext>
              </a:extLst>
            </p:cNvPr>
            <p:cNvSpPr/>
            <p:nvPr/>
          </p:nvSpPr>
          <p:spPr>
            <a:xfrm>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53" name="Table 52">
            <a:extLst>
              <a:ext uri="{FF2B5EF4-FFF2-40B4-BE49-F238E27FC236}">
                <a16:creationId xmlns:a16="http://schemas.microsoft.com/office/drawing/2014/main" id="{8B595E4B-C42F-C3E8-EB11-C0849B13B577}"/>
              </a:ext>
            </a:extLst>
          </p:cNvPr>
          <p:cNvGraphicFramePr>
            <a:graphicFrameLocks noGrp="1"/>
          </p:cNvGraphicFramePr>
          <p:nvPr/>
        </p:nvGraphicFramePr>
        <p:xfrm>
          <a:off x="6428946"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56" name="Group 55">
            <a:extLst>
              <a:ext uri="{FF2B5EF4-FFF2-40B4-BE49-F238E27FC236}">
                <a16:creationId xmlns:a16="http://schemas.microsoft.com/office/drawing/2014/main" id="{9611CA39-F715-260F-10F3-D1E0A6E7B8B6}"/>
              </a:ext>
            </a:extLst>
          </p:cNvPr>
          <p:cNvGrpSpPr/>
          <p:nvPr/>
        </p:nvGrpSpPr>
        <p:grpSpPr>
          <a:xfrm>
            <a:off x="9209450" y="5156776"/>
            <a:ext cx="1236372" cy="1142064"/>
            <a:chOff x="517256" y="4048123"/>
            <a:chExt cx="1236372" cy="1142064"/>
          </a:xfrm>
        </p:grpSpPr>
        <p:sp>
          <p:nvSpPr>
            <p:cNvPr id="58" name="Rectangle 57">
              <a:extLst>
                <a:ext uri="{FF2B5EF4-FFF2-40B4-BE49-F238E27FC236}">
                  <a16:creationId xmlns:a16="http://schemas.microsoft.com/office/drawing/2014/main" id="{D59B2496-46E1-6189-A43A-53AB9A29A1BC}"/>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TextBox 58">
              <a:extLst>
                <a:ext uri="{FF2B5EF4-FFF2-40B4-BE49-F238E27FC236}">
                  <a16:creationId xmlns:a16="http://schemas.microsoft.com/office/drawing/2014/main" id="{21816425-9E03-9BDC-47EE-0E6836C54E59}"/>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graphicFrame>
        <p:nvGraphicFramePr>
          <p:cNvPr id="60" name="Table 59">
            <a:extLst>
              <a:ext uri="{FF2B5EF4-FFF2-40B4-BE49-F238E27FC236}">
                <a16:creationId xmlns:a16="http://schemas.microsoft.com/office/drawing/2014/main" id="{9C6C183C-A533-ADA1-0B83-092A641D8CF8}"/>
              </a:ext>
            </a:extLst>
          </p:cNvPr>
          <p:cNvGraphicFramePr>
            <a:graphicFrameLocks noGrp="1"/>
          </p:cNvGraphicFramePr>
          <p:nvPr/>
        </p:nvGraphicFramePr>
        <p:xfrm>
          <a:off x="9390662" y="568164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64" name="TextBox 63">
            <a:extLst>
              <a:ext uri="{FF2B5EF4-FFF2-40B4-BE49-F238E27FC236}">
                <a16:creationId xmlns:a16="http://schemas.microsoft.com/office/drawing/2014/main" id="{4222E2E6-FC58-E35C-77F9-104A16825513}"/>
              </a:ext>
            </a:extLst>
          </p:cNvPr>
          <p:cNvSpPr txBox="1"/>
          <p:nvPr/>
        </p:nvSpPr>
        <p:spPr>
          <a:xfrm>
            <a:off x="10306090" y="4700757"/>
            <a:ext cx="432179"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62" name="TextBox 61">
            <a:extLst>
              <a:ext uri="{FF2B5EF4-FFF2-40B4-BE49-F238E27FC236}">
                <a16:creationId xmlns:a16="http://schemas.microsoft.com/office/drawing/2014/main" id="{5741C49B-A2CE-6E72-DCFF-0F7BC9824E0D}"/>
              </a:ext>
            </a:extLst>
          </p:cNvPr>
          <p:cNvSpPr txBox="1"/>
          <p:nvPr/>
        </p:nvSpPr>
        <p:spPr>
          <a:xfrm>
            <a:off x="9923472" y="5712419"/>
            <a:ext cx="452484" cy="400110"/>
          </a:xfrm>
          <a:prstGeom prst="rect">
            <a:avLst/>
          </a:prstGeom>
          <a:noFill/>
        </p:spPr>
        <p:txBody>
          <a:bodyPr wrap="square">
            <a:spAutoFit/>
          </a:bodyPr>
          <a:lstStyle/>
          <a:p>
            <a:r>
              <a:rPr lang="en-US" sz="2000" b="0">
                <a:solidFill>
                  <a:schemeClr val="tx1"/>
                </a:solidFill>
                <a:latin typeface="Calibri" panose="020F0502020204030204" pitchFamily="34" charset="0"/>
                <a:cs typeface="Calibri" panose="020F0502020204030204" pitchFamily="34" charset="0"/>
              </a:rPr>
              <a:t>🍟</a:t>
            </a:r>
            <a:endParaRPr lang="en-US" sz="2000"/>
          </a:p>
        </p:txBody>
      </p:sp>
    </p:spTree>
    <p:extLst>
      <p:ext uri="{BB962C8B-B14F-4D97-AF65-F5344CB8AC3E}">
        <p14:creationId xmlns:p14="http://schemas.microsoft.com/office/powerpoint/2010/main" val="205190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23"/>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3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24"/>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2"/>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par>
                                <p:cTn id="49" presetID="0" presetClass="path" presetSubtype="0" accel="50000" decel="50000" fill="hold" grpId="0" nodeType="withEffect">
                                  <p:stCondLst>
                                    <p:cond delay="0"/>
                                  </p:stCondLst>
                                  <p:childTnLst>
                                    <p:animMotion origin="layout" path="M -1.875E-6 2.96296E-6 L 0.03164 -0.14861 " pathEditMode="relative" rAng="0" ptsTypes="AA">
                                      <p:cBhvr>
                                        <p:cTn id="50" dur="2000" fill="hold"/>
                                        <p:tgtEl>
                                          <p:spTgt spid="62"/>
                                        </p:tgtEl>
                                        <p:attrNameLst>
                                          <p:attrName>ppt_x</p:attrName>
                                          <p:attrName>ppt_y</p:attrName>
                                        </p:attrNameLst>
                                      </p:cBhvr>
                                      <p:rCtr x="1576" y="-7431"/>
                                    </p:animMotion>
                                  </p:childTnLst>
                                </p:cTn>
                              </p:par>
                            </p:childTnLst>
                          </p:cTn>
                        </p:par>
                        <p:par>
                          <p:cTn id="51" fill="hold">
                            <p:stCondLst>
                              <p:cond delay="2000"/>
                            </p:stCondLst>
                            <p:childTnLst>
                              <p:par>
                                <p:cTn id="52" presetID="1" presetClass="exit" presetSubtype="0" fill="hold" grpId="0" nodeType="afterEffect">
                                  <p:stCondLst>
                                    <p:cond delay="0"/>
                                  </p:stCondLst>
                                  <p:childTnLst>
                                    <p:set>
                                      <p:cBhvr>
                                        <p:cTn id="53"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64" grpId="0"/>
      <p:bldP spid="62" grpId="0"/>
      <p:bldP spid="6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F7F5-4835-4007-8D91-1EE25B458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FB2E3-E807-6442-3F94-373BF1C779CD}"/>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#3: Migrate back to switch</a:t>
            </a:r>
          </a:p>
        </p:txBody>
      </p:sp>
      <p:sp>
        <p:nvSpPr>
          <p:cNvPr id="4" name="Slide Number Placeholder 3">
            <a:extLst>
              <a:ext uri="{FF2B5EF4-FFF2-40B4-BE49-F238E27FC236}">
                <a16:creationId xmlns:a16="http://schemas.microsoft.com/office/drawing/2014/main" id="{A583689B-0E33-1DFC-AB75-3028027BBBB9}"/>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18</a:t>
            </a:fld>
            <a:endParaRPr lang="en-US"/>
          </a:p>
        </p:txBody>
      </p:sp>
      <p:sp>
        <p:nvSpPr>
          <p:cNvPr id="7" name="Rectangle 6">
            <a:extLst>
              <a:ext uri="{FF2B5EF4-FFF2-40B4-BE49-F238E27FC236}">
                <a16:creationId xmlns:a16="http://schemas.microsoft.com/office/drawing/2014/main" id="{CC0F6E46-D725-B19F-2677-C0763BCC673E}"/>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5B384655-B172-8306-41E4-68D0885B7B69}"/>
              </a:ext>
            </a:extLst>
          </p:cNvPr>
          <p:cNvGraphicFramePr>
            <a:graphicFrameLocks noGrp="1"/>
          </p:cNvGraphicFramePr>
          <p:nvPr/>
        </p:nvGraphicFramePr>
        <p:xfrm>
          <a:off x="2992499" y="3482568"/>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32" name="TextBox 31">
            <a:extLst>
              <a:ext uri="{FF2B5EF4-FFF2-40B4-BE49-F238E27FC236}">
                <a16:creationId xmlns:a16="http://schemas.microsoft.com/office/drawing/2014/main" id="{1261E7A4-00F1-65E0-0B5F-FB81A6C9CA7A}"/>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3" name="Rectangle 32">
            <a:extLst>
              <a:ext uri="{FF2B5EF4-FFF2-40B4-BE49-F238E27FC236}">
                <a16:creationId xmlns:a16="http://schemas.microsoft.com/office/drawing/2014/main" id="{23217CC2-C3CC-E7BC-D772-E750F9B00F7C}"/>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a:extLst>
              <a:ext uri="{FF2B5EF4-FFF2-40B4-BE49-F238E27FC236}">
                <a16:creationId xmlns:a16="http://schemas.microsoft.com/office/drawing/2014/main" id="{2C81551A-7E16-A659-EC3E-D62FCBD812C9}"/>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0661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0661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0661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0661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0661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5" name="TextBox 34">
            <a:extLst>
              <a:ext uri="{FF2B5EF4-FFF2-40B4-BE49-F238E27FC236}">
                <a16:creationId xmlns:a16="http://schemas.microsoft.com/office/drawing/2014/main" id="{F38FAD3A-94A6-24BE-C1CF-6EE09183EB6D}"/>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grpSp>
        <p:nvGrpSpPr>
          <p:cNvPr id="3" name="Group 2">
            <a:extLst>
              <a:ext uri="{FF2B5EF4-FFF2-40B4-BE49-F238E27FC236}">
                <a16:creationId xmlns:a16="http://schemas.microsoft.com/office/drawing/2014/main" id="{98E945FD-CF6A-E7CE-8434-43B474C9FCBD}"/>
              </a:ext>
            </a:extLst>
          </p:cNvPr>
          <p:cNvGrpSpPr/>
          <p:nvPr/>
        </p:nvGrpSpPr>
        <p:grpSpPr>
          <a:xfrm>
            <a:off x="548640" y="3673469"/>
            <a:ext cx="1893612" cy="1142064"/>
            <a:chOff x="517256" y="4048123"/>
            <a:chExt cx="1893612" cy="1142064"/>
          </a:xfrm>
        </p:grpSpPr>
        <p:grpSp>
          <p:nvGrpSpPr>
            <p:cNvPr id="6" name="Group 5">
              <a:extLst>
                <a:ext uri="{FF2B5EF4-FFF2-40B4-BE49-F238E27FC236}">
                  <a16:creationId xmlns:a16="http://schemas.microsoft.com/office/drawing/2014/main" id="{52D348C9-D335-1FFE-D234-BF6B757F6C48}"/>
                </a:ext>
              </a:extLst>
            </p:cNvPr>
            <p:cNvGrpSpPr/>
            <p:nvPr/>
          </p:nvGrpSpPr>
          <p:grpSpPr>
            <a:xfrm>
              <a:off x="517256" y="4048123"/>
              <a:ext cx="1236372" cy="1142064"/>
              <a:chOff x="517256" y="4048123"/>
              <a:chExt cx="1236372" cy="1142064"/>
            </a:xfrm>
          </p:grpSpPr>
          <p:sp>
            <p:nvSpPr>
              <p:cNvPr id="20" name="Rectangle 19">
                <a:extLst>
                  <a:ext uri="{FF2B5EF4-FFF2-40B4-BE49-F238E27FC236}">
                    <a16:creationId xmlns:a16="http://schemas.microsoft.com/office/drawing/2014/main" id="{A7153D4B-DE0E-9B36-4B04-DB2AF8DE7E06}"/>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TextBox 21">
                <a:extLst>
                  <a:ext uri="{FF2B5EF4-FFF2-40B4-BE49-F238E27FC236}">
                    <a16:creationId xmlns:a16="http://schemas.microsoft.com/office/drawing/2014/main" id="{9FF306E1-3659-9F81-445F-B83D6B5774E7}"/>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sp>
          <p:nvSpPr>
            <p:cNvPr id="19" name="Right Arrow 18">
              <a:extLst>
                <a:ext uri="{FF2B5EF4-FFF2-40B4-BE49-F238E27FC236}">
                  <a16:creationId xmlns:a16="http://schemas.microsoft.com/office/drawing/2014/main" id="{3DA23304-0317-034E-129E-3DB673F0595A}"/>
                </a:ext>
              </a:extLst>
            </p:cNvPr>
            <p:cNvSpPr/>
            <p:nvPr/>
          </p:nvSpPr>
          <p:spPr>
            <a:xfrm rot="10800000">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23" name="Table 22">
            <a:extLst>
              <a:ext uri="{FF2B5EF4-FFF2-40B4-BE49-F238E27FC236}">
                <a16:creationId xmlns:a16="http://schemas.microsoft.com/office/drawing/2014/main" id="{28EEB40F-7575-83A7-0EE3-1F35FD82CE9F}"/>
              </a:ext>
            </a:extLst>
          </p:cNvPr>
          <p:cNvGraphicFramePr>
            <a:graphicFrameLocks noGrp="1"/>
          </p:cNvGraphicFramePr>
          <p:nvPr/>
        </p:nvGraphicFramePr>
        <p:xfrm>
          <a:off x="709587"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24" name="Group 23">
            <a:extLst>
              <a:ext uri="{FF2B5EF4-FFF2-40B4-BE49-F238E27FC236}">
                <a16:creationId xmlns:a16="http://schemas.microsoft.com/office/drawing/2014/main" id="{351446FE-C79E-985D-96E8-431B5D3BAF4B}"/>
              </a:ext>
            </a:extLst>
          </p:cNvPr>
          <p:cNvGrpSpPr/>
          <p:nvPr/>
        </p:nvGrpSpPr>
        <p:grpSpPr>
          <a:xfrm>
            <a:off x="3717650" y="5156776"/>
            <a:ext cx="1236372" cy="1142064"/>
            <a:chOff x="517256" y="4048123"/>
            <a:chExt cx="1236372" cy="1142064"/>
          </a:xfrm>
        </p:grpSpPr>
        <p:sp>
          <p:nvSpPr>
            <p:cNvPr id="25" name="Rectangle 24">
              <a:extLst>
                <a:ext uri="{FF2B5EF4-FFF2-40B4-BE49-F238E27FC236}">
                  <a16:creationId xmlns:a16="http://schemas.microsoft.com/office/drawing/2014/main" id="{ED32D014-3C7B-CD4E-D4BF-65BF06E81922}"/>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D9DF6D6B-32D5-0379-DD43-AD1FA2EA6ACD}"/>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graphicFrame>
        <p:nvGraphicFramePr>
          <p:cNvPr id="30" name="Table 29">
            <a:extLst>
              <a:ext uri="{FF2B5EF4-FFF2-40B4-BE49-F238E27FC236}">
                <a16:creationId xmlns:a16="http://schemas.microsoft.com/office/drawing/2014/main" id="{A2E4ACCB-9D52-A5C6-49C2-FDA18BB5C242}"/>
              </a:ext>
            </a:extLst>
          </p:cNvPr>
          <p:cNvGraphicFramePr>
            <a:graphicFrameLocks noGrp="1"/>
          </p:cNvGraphicFramePr>
          <p:nvPr/>
        </p:nvGraphicFramePr>
        <p:xfrm>
          <a:off x="3898862" y="5681641"/>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42" name="Group 41">
            <a:extLst>
              <a:ext uri="{FF2B5EF4-FFF2-40B4-BE49-F238E27FC236}">
                <a16:creationId xmlns:a16="http://schemas.microsoft.com/office/drawing/2014/main" id="{B01FD6CB-151C-0E93-F790-A69C44300F3D}"/>
              </a:ext>
            </a:extLst>
          </p:cNvPr>
          <p:cNvGrpSpPr/>
          <p:nvPr/>
        </p:nvGrpSpPr>
        <p:grpSpPr>
          <a:xfrm>
            <a:off x="6277028" y="3673469"/>
            <a:ext cx="1893612" cy="1142064"/>
            <a:chOff x="517256" y="4048123"/>
            <a:chExt cx="1893612" cy="1142064"/>
          </a:xfrm>
        </p:grpSpPr>
        <p:grpSp>
          <p:nvGrpSpPr>
            <p:cNvPr id="49" name="Group 48">
              <a:extLst>
                <a:ext uri="{FF2B5EF4-FFF2-40B4-BE49-F238E27FC236}">
                  <a16:creationId xmlns:a16="http://schemas.microsoft.com/office/drawing/2014/main" id="{7427744E-57CB-23EB-F8C4-85C67F34B5C4}"/>
                </a:ext>
              </a:extLst>
            </p:cNvPr>
            <p:cNvGrpSpPr/>
            <p:nvPr/>
          </p:nvGrpSpPr>
          <p:grpSpPr>
            <a:xfrm>
              <a:off x="517256" y="4048123"/>
              <a:ext cx="1236372" cy="1142064"/>
              <a:chOff x="517256" y="4048123"/>
              <a:chExt cx="1236372" cy="1142064"/>
            </a:xfrm>
          </p:grpSpPr>
          <p:sp>
            <p:nvSpPr>
              <p:cNvPr id="51" name="Rectangle 50">
                <a:extLst>
                  <a:ext uri="{FF2B5EF4-FFF2-40B4-BE49-F238E27FC236}">
                    <a16:creationId xmlns:a16="http://schemas.microsoft.com/office/drawing/2014/main" id="{B67CF70A-1340-C51B-FE65-5B6214C119D7}"/>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TextBox 51">
                <a:extLst>
                  <a:ext uri="{FF2B5EF4-FFF2-40B4-BE49-F238E27FC236}">
                    <a16:creationId xmlns:a16="http://schemas.microsoft.com/office/drawing/2014/main" id="{F82E2EDE-BE2F-E8CA-CE7F-47AEE89E60D8}"/>
                  </a:ext>
                </a:extLst>
              </p:cNvPr>
              <p:cNvSpPr txBox="1"/>
              <p:nvPr/>
            </p:nvSpPr>
            <p:spPr>
              <a:xfrm>
                <a:off x="649337" y="4048123"/>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sp>
          <p:nvSpPr>
            <p:cNvPr id="50" name="Right Arrow 49">
              <a:extLst>
                <a:ext uri="{FF2B5EF4-FFF2-40B4-BE49-F238E27FC236}">
                  <a16:creationId xmlns:a16="http://schemas.microsoft.com/office/drawing/2014/main" id="{0A22A7F3-166C-5536-B379-FCF45329FD76}"/>
                </a:ext>
              </a:extLst>
            </p:cNvPr>
            <p:cNvSpPr/>
            <p:nvPr/>
          </p:nvSpPr>
          <p:spPr>
            <a:xfrm rot="10800000">
              <a:off x="1912378" y="4654103"/>
              <a:ext cx="498490" cy="31321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53" name="Table 52">
            <a:extLst>
              <a:ext uri="{FF2B5EF4-FFF2-40B4-BE49-F238E27FC236}">
                <a16:creationId xmlns:a16="http://schemas.microsoft.com/office/drawing/2014/main" id="{7F9F674F-8F6B-9CE8-2EB1-2F5541A70125}"/>
              </a:ext>
            </a:extLst>
          </p:cNvPr>
          <p:cNvGraphicFramePr>
            <a:graphicFrameLocks noGrp="1"/>
          </p:cNvGraphicFramePr>
          <p:nvPr/>
        </p:nvGraphicFramePr>
        <p:xfrm>
          <a:off x="6428946" y="4212198"/>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5" name="TextBox 4">
            <a:extLst>
              <a:ext uri="{FF2B5EF4-FFF2-40B4-BE49-F238E27FC236}">
                <a16:creationId xmlns:a16="http://schemas.microsoft.com/office/drawing/2014/main" id="{7E2D1347-C0CF-26EE-F361-77CF141B39D9}"/>
              </a:ext>
            </a:extLst>
          </p:cNvPr>
          <p:cNvSpPr txBox="1"/>
          <p:nvPr/>
        </p:nvSpPr>
        <p:spPr>
          <a:xfrm>
            <a:off x="817473" y="1436536"/>
            <a:ext cx="7178447" cy="461665"/>
          </a:xfrm>
          <a:prstGeom prst="rect">
            <a:avLst/>
          </a:prstGeom>
          <a:noFill/>
        </p:spPr>
        <p:txBody>
          <a:bodyPr wrap="square" rtlCol="0">
            <a:spAutoFit/>
          </a:bodyPr>
          <a:lstStyle/>
          <a:p>
            <a:r>
              <a:rPr lang="en-US" sz="2400">
                <a:solidFill>
                  <a:srgbClr val="0070C0"/>
                </a:solidFill>
                <a:latin typeface="Calibri" panose="020F0502020204030204" pitchFamily="34" charset="0"/>
                <a:cs typeface="Calibri" panose="020F0502020204030204" pitchFamily="34" charset="0"/>
              </a:rPr>
              <a:t>Offload popular David’s state to switch</a:t>
            </a:r>
          </a:p>
        </p:txBody>
      </p:sp>
      <p:sp>
        <p:nvSpPr>
          <p:cNvPr id="11" name="TextBox 10">
            <a:extLst>
              <a:ext uri="{FF2B5EF4-FFF2-40B4-BE49-F238E27FC236}">
                <a16:creationId xmlns:a16="http://schemas.microsoft.com/office/drawing/2014/main" id="{640E3751-274C-2DCD-D57C-9C9F4262B756}"/>
              </a:ext>
            </a:extLst>
          </p:cNvPr>
          <p:cNvSpPr txBox="1"/>
          <p:nvPr/>
        </p:nvSpPr>
        <p:spPr>
          <a:xfrm>
            <a:off x="5787633" y="4810060"/>
            <a:ext cx="3299521" cy="400110"/>
          </a:xfrm>
          <a:prstGeom prst="rect">
            <a:avLst/>
          </a:prstGeom>
          <a:noFill/>
        </p:spPr>
        <p:txBody>
          <a:bodyPr wrap="square">
            <a:spAutoFit/>
          </a:bodyPr>
          <a:lstStyle/>
          <a:p>
            <a:r>
              <a:rPr lang="en-US" sz="2000">
                <a:solidFill>
                  <a:srgbClr val="0070C0"/>
                </a:solidFill>
                <a:latin typeface="Calibri Light" panose="020F0302020204030204" pitchFamily="34" charset="0"/>
                <a:cs typeface="Calibri Light" panose="020F0302020204030204" pitchFamily="34" charset="0"/>
              </a:rPr>
              <a:t>State travels with packet</a:t>
            </a:r>
          </a:p>
        </p:txBody>
      </p:sp>
      <p:sp>
        <p:nvSpPr>
          <p:cNvPr id="16" name="TextBox 15">
            <a:extLst>
              <a:ext uri="{FF2B5EF4-FFF2-40B4-BE49-F238E27FC236}">
                <a16:creationId xmlns:a16="http://schemas.microsoft.com/office/drawing/2014/main" id="{88EE91F7-79AB-473A-0E62-8F7D0857263A}"/>
              </a:ext>
            </a:extLst>
          </p:cNvPr>
          <p:cNvSpPr txBox="1"/>
          <p:nvPr/>
        </p:nvSpPr>
        <p:spPr>
          <a:xfrm>
            <a:off x="3776946" y="5714161"/>
            <a:ext cx="845098" cy="400110"/>
          </a:xfrm>
          <a:prstGeom prst="rect">
            <a:avLst/>
          </a:prstGeom>
          <a:noFill/>
        </p:spPr>
        <p:txBody>
          <a:bodyPr wrap="square">
            <a:spAutoFit/>
          </a:bodyPr>
          <a:lstStyle/>
          <a:p>
            <a:pPr algn="ctr"/>
            <a:r>
              <a:rPr lang="en-US" sz="2000" b="0">
                <a:solidFill>
                  <a:schemeClr val="tx1"/>
                </a:solidFill>
                <a:latin typeface="Calibri" panose="020F0502020204030204" pitchFamily="34" charset="0"/>
                <a:cs typeface="Calibri" panose="020F0502020204030204" pitchFamily="34" charset="0"/>
              </a:rPr>
              <a:t>David</a:t>
            </a:r>
          </a:p>
        </p:txBody>
      </p:sp>
      <p:sp>
        <p:nvSpPr>
          <p:cNvPr id="17" name="TextBox 16">
            <a:extLst>
              <a:ext uri="{FF2B5EF4-FFF2-40B4-BE49-F238E27FC236}">
                <a16:creationId xmlns:a16="http://schemas.microsoft.com/office/drawing/2014/main" id="{717EE693-BEB9-98CB-14A2-E60CA0203963}"/>
              </a:ext>
            </a:extLst>
          </p:cNvPr>
          <p:cNvSpPr txBox="1"/>
          <p:nvPr/>
        </p:nvSpPr>
        <p:spPr>
          <a:xfrm>
            <a:off x="4440090" y="5712418"/>
            <a:ext cx="439862" cy="400110"/>
          </a:xfrm>
          <a:prstGeom prst="rect">
            <a:avLst/>
          </a:prstGeom>
          <a:noFill/>
        </p:spPr>
        <p:txBody>
          <a:bodyPr wrap="square">
            <a:spAutoFit/>
          </a:bodyPr>
          <a:lstStyle/>
          <a:p>
            <a:r>
              <a:rPr lang="en-US" sz="2000" b="0">
                <a:solidFill>
                  <a:schemeClr val="tx1"/>
                </a:solidFill>
                <a:latin typeface="Calibri" panose="020F0502020204030204" pitchFamily="34" charset="0"/>
                <a:cs typeface="Calibri" panose="020F0502020204030204" pitchFamily="34" charset="0"/>
              </a:rPr>
              <a:t>🍟</a:t>
            </a:r>
            <a:endParaRPr lang="en-US" sz="2000"/>
          </a:p>
        </p:txBody>
      </p:sp>
      <p:sp>
        <p:nvSpPr>
          <p:cNvPr id="18" name="Oval Callout 17">
            <a:extLst>
              <a:ext uri="{FF2B5EF4-FFF2-40B4-BE49-F238E27FC236}">
                <a16:creationId xmlns:a16="http://schemas.microsoft.com/office/drawing/2014/main" id="{F7051A68-3122-6A31-78A4-81DBCC190A18}"/>
              </a:ext>
            </a:extLst>
          </p:cNvPr>
          <p:cNvSpPr/>
          <p:nvPr/>
        </p:nvSpPr>
        <p:spPr>
          <a:xfrm>
            <a:off x="5125795" y="2808649"/>
            <a:ext cx="2686673" cy="730039"/>
          </a:xfrm>
          <a:prstGeom prst="wedgeEllipseCallout">
            <a:avLst>
              <a:gd name="adj1" fmla="val -30730"/>
              <a:gd name="adj2" fmla="val 64375"/>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Now switch has valid David’s state</a:t>
            </a:r>
          </a:p>
        </p:txBody>
      </p:sp>
    </p:spTree>
    <p:extLst>
      <p:ext uri="{BB962C8B-B14F-4D97-AF65-F5344CB8AC3E}">
        <p14:creationId xmlns:p14="http://schemas.microsoft.com/office/powerpoint/2010/main" val="198899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2"/>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0" presetClass="path" presetSubtype="0" accel="50000" decel="50000" fill="hold" grpId="1" nodeType="withEffect">
                                  <p:stCondLst>
                                    <p:cond delay="0"/>
                                  </p:stCondLst>
                                  <p:childTnLst>
                                    <p:animMotion origin="layout" path="M -1.04167E-6 1.48148E-6 L -0.04349 -0.16088 " pathEditMode="relative" rAng="0" ptsTypes="AA">
                                      <p:cBhvr>
                                        <p:cTn id="22" dur="2000" fill="hold"/>
                                        <p:tgtEl>
                                          <p:spTgt spid="16"/>
                                        </p:tgtEl>
                                        <p:attrNameLst>
                                          <p:attrName>ppt_x</p:attrName>
                                          <p:attrName>ppt_y</p:attrName>
                                        </p:attrNameLst>
                                      </p:cBhvr>
                                      <p:rCtr x="-2174" y="-8056"/>
                                    </p:animMotion>
                                  </p:childTnLst>
                                </p:cTn>
                              </p:par>
                              <p:par>
                                <p:cTn id="23" presetID="0" presetClass="path" presetSubtype="0" accel="50000" decel="50000" fill="hold" grpId="1" nodeType="withEffect">
                                  <p:stCondLst>
                                    <p:cond delay="0"/>
                                  </p:stCondLst>
                                  <p:childTnLst>
                                    <p:animMotion origin="layout" path="M 0 0 L 0.02722 -0.15509 " pathEditMode="relative" ptsTypes="AA">
                                      <p:cBhvr>
                                        <p:cTn id="24" dur="2000" fill="hold"/>
                                        <p:tgtEl>
                                          <p:spTgt spid="17"/>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2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3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6" grpId="1"/>
      <p:bldP spid="17" grpId="0"/>
      <p:bldP spid="17" grpId="1"/>
      <p:bldP spid="18" grpId="0" animBg="1"/>
      <p:bldP spid="18"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6404-7A9C-3933-F25A-8D46662B45F7}"/>
              </a:ext>
            </a:extLst>
          </p:cNvPr>
          <p:cNvSpPr>
            <a:spLocks noGrp="1"/>
          </p:cNvSpPr>
          <p:nvPr>
            <p:ph type="title"/>
          </p:nvPr>
        </p:nvSpPr>
        <p:spPr/>
        <p:txBody>
          <a:bodyPr>
            <a:normAutofit/>
          </a:bodyPr>
          <a:lstStyle/>
          <a:p>
            <a:pPr>
              <a:lnSpc>
                <a:spcPct val="150000"/>
              </a:lnSpc>
            </a:pPr>
            <a:r>
              <a:rPr lang="en-US" sz="4800" dirty="0">
                <a:latin typeface="Calibri" panose="020F0502020204030204" pitchFamily="34" charset="0"/>
                <a:cs typeface="Calibri" panose="020F0502020204030204" pitchFamily="34" charset="0"/>
              </a:rPr>
              <a:t>Problems in a real network</a:t>
            </a:r>
          </a:p>
        </p:txBody>
      </p:sp>
      <p:sp>
        <p:nvSpPr>
          <p:cNvPr id="3" name="Content Placeholder 2">
            <a:extLst>
              <a:ext uri="{FF2B5EF4-FFF2-40B4-BE49-F238E27FC236}">
                <a16:creationId xmlns:a16="http://schemas.microsoft.com/office/drawing/2014/main" id="{9EFE8DBB-FE7E-B59A-D317-C79A3158D6B2}"/>
              </a:ext>
            </a:extLst>
          </p:cNvPr>
          <p:cNvSpPr>
            <a:spLocks noGrp="1"/>
          </p:cNvSpPr>
          <p:nvPr>
            <p:ph idx="1"/>
          </p:nvPr>
        </p:nvSpPr>
        <p:spPr>
          <a:xfrm>
            <a:off x="838200" y="1825624"/>
            <a:ext cx="10515600" cy="2342251"/>
          </a:xfrm>
        </p:spPr>
        <p:txBody>
          <a:bodyPr vert="horz" lIns="91440" tIns="45720" rIns="91440" bIns="45720" rtlCol="0" anchor="t">
            <a:normAutofit/>
          </a:bodyPr>
          <a:lstStyle/>
          <a:p>
            <a:pPr>
              <a:lnSpc>
                <a:spcPct val="120000"/>
              </a:lnSpc>
            </a:pPr>
            <a:r>
              <a:rPr lang="en-US" b="1" dirty="0">
                <a:latin typeface="Calibri" panose="020F0502020204030204" pitchFamily="34" charset="0"/>
                <a:cs typeface="Calibri" panose="020F0502020204030204" pitchFamily="34" charset="0"/>
              </a:rPr>
              <a:t>Packet loss</a:t>
            </a:r>
          </a:p>
          <a:p>
            <a:pPr lvl="1">
              <a:lnSpc>
                <a:spcPct val="120000"/>
              </a:lnSpc>
              <a:buFont typeface="Courier New" panose="020B0604020202020204" pitchFamily="34" charset="0"/>
              <a:buChar char="o"/>
            </a:pPr>
            <a:r>
              <a:rPr lang="en-US" dirty="0">
                <a:latin typeface="Calibri" panose="020F0502020204030204" pitchFamily="34" charset="0"/>
                <a:cs typeface="Calibri" panose="020F0502020204030204" pitchFamily="34" charset="0"/>
              </a:rPr>
              <a:t>Idea: continuous write-backs until ACKs are received</a:t>
            </a:r>
          </a:p>
          <a:p>
            <a:pPr>
              <a:lnSpc>
                <a:spcPct val="120000"/>
              </a:lnSpc>
            </a:pPr>
            <a:r>
              <a:rPr lang="en-US" b="1" dirty="0">
                <a:latin typeface="Calibri" panose="020F0502020204030204" pitchFamily="34" charset="0"/>
                <a:cs typeface="Calibri" panose="020F0502020204030204" pitchFamily="34" charset="0"/>
              </a:rPr>
              <a:t>Packet train</a:t>
            </a:r>
          </a:p>
          <a:p>
            <a:pPr lvl="1">
              <a:lnSpc>
                <a:spcPct val="120000"/>
              </a:lnSpc>
              <a:buFont typeface="Courier New" panose="020B0604020202020204" pitchFamily="34" charset="0"/>
              <a:buChar char="o"/>
            </a:pPr>
            <a:r>
              <a:rPr lang="en-US" dirty="0">
                <a:latin typeface="Calibri" panose="020F0502020204030204" pitchFamily="34" charset="0"/>
                <a:ea typeface="+mn-lt"/>
                <a:cs typeface="Calibri" panose="020F0502020204030204" pitchFamily="34" charset="0"/>
              </a:rPr>
              <a:t>Idea: track migration, and discard ongoing migration from server </a:t>
            </a:r>
          </a:p>
        </p:txBody>
      </p:sp>
      <p:sp>
        <p:nvSpPr>
          <p:cNvPr id="4" name="Slide Number Placeholder 3">
            <a:extLst>
              <a:ext uri="{FF2B5EF4-FFF2-40B4-BE49-F238E27FC236}">
                <a16:creationId xmlns:a16="http://schemas.microsoft.com/office/drawing/2014/main" id="{7A47220B-3652-FC11-464A-04BDF07E7FD2}"/>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19</a:t>
            </a:fld>
            <a:endParaRPr lang="en-US"/>
          </a:p>
        </p:txBody>
      </p:sp>
      <p:sp>
        <p:nvSpPr>
          <p:cNvPr id="5" name="Oval Callout 4">
            <a:extLst>
              <a:ext uri="{FF2B5EF4-FFF2-40B4-BE49-F238E27FC236}">
                <a16:creationId xmlns:a16="http://schemas.microsoft.com/office/drawing/2014/main" id="{A2BA93DD-6EAC-62DB-EA71-19FD26A4FB23}"/>
              </a:ext>
            </a:extLst>
          </p:cNvPr>
          <p:cNvSpPr/>
          <p:nvPr/>
        </p:nvSpPr>
        <p:spPr>
          <a:xfrm>
            <a:off x="8486336" y="1390551"/>
            <a:ext cx="3286539" cy="861391"/>
          </a:xfrm>
          <a:prstGeom prst="wedgeEllipseCallout">
            <a:avLst>
              <a:gd name="adj1" fmla="val -37347"/>
              <a:gd name="adj2" fmla="val -27718"/>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dirty="0">
                <a:latin typeface="Calibri" panose="020F0502020204030204" pitchFamily="34" charset="0"/>
                <a:cs typeface="Calibri" panose="020F0502020204030204" pitchFamily="34" charset="0"/>
              </a:rPr>
              <a:t>Read paper!</a:t>
            </a:r>
          </a:p>
        </p:txBody>
      </p:sp>
      <p:pic>
        <p:nvPicPr>
          <p:cNvPr id="65" name="Picture 64" descr="A diagram of a switch&#10;&#10;AI-generated content may be incorrect.">
            <a:extLst>
              <a:ext uri="{FF2B5EF4-FFF2-40B4-BE49-F238E27FC236}">
                <a16:creationId xmlns:a16="http://schemas.microsoft.com/office/drawing/2014/main" id="{40BCAC7B-8400-0B10-E763-85200F7B77CD}"/>
              </a:ext>
            </a:extLst>
          </p:cNvPr>
          <p:cNvPicPr>
            <a:picLocks noChangeAspect="1"/>
          </p:cNvPicPr>
          <p:nvPr/>
        </p:nvPicPr>
        <p:blipFill>
          <a:blip r:embed="rId3"/>
          <a:stretch>
            <a:fillRect/>
          </a:stretch>
        </p:blipFill>
        <p:spPr>
          <a:xfrm>
            <a:off x="322273" y="4298434"/>
            <a:ext cx="6083148" cy="2241016"/>
          </a:xfrm>
          <a:prstGeom prst="rect">
            <a:avLst/>
          </a:prstGeom>
        </p:spPr>
      </p:pic>
      <p:pic>
        <p:nvPicPr>
          <p:cNvPr id="66" name="Picture 65" descr="A diagram of a program&#10;&#10;AI-generated content may be incorrect.">
            <a:extLst>
              <a:ext uri="{FF2B5EF4-FFF2-40B4-BE49-F238E27FC236}">
                <a16:creationId xmlns:a16="http://schemas.microsoft.com/office/drawing/2014/main" id="{B7CD852F-9C26-2691-7122-1D7FB4598E3C}"/>
              </a:ext>
            </a:extLst>
          </p:cNvPr>
          <p:cNvPicPr>
            <a:picLocks noChangeAspect="1"/>
          </p:cNvPicPr>
          <p:nvPr/>
        </p:nvPicPr>
        <p:blipFill>
          <a:blip r:embed="rId4"/>
          <a:stretch>
            <a:fillRect/>
          </a:stretch>
        </p:blipFill>
        <p:spPr>
          <a:xfrm>
            <a:off x="7873780" y="4298434"/>
            <a:ext cx="3368408" cy="2342252"/>
          </a:xfrm>
          <a:prstGeom prst="rect">
            <a:avLst/>
          </a:prstGeom>
        </p:spPr>
      </p:pic>
    </p:spTree>
    <p:extLst>
      <p:ext uri="{BB962C8B-B14F-4D97-AF65-F5344CB8AC3E}">
        <p14:creationId xmlns:p14="http://schemas.microsoft.com/office/powerpoint/2010/main" val="293863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B26F-3542-8942-903E-089F1D3DE50B}"/>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Testbed &amp; Workload</a:t>
            </a:r>
          </a:p>
        </p:txBody>
      </p:sp>
      <p:sp>
        <p:nvSpPr>
          <p:cNvPr id="3" name="Content Placeholder 2">
            <a:extLst>
              <a:ext uri="{FF2B5EF4-FFF2-40B4-BE49-F238E27FC236}">
                <a16:creationId xmlns:a16="http://schemas.microsoft.com/office/drawing/2014/main" id="{2ECA6708-8C77-384F-6110-AF1848F15962}"/>
              </a:ext>
            </a:extLst>
          </p:cNvPr>
          <p:cNvSpPr>
            <a:spLocks noGrp="1"/>
          </p:cNvSpPr>
          <p:nvPr>
            <p:ph idx="1"/>
          </p:nvPr>
        </p:nvSpPr>
        <p:spPr>
          <a:xfrm>
            <a:off x="838200" y="1461246"/>
            <a:ext cx="6699070" cy="4861177"/>
          </a:xfrm>
        </p:spPr>
        <p:txBody>
          <a:bodyPr>
            <a:normAutofit lnSpcReduction="10000"/>
          </a:bodyPr>
          <a:lstStyle/>
          <a:p>
            <a:pPr>
              <a:lnSpc>
                <a:spcPct val="150000"/>
              </a:lnSpc>
            </a:pPr>
            <a:r>
              <a:rPr lang="en-US" b="1">
                <a:latin typeface="Calibri" panose="020F0502020204030204" pitchFamily="34" charset="0"/>
                <a:cs typeface="Calibri" panose="020F0502020204030204" pitchFamily="34" charset="0"/>
              </a:rPr>
              <a:t>ARM-based </a:t>
            </a:r>
            <a:r>
              <a:rPr lang="en-US" b="1" err="1">
                <a:latin typeface="Calibri" panose="020F0502020204030204" pitchFamily="34" charset="0"/>
                <a:cs typeface="Calibri" panose="020F0502020204030204" pitchFamily="34" charset="0"/>
              </a:rPr>
              <a:t>SmartNIC</a:t>
            </a:r>
            <a:r>
              <a:rPr lang="en-US" b="1">
                <a:latin typeface="Calibri" panose="020F0502020204030204" pitchFamily="34" charset="0"/>
                <a:cs typeface="Calibri" panose="020F0502020204030204" pitchFamily="34" charset="0"/>
              </a:rPr>
              <a:t> instead of servers</a:t>
            </a:r>
          </a:p>
          <a:p>
            <a:pPr lvl="1">
              <a:lnSpc>
                <a:spcPct val="150000"/>
              </a:lnSpc>
            </a:pPr>
            <a:r>
              <a:rPr lang="en-US">
                <a:latin typeface="Calibri" panose="020F0502020204030204" pitchFamily="34" charset="0"/>
                <a:cs typeface="Calibri" panose="020F0502020204030204" pitchFamily="34" charset="0"/>
              </a:rPr>
              <a:t>Reduce latency</a:t>
            </a:r>
          </a:p>
          <a:p>
            <a:pPr lvl="1">
              <a:lnSpc>
                <a:spcPct val="150000"/>
              </a:lnSpc>
            </a:pPr>
            <a:r>
              <a:rPr lang="en-US">
                <a:latin typeface="Calibri" panose="020F0502020204030204" pitchFamily="34" charset="0"/>
                <a:cs typeface="Calibri" panose="020F0502020204030204" pitchFamily="34" charset="0"/>
              </a:rPr>
              <a:t>Improve energy-efficiency</a:t>
            </a:r>
          </a:p>
          <a:p>
            <a:pPr>
              <a:lnSpc>
                <a:spcPct val="150000"/>
              </a:lnSpc>
            </a:pPr>
            <a:r>
              <a:rPr lang="en-US" b="1">
                <a:latin typeface="Calibri" panose="020F0502020204030204" pitchFamily="34" charset="0"/>
                <a:cs typeface="Calibri" panose="020F0502020204030204" pitchFamily="34" charset="0"/>
              </a:rPr>
              <a:t>Typical data center traffic pattern</a:t>
            </a:r>
          </a:p>
          <a:p>
            <a:pPr lvl="1">
              <a:lnSpc>
                <a:spcPct val="150000"/>
              </a:lnSpc>
            </a:pPr>
            <a:r>
              <a:rPr lang="en-US">
                <a:latin typeface="Calibri" panose="020F0502020204030204" pitchFamily="34" charset="0"/>
                <a:cs typeface="Calibri" panose="020F0502020204030204" pitchFamily="34" charset="0"/>
              </a:rPr>
              <a:t>Skewed flow size</a:t>
            </a:r>
          </a:p>
          <a:p>
            <a:pPr lvl="1">
              <a:lnSpc>
                <a:spcPct val="150000"/>
              </a:lnSpc>
            </a:pPr>
            <a:r>
              <a:rPr lang="en-US">
                <a:latin typeface="Calibri" panose="020F0502020204030204" pitchFamily="34" charset="0"/>
                <a:cs typeface="Calibri" panose="020F0502020204030204" pitchFamily="34" charset="0"/>
              </a:rPr>
              <a:t>100k concurrent flows</a:t>
            </a:r>
          </a:p>
          <a:p>
            <a:pPr lvl="1">
              <a:lnSpc>
                <a:spcPct val="150000"/>
              </a:lnSpc>
            </a:pPr>
            <a:r>
              <a:rPr lang="en-US">
                <a:latin typeface="Calibri" panose="020F0502020204030204" pitchFamily="34" charset="0"/>
                <a:cs typeface="Calibri" panose="020F0502020204030204" pitchFamily="34" charset="0"/>
              </a:rPr>
              <a:t>100k new flows/min,</a:t>
            </a:r>
          </a:p>
          <a:p>
            <a:pPr lvl="1">
              <a:lnSpc>
                <a:spcPct val="150000"/>
              </a:lnSpc>
            </a:pPr>
            <a:r>
              <a:rPr lang="en-US">
                <a:latin typeface="Calibri" panose="020F0502020204030204" pitchFamily="34" charset="0"/>
                <a:cs typeface="Calibri" panose="020F0502020204030204" pitchFamily="34" charset="0"/>
              </a:rPr>
              <a:t>0.1% complex operation</a:t>
            </a:r>
          </a:p>
        </p:txBody>
      </p:sp>
      <p:pic>
        <p:nvPicPr>
          <p:cNvPr id="5" name="Picture 4" descr="A close up of a device&#10;&#10;Description automatically generated">
            <a:extLst>
              <a:ext uri="{FF2B5EF4-FFF2-40B4-BE49-F238E27FC236}">
                <a16:creationId xmlns:a16="http://schemas.microsoft.com/office/drawing/2014/main" id="{B8AC3F37-46C5-689D-D805-3DA40936BA1E}"/>
              </a:ext>
            </a:extLst>
          </p:cNvPr>
          <p:cNvPicPr>
            <a:picLocks noChangeAspect="1"/>
          </p:cNvPicPr>
          <p:nvPr/>
        </p:nvPicPr>
        <p:blipFill>
          <a:blip r:embed="rId4"/>
          <a:stretch>
            <a:fillRect/>
          </a:stretch>
        </p:blipFill>
        <p:spPr>
          <a:xfrm>
            <a:off x="7301591" y="1966307"/>
            <a:ext cx="4690819" cy="3986784"/>
          </a:xfrm>
          <a:prstGeom prst="rect">
            <a:avLst/>
          </a:prstGeom>
        </p:spPr>
      </p:pic>
      <p:sp>
        <p:nvSpPr>
          <p:cNvPr id="7" name="Slide Number Placeholder 6">
            <a:extLst>
              <a:ext uri="{FF2B5EF4-FFF2-40B4-BE49-F238E27FC236}">
                <a16:creationId xmlns:a16="http://schemas.microsoft.com/office/drawing/2014/main" id="{2B61BDED-71F1-5884-02A2-8DB13578B1A2}"/>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20</a:t>
            </a:fld>
            <a:endParaRPr lang="en-US"/>
          </a:p>
        </p:txBody>
      </p:sp>
      <p:sp>
        <p:nvSpPr>
          <p:cNvPr id="9" name="TextBox 8">
            <a:extLst>
              <a:ext uri="{FF2B5EF4-FFF2-40B4-BE49-F238E27FC236}">
                <a16:creationId xmlns:a16="http://schemas.microsoft.com/office/drawing/2014/main" id="{A091CD84-B73F-ABA3-0CFD-92D5105C9666}"/>
              </a:ext>
            </a:extLst>
          </p:cNvPr>
          <p:cNvSpPr txBox="1"/>
          <p:nvPr/>
        </p:nvSpPr>
        <p:spPr>
          <a:xfrm>
            <a:off x="7007815" y="6081360"/>
            <a:ext cx="5085588" cy="369332"/>
          </a:xfrm>
          <a:prstGeom prst="rect">
            <a:avLst/>
          </a:prstGeom>
          <a:noFill/>
        </p:spPr>
        <p:txBody>
          <a:bodyPr wrap="square">
            <a:spAutoFit/>
          </a:bodyPr>
          <a:lstStyle/>
          <a:p>
            <a:pPr lvl="1"/>
            <a:r>
              <a:rPr lang="en-US" sz="1800" err="1">
                <a:latin typeface="Calibri Light" panose="020F0302020204030204" pitchFamily="34" charset="0"/>
                <a:cs typeface="Calibri Light" panose="020F0302020204030204" pitchFamily="34" charset="0"/>
              </a:rPr>
              <a:t>SmartNIC</a:t>
            </a:r>
            <a:r>
              <a:rPr lang="en-US" sz="1800">
                <a:latin typeface="Calibri Light" panose="020F0302020204030204" pitchFamily="34" charset="0"/>
                <a:cs typeface="Calibri Light" panose="020F0302020204030204" pitchFamily="34" charset="0"/>
              </a:rPr>
              <a:t> </a:t>
            </a:r>
            <a:r>
              <a:rPr lang="en-US">
                <a:latin typeface="Calibri Light" panose="020F0302020204030204" pitchFamily="34" charset="0"/>
                <a:cs typeface="Calibri Light" panose="020F0302020204030204" pitchFamily="34" charset="0"/>
              </a:rPr>
              <a:t>has 8-core </a:t>
            </a:r>
            <a:r>
              <a:rPr lang="en-US" sz="1800">
                <a:latin typeface="Calibri Light" panose="020F0302020204030204" pitchFamily="34" charset="0"/>
                <a:cs typeface="Calibri Light" panose="020F0302020204030204" pitchFamily="34" charset="0"/>
              </a:rPr>
              <a:t>ARM A72 CPU @ 3.0GHz</a:t>
            </a:r>
          </a:p>
        </p:txBody>
      </p:sp>
    </p:spTree>
    <p:custDataLst>
      <p:tags r:id="rId1"/>
    </p:custDataLst>
    <p:extLst>
      <p:ext uri="{BB962C8B-B14F-4D97-AF65-F5344CB8AC3E}">
        <p14:creationId xmlns:p14="http://schemas.microsoft.com/office/powerpoint/2010/main" val="382582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084A8-7935-C696-2880-0D06AFD58C4E}"/>
              </a:ext>
            </a:extLst>
          </p:cNvPr>
          <p:cNvSpPr>
            <a:spLocks noGrp="1"/>
          </p:cNvSpPr>
          <p:nvPr>
            <p:ph type="title"/>
          </p:nvPr>
        </p:nvSpPr>
        <p:spPr>
          <a:xfrm>
            <a:off x="517071" y="499146"/>
            <a:ext cx="11157857" cy="1325563"/>
          </a:xfrm>
        </p:spPr>
        <p:txBody>
          <a:bodyPr/>
          <a:lstStyle/>
          <a:p>
            <a:r>
              <a:rPr lang="en-US" err="1">
                <a:latin typeface="Calibri" panose="020F0502020204030204" pitchFamily="34" charset="0"/>
                <a:cs typeface="Calibri" panose="020F0502020204030204" pitchFamily="34" charset="0"/>
              </a:rPr>
              <a:t>SwitchNIC</a:t>
            </a:r>
            <a:r>
              <a:rPr lang="en-US">
                <a:latin typeface="Calibri" panose="020F0502020204030204" pitchFamily="34" charset="0"/>
                <a:cs typeface="Calibri" panose="020F0502020204030204" pitchFamily="34" charset="0"/>
              </a:rPr>
              <a:t> achieves 1.5x better energy efficiency</a:t>
            </a:r>
          </a:p>
        </p:txBody>
      </p:sp>
      <p:sp>
        <p:nvSpPr>
          <p:cNvPr id="12" name="Slide Number Placeholder 11">
            <a:extLst>
              <a:ext uri="{FF2B5EF4-FFF2-40B4-BE49-F238E27FC236}">
                <a16:creationId xmlns:a16="http://schemas.microsoft.com/office/drawing/2014/main" id="{FB428E3B-6131-965B-0046-363D34C6E366}"/>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21</a:t>
            </a:fld>
            <a:endParaRPr lang="en-US"/>
          </a:p>
        </p:txBody>
      </p:sp>
      <p:pic>
        <p:nvPicPr>
          <p:cNvPr id="4" name="Picture 3">
            <a:extLst>
              <a:ext uri="{FF2B5EF4-FFF2-40B4-BE49-F238E27FC236}">
                <a16:creationId xmlns:a16="http://schemas.microsoft.com/office/drawing/2014/main" id="{23611849-BC37-1F6A-9DAE-26A7DE88340E}"/>
              </a:ext>
            </a:extLst>
          </p:cNvPr>
          <p:cNvPicPr>
            <a:picLocks noChangeAspect="1"/>
          </p:cNvPicPr>
          <p:nvPr/>
        </p:nvPicPr>
        <p:blipFill>
          <a:blip r:embed="rId4"/>
          <a:stretch>
            <a:fillRect/>
          </a:stretch>
        </p:blipFill>
        <p:spPr>
          <a:xfrm>
            <a:off x="1938568" y="1527053"/>
            <a:ext cx="8314864" cy="4965822"/>
          </a:xfrm>
          <a:prstGeom prst="rect">
            <a:avLst/>
          </a:prstGeom>
        </p:spPr>
      </p:pic>
    </p:spTree>
    <p:custDataLst>
      <p:tags r:id="rId1"/>
    </p:custDataLst>
    <p:extLst>
      <p:ext uri="{BB962C8B-B14F-4D97-AF65-F5344CB8AC3E}">
        <p14:creationId xmlns:p14="http://schemas.microsoft.com/office/powerpoint/2010/main" val="214363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16218-12DF-22C1-2D6A-9D9BE738C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83306-0C33-9AB2-DAC0-95A48307B31F}"/>
              </a:ext>
            </a:extLst>
          </p:cNvPr>
          <p:cNvSpPr>
            <a:spLocks noGrp="1"/>
          </p:cNvSpPr>
          <p:nvPr>
            <p:ph type="title"/>
          </p:nvPr>
        </p:nvSpPr>
        <p:spPr>
          <a:xfrm>
            <a:off x="321842" y="503148"/>
            <a:ext cx="11548316" cy="1325563"/>
          </a:xfrm>
        </p:spPr>
        <p:txBody>
          <a:bodyPr/>
          <a:lstStyle/>
          <a:p>
            <a:r>
              <a:rPr lang="en-US" err="1">
                <a:latin typeface="Calibri" panose="020F0502020204030204" pitchFamily="34" charset="0"/>
                <a:cs typeface="Calibri" panose="020F0502020204030204" pitchFamily="34" charset="0"/>
              </a:rPr>
              <a:t>SwitchNIC</a:t>
            </a:r>
            <a:r>
              <a:rPr lang="en-US">
                <a:latin typeface="Calibri" panose="020F0502020204030204" pitchFamily="34" charset="0"/>
                <a:cs typeface="Calibri" panose="020F0502020204030204" pitchFamily="34" charset="0"/>
              </a:rPr>
              <a:t> achieves 1.6x better processing latency</a:t>
            </a:r>
          </a:p>
        </p:txBody>
      </p:sp>
      <p:sp>
        <p:nvSpPr>
          <p:cNvPr id="12" name="Slide Number Placeholder 11">
            <a:extLst>
              <a:ext uri="{FF2B5EF4-FFF2-40B4-BE49-F238E27FC236}">
                <a16:creationId xmlns:a16="http://schemas.microsoft.com/office/drawing/2014/main" id="{F59A1964-1CB9-BB73-A28D-B291908DBD15}"/>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22</a:t>
            </a:fld>
            <a:endParaRPr lang="en-US"/>
          </a:p>
        </p:txBody>
      </p:sp>
      <p:pic>
        <p:nvPicPr>
          <p:cNvPr id="4" name="Picture 3">
            <a:extLst>
              <a:ext uri="{FF2B5EF4-FFF2-40B4-BE49-F238E27FC236}">
                <a16:creationId xmlns:a16="http://schemas.microsoft.com/office/drawing/2014/main" id="{553DB69B-B312-98A9-7515-14579C76DE8A}"/>
              </a:ext>
            </a:extLst>
          </p:cNvPr>
          <p:cNvPicPr>
            <a:picLocks noChangeAspect="1"/>
          </p:cNvPicPr>
          <p:nvPr/>
        </p:nvPicPr>
        <p:blipFill>
          <a:blip r:embed="rId4"/>
          <a:stretch>
            <a:fillRect/>
          </a:stretch>
        </p:blipFill>
        <p:spPr>
          <a:xfrm>
            <a:off x="1921116" y="1506208"/>
            <a:ext cx="8349768" cy="4986667"/>
          </a:xfrm>
          <a:prstGeom prst="rect">
            <a:avLst/>
          </a:prstGeom>
        </p:spPr>
      </p:pic>
    </p:spTree>
    <p:custDataLst>
      <p:tags r:id="rId1"/>
    </p:custDataLst>
    <p:extLst>
      <p:ext uri="{BB962C8B-B14F-4D97-AF65-F5344CB8AC3E}">
        <p14:creationId xmlns:p14="http://schemas.microsoft.com/office/powerpoint/2010/main" val="20749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C0E01-36C4-A131-B5E7-2152BFED8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C5DDB-2C0B-0F75-9895-37DEC998B106}"/>
              </a:ext>
            </a:extLst>
          </p:cNvPr>
          <p:cNvSpPr>
            <a:spLocks noGrp="1"/>
          </p:cNvSpPr>
          <p:nvPr>
            <p:ph type="title"/>
          </p:nvPr>
        </p:nvSpPr>
        <p:spPr>
          <a:xfrm>
            <a:off x="1053384" y="365125"/>
            <a:ext cx="10515600" cy="1325563"/>
          </a:xfrm>
        </p:spPr>
        <p:txBody>
          <a:bodyPr/>
          <a:lstStyle/>
          <a:p>
            <a:r>
              <a:rPr lang="en-US">
                <a:latin typeface="Calibri" panose="020F0502020204030204" pitchFamily="34" charset="0"/>
                <a:cs typeface="Calibri" panose="020F0502020204030204" pitchFamily="34" charset="0"/>
              </a:rPr>
              <a:t>Summary</a:t>
            </a:r>
          </a:p>
        </p:txBody>
      </p:sp>
      <p:sp>
        <p:nvSpPr>
          <p:cNvPr id="4" name="Slide Number Placeholder 3">
            <a:extLst>
              <a:ext uri="{FF2B5EF4-FFF2-40B4-BE49-F238E27FC236}">
                <a16:creationId xmlns:a16="http://schemas.microsoft.com/office/drawing/2014/main" id="{1B5ABE5E-6D11-8C16-4347-3A2C4CB90303}"/>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23</a:t>
            </a:fld>
            <a:endParaRPr lang="en-US"/>
          </a:p>
        </p:txBody>
      </p:sp>
      <p:sp>
        <p:nvSpPr>
          <p:cNvPr id="6" name="TextBox 5">
            <a:extLst>
              <a:ext uri="{FF2B5EF4-FFF2-40B4-BE49-F238E27FC236}">
                <a16:creationId xmlns:a16="http://schemas.microsoft.com/office/drawing/2014/main" id="{2B9C9E63-C9E6-93A0-5CED-5C9F66E8BCD8}"/>
              </a:ext>
            </a:extLst>
          </p:cNvPr>
          <p:cNvSpPr txBox="1"/>
          <p:nvPr/>
        </p:nvSpPr>
        <p:spPr>
          <a:xfrm>
            <a:off x="6096000" y="6068857"/>
            <a:ext cx="4507605" cy="461665"/>
          </a:xfrm>
          <a:prstGeom prst="rect">
            <a:avLst/>
          </a:prstGeom>
          <a:noFill/>
        </p:spPr>
        <p:txBody>
          <a:bodyPr wrap="square" rtlCol="0">
            <a:spAutoFit/>
          </a:bodyPr>
          <a:lstStyle/>
          <a:p>
            <a:r>
              <a:rPr lang="en-US" sz="2400" err="1">
                <a:latin typeface="Calibri" panose="020F0502020204030204" pitchFamily="34" charset="0"/>
                <a:cs typeface="Calibri" panose="020F0502020204030204" pitchFamily="34" charset="0"/>
              </a:rPr>
              <a:t>SwitchNIC</a:t>
            </a:r>
            <a:r>
              <a:rPr lang="en-US" sz="2400">
                <a:latin typeface="Calibri" panose="020F0502020204030204" pitchFamily="34" charset="0"/>
                <a:cs typeface="Calibri" panose="020F0502020204030204" pitchFamily="34" charset="0"/>
              </a:rPr>
              <a:t> is open source</a:t>
            </a:r>
          </a:p>
        </p:txBody>
      </p:sp>
      <p:sp>
        <p:nvSpPr>
          <p:cNvPr id="7" name="TextBox 6">
            <a:extLst>
              <a:ext uri="{FF2B5EF4-FFF2-40B4-BE49-F238E27FC236}">
                <a16:creationId xmlns:a16="http://schemas.microsoft.com/office/drawing/2014/main" id="{EF0D4BA7-EC55-40A4-3373-896B987E5FD0}"/>
              </a:ext>
            </a:extLst>
          </p:cNvPr>
          <p:cNvSpPr txBox="1"/>
          <p:nvPr/>
        </p:nvSpPr>
        <p:spPr>
          <a:xfrm>
            <a:off x="1159096" y="6068858"/>
            <a:ext cx="4507605" cy="461665"/>
          </a:xfrm>
          <a:prstGeom prst="rect">
            <a:avLst/>
          </a:prstGeom>
          <a:noFill/>
        </p:spPr>
        <p:txBody>
          <a:bodyPr wrap="square" rtlCol="0">
            <a:spAutoFit/>
          </a:bodyPr>
          <a:lstStyle/>
          <a:p>
            <a:r>
              <a:rPr lang="en-US" sz="2400">
                <a:latin typeface="Calibri" panose="020F0502020204030204" pitchFamily="34" charset="0"/>
                <a:cs typeface="Calibri" panose="020F0502020204030204" pitchFamily="34" charset="0"/>
              </a:rPr>
              <a:t>Contact: </a:t>
            </a:r>
            <a:r>
              <a:rPr lang="en-US" sz="2400" err="1">
                <a:latin typeface="Calibri Light" panose="020F0302020204030204" pitchFamily="34" charset="0"/>
                <a:cs typeface="Calibri Light" panose="020F0302020204030204" pitchFamily="34" charset="0"/>
              </a:rPr>
              <a:t>yiranlei@cs.cmu.edu</a:t>
            </a:r>
            <a:endParaRPr lang="en-US" sz="2400">
              <a:latin typeface="Calibri Light" panose="020F0302020204030204" pitchFamily="34" charset="0"/>
              <a:cs typeface="Calibri Light" panose="020F0302020204030204" pitchFamily="34" charset="0"/>
            </a:endParaRPr>
          </a:p>
        </p:txBody>
      </p:sp>
      <p:pic>
        <p:nvPicPr>
          <p:cNvPr id="9" name="Picture 8" descr="A qr code on a white background&#10;&#10;AI-generated content may be incorrect.">
            <a:extLst>
              <a:ext uri="{FF2B5EF4-FFF2-40B4-BE49-F238E27FC236}">
                <a16:creationId xmlns:a16="http://schemas.microsoft.com/office/drawing/2014/main" id="{1E1E9EEA-8073-993B-AF40-49D50E0341EC}"/>
              </a:ext>
            </a:extLst>
          </p:cNvPr>
          <p:cNvPicPr>
            <a:picLocks noChangeAspect="1"/>
          </p:cNvPicPr>
          <p:nvPr/>
        </p:nvPicPr>
        <p:blipFill>
          <a:blip r:embed="rId4"/>
          <a:stretch>
            <a:fillRect/>
          </a:stretch>
        </p:blipFill>
        <p:spPr>
          <a:xfrm>
            <a:off x="9448799" y="4884624"/>
            <a:ext cx="1973376" cy="1973376"/>
          </a:xfrm>
          <a:prstGeom prst="rect">
            <a:avLst/>
          </a:prstGeom>
        </p:spPr>
      </p:pic>
      <p:sp>
        <p:nvSpPr>
          <p:cNvPr id="10" name="Content Placeholder 2">
            <a:extLst>
              <a:ext uri="{FF2B5EF4-FFF2-40B4-BE49-F238E27FC236}">
                <a16:creationId xmlns:a16="http://schemas.microsoft.com/office/drawing/2014/main" id="{432900C3-418C-A075-4D64-D60C98D3A79A}"/>
              </a:ext>
            </a:extLst>
          </p:cNvPr>
          <p:cNvSpPr>
            <a:spLocks noGrp="1"/>
          </p:cNvSpPr>
          <p:nvPr>
            <p:ph idx="1"/>
          </p:nvPr>
        </p:nvSpPr>
        <p:spPr>
          <a:xfrm>
            <a:off x="838199" y="1690688"/>
            <a:ext cx="10583975" cy="4631735"/>
          </a:xfrm>
        </p:spPr>
        <p:txBody>
          <a:bodyPr>
            <a:normAutofit/>
          </a:bodyPr>
          <a:lstStyle/>
          <a:p>
            <a:pPr>
              <a:lnSpc>
                <a:spcPct val="150000"/>
              </a:lnSpc>
            </a:pPr>
            <a:r>
              <a:rPr lang="en-US" b="1">
                <a:latin typeface="Calibri" panose="020F0502020204030204" pitchFamily="34" charset="0"/>
                <a:cs typeface="Calibri" panose="020F0502020204030204" pitchFamily="34" charset="0"/>
              </a:rPr>
              <a:t>Shared-state consistency in hybrid hardware/software NFs</a:t>
            </a:r>
          </a:p>
          <a:p>
            <a:pPr lvl="1">
              <a:lnSpc>
                <a:spcPct val="150000"/>
              </a:lnSpc>
            </a:pPr>
            <a:r>
              <a:rPr lang="en-US">
                <a:latin typeface="Calibri" panose="020F0502020204030204" pitchFamily="34" charset="0"/>
                <a:cs typeface="Calibri" panose="020F0502020204030204" pitchFamily="34" charset="0"/>
              </a:rPr>
              <a:t>Simple</a:t>
            </a:r>
          </a:p>
          <a:p>
            <a:pPr lvl="1">
              <a:lnSpc>
                <a:spcPct val="150000"/>
              </a:lnSpc>
            </a:pPr>
            <a:r>
              <a:rPr lang="en-US">
                <a:latin typeface="Calibri" panose="020F0502020204030204" pitchFamily="34" charset="0"/>
                <a:cs typeface="Calibri" panose="020F0502020204030204" pitchFamily="34" charset="0"/>
              </a:rPr>
              <a:t>When the hardware lies on the data path to the software</a:t>
            </a:r>
          </a:p>
          <a:p>
            <a:pPr>
              <a:lnSpc>
                <a:spcPct val="150000"/>
              </a:lnSpc>
            </a:pPr>
            <a:r>
              <a:rPr lang="en-US" b="1" err="1">
                <a:latin typeface="Calibri" panose="020F0502020204030204" pitchFamily="34" charset="0"/>
                <a:cs typeface="Calibri" panose="020F0502020204030204" pitchFamily="34" charset="0"/>
              </a:rPr>
              <a:t>SwitchNIC</a:t>
            </a:r>
            <a:endParaRPr lang="en-US" b="1">
              <a:latin typeface="Calibri" panose="020F0502020204030204" pitchFamily="34" charset="0"/>
              <a:cs typeface="Calibri" panose="020F0502020204030204" pitchFamily="34" charset="0"/>
            </a:endParaRPr>
          </a:p>
          <a:p>
            <a:pPr lvl="1">
              <a:lnSpc>
                <a:spcPct val="150000"/>
              </a:lnSpc>
            </a:pPr>
            <a:r>
              <a:rPr lang="en-US">
                <a:latin typeface="Calibri" panose="020F0502020204030204" pitchFamily="34" charset="0"/>
                <a:cs typeface="Calibri" panose="020F0502020204030204" pitchFamily="34" charset="0"/>
              </a:rPr>
              <a:t>1.5x better energy efficiency, 1.6x better latency</a:t>
            </a:r>
          </a:p>
          <a:p>
            <a:pPr lvl="1">
              <a:lnSpc>
                <a:spcPct val="150000"/>
              </a:lnSpc>
            </a:pPr>
            <a:endParaRPr lang="en-US" b="1">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4190112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83FB-7D1A-A220-21BF-D20A55A2F602}"/>
              </a:ext>
            </a:extLst>
          </p:cNvPr>
          <p:cNvSpPr>
            <a:spLocks noGrp="1"/>
          </p:cNvSpPr>
          <p:nvPr>
            <p:ph type="title"/>
          </p:nvPr>
        </p:nvSpPr>
        <p:spPr/>
        <p:txBody>
          <a:bodyPr/>
          <a:lstStyle/>
          <a:p>
            <a:r>
              <a:rPr lang="en-US" dirty="0"/>
              <a:t>Backup slides</a:t>
            </a:r>
          </a:p>
        </p:txBody>
      </p:sp>
      <p:sp>
        <p:nvSpPr>
          <p:cNvPr id="3" name="Content Placeholder 2">
            <a:extLst>
              <a:ext uri="{FF2B5EF4-FFF2-40B4-BE49-F238E27FC236}">
                <a16:creationId xmlns:a16="http://schemas.microsoft.com/office/drawing/2014/main" id="{5195074F-9FF0-F670-7848-0FABAB27B44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C213EEB-9082-5A5F-F56F-CEE8F802AB8A}"/>
              </a:ext>
            </a:extLst>
          </p:cNvPr>
          <p:cNvSpPr>
            <a:spLocks noGrp="1"/>
          </p:cNvSpPr>
          <p:nvPr>
            <p:ph type="sldNum" sz="quarter" idx="12"/>
          </p:nvPr>
        </p:nvSpPr>
        <p:spPr/>
        <p:txBody>
          <a:bodyPr/>
          <a:lstStyle/>
          <a:p>
            <a:fld id="{C2D4784F-C353-DA44-87C3-1AD0A2C880D0}" type="slidenum">
              <a:rPr lang="en-US" smtClean="0"/>
              <a:t>24</a:t>
            </a:fld>
            <a:endParaRPr lang="en-US"/>
          </a:p>
        </p:txBody>
      </p:sp>
    </p:spTree>
    <p:extLst>
      <p:ext uri="{BB962C8B-B14F-4D97-AF65-F5344CB8AC3E}">
        <p14:creationId xmlns:p14="http://schemas.microsoft.com/office/powerpoint/2010/main" val="1871712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A5382-5F1A-2BFA-9FF1-B53D77196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74A34-B0BB-C439-F975-45C5376EAF1F}"/>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#3: Migrate back to switch</a:t>
            </a:r>
          </a:p>
        </p:txBody>
      </p:sp>
      <p:sp>
        <p:nvSpPr>
          <p:cNvPr id="4" name="Slide Number Placeholder 3">
            <a:extLst>
              <a:ext uri="{FF2B5EF4-FFF2-40B4-BE49-F238E27FC236}">
                <a16:creationId xmlns:a16="http://schemas.microsoft.com/office/drawing/2014/main" id="{9F8AC3E5-03C0-6418-3E3A-FC615131A798}"/>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25</a:t>
            </a:fld>
            <a:endParaRPr lang="en-US"/>
          </a:p>
        </p:txBody>
      </p:sp>
      <p:sp>
        <p:nvSpPr>
          <p:cNvPr id="7" name="Rectangle 6">
            <a:extLst>
              <a:ext uri="{FF2B5EF4-FFF2-40B4-BE49-F238E27FC236}">
                <a16:creationId xmlns:a16="http://schemas.microsoft.com/office/drawing/2014/main" id="{5701D200-E49B-101B-7C6A-E9C87D548A9F}"/>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036A3A23-C48D-AE3B-6096-B41E4DC0BAB9}"/>
              </a:ext>
            </a:extLst>
          </p:cNvPr>
          <p:cNvGraphicFramePr>
            <a:graphicFrameLocks noGrp="1"/>
          </p:cNvGraphicFramePr>
          <p:nvPr/>
        </p:nvGraphicFramePr>
        <p:xfrm>
          <a:off x="2992499" y="3482568"/>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32" name="TextBox 31">
            <a:extLst>
              <a:ext uri="{FF2B5EF4-FFF2-40B4-BE49-F238E27FC236}">
                <a16:creationId xmlns:a16="http://schemas.microsoft.com/office/drawing/2014/main" id="{398205C2-16C8-D592-ADD2-E2CC209F75CE}"/>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3" name="Rectangle 32">
            <a:extLst>
              <a:ext uri="{FF2B5EF4-FFF2-40B4-BE49-F238E27FC236}">
                <a16:creationId xmlns:a16="http://schemas.microsoft.com/office/drawing/2014/main" id="{984F4748-506A-12C8-95C6-29592D69822B}"/>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a:extLst>
              <a:ext uri="{FF2B5EF4-FFF2-40B4-BE49-F238E27FC236}">
                <a16:creationId xmlns:a16="http://schemas.microsoft.com/office/drawing/2014/main" id="{3DA2AEBD-5F79-F6F9-9104-8C1A25425374}"/>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0661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0661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0661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0661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0661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5" name="TextBox 34">
            <a:extLst>
              <a:ext uri="{FF2B5EF4-FFF2-40B4-BE49-F238E27FC236}">
                <a16:creationId xmlns:a16="http://schemas.microsoft.com/office/drawing/2014/main" id="{919A68B1-5B69-EA68-38BC-0531B5E2ECEB}"/>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grpSp>
        <p:nvGrpSpPr>
          <p:cNvPr id="6" name="Group 5">
            <a:extLst>
              <a:ext uri="{FF2B5EF4-FFF2-40B4-BE49-F238E27FC236}">
                <a16:creationId xmlns:a16="http://schemas.microsoft.com/office/drawing/2014/main" id="{63949F89-53FC-5BD9-859D-6B24C3D7DF6F}"/>
              </a:ext>
            </a:extLst>
          </p:cNvPr>
          <p:cNvGrpSpPr/>
          <p:nvPr/>
        </p:nvGrpSpPr>
        <p:grpSpPr>
          <a:xfrm>
            <a:off x="1080410" y="5141631"/>
            <a:ext cx="1236372" cy="1084048"/>
            <a:chOff x="517256" y="4106139"/>
            <a:chExt cx="1236372" cy="1084048"/>
          </a:xfrm>
        </p:grpSpPr>
        <p:sp>
          <p:nvSpPr>
            <p:cNvPr id="20" name="Rectangle 19">
              <a:extLst>
                <a:ext uri="{FF2B5EF4-FFF2-40B4-BE49-F238E27FC236}">
                  <a16:creationId xmlns:a16="http://schemas.microsoft.com/office/drawing/2014/main" id="{A2196349-DCA0-00C3-32AF-22642007A0DA}"/>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TextBox 21">
              <a:extLst>
                <a:ext uri="{FF2B5EF4-FFF2-40B4-BE49-F238E27FC236}">
                  <a16:creationId xmlns:a16="http://schemas.microsoft.com/office/drawing/2014/main" id="{68EF8E43-59D1-BD1D-2C2F-7CCF29EF5394}"/>
                </a:ext>
              </a:extLst>
            </p:cNvPr>
            <p:cNvSpPr txBox="1"/>
            <p:nvPr/>
          </p:nvSpPr>
          <p:spPr>
            <a:xfrm>
              <a:off x="664295" y="4106139"/>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sp>
        <p:nvSpPr>
          <p:cNvPr id="19" name="Right Arrow 18">
            <a:extLst>
              <a:ext uri="{FF2B5EF4-FFF2-40B4-BE49-F238E27FC236}">
                <a16:creationId xmlns:a16="http://schemas.microsoft.com/office/drawing/2014/main" id="{45399134-F756-D027-BA4B-FE00932AB901}"/>
              </a:ext>
            </a:extLst>
          </p:cNvPr>
          <p:cNvSpPr/>
          <p:nvPr/>
        </p:nvSpPr>
        <p:spPr>
          <a:xfrm>
            <a:off x="2413672" y="5671681"/>
            <a:ext cx="331246" cy="36933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0B6D35F4-8ABF-BFEB-D534-BA7DB3043A39}"/>
              </a:ext>
            </a:extLst>
          </p:cNvPr>
          <p:cNvGraphicFramePr>
            <a:graphicFrameLocks noGrp="1"/>
          </p:cNvGraphicFramePr>
          <p:nvPr/>
        </p:nvGraphicFramePr>
        <p:xfrm>
          <a:off x="1239761" y="5622517"/>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5" name="TextBox 4">
            <a:extLst>
              <a:ext uri="{FF2B5EF4-FFF2-40B4-BE49-F238E27FC236}">
                <a16:creationId xmlns:a16="http://schemas.microsoft.com/office/drawing/2014/main" id="{C62BDDA2-DD3B-614F-66B3-EF9CB540F7B4}"/>
              </a:ext>
            </a:extLst>
          </p:cNvPr>
          <p:cNvSpPr txBox="1"/>
          <p:nvPr/>
        </p:nvSpPr>
        <p:spPr>
          <a:xfrm>
            <a:off x="817473" y="1436536"/>
            <a:ext cx="4989892" cy="830997"/>
          </a:xfrm>
          <a:prstGeom prst="rect">
            <a:avLst/>
          </a:prstGeom>
          <a:noFill/>
        </p:spPr>
        <p:txBody>
          <a:bodyPr wrap="none" rtlCol="0">
            <a:spAutoFit/>
          </a:bodyPr>
          <a:lstStyle/>
          <a:p>
            <a:r>
              <a:rPr lang="en-US" sz="2400">
                <a:solidFill>
                  <a:srgbClr val="0070C0"/>
                </a:solidFill>
                <a:latin typeface="Calibri" panose="020F0502020204030204" pitchFamily="34" charset="0"/>
                <a:cs typeface="Calibri" panose="020F0502020204030204" pitchFamily="34" charset="0"/>
              </a:rPr>
              <a:t>Offload popular David’s state to switch</a:t>
            </a:r>
          </a:p>
          <a:p>
            <a:r>
              <a:rPr lang="en-US" sz="2400">
                <a:solidFill>
                  <a:srgbClr val="00B050"/>
                </a:solidFill>
                <a:latin typeface="Calibri" panose="020F0502020204030204" pitchFamily="34" charset="0"/>
                <a:cs typeface="Calibri" panose="020F0502020204030204" pitchFamily="34" charset="0"/>
              </a:rPr>
              <a:t>What if a packet train?</a:t>
            </a:r>
          </a:p>
        </p:txBody>
      </p:sp>
      <p:grpSp>
        <p:nvGrpSpPr>
          <p:cNvPr id="10" name="Group 9">
            <a:extLst>
              <a:ext uri="{FF2B5EF4-FFF2-40B4-BE49-F238E27FC236}">
                <a16:creationId xmlns:a16="http://schemas.microsoft.com/office/drawing/2014/main" id="{594D2189-ED52-0562-B6B3-CEF67A95557C}"/>
              </a:ext>
            </a:extLst>
          </p:cNvPr>
          <p:cNvGrpSpPr/>
          <p:nvPr/>
        </p:nvGrpSpPr>
        <p:grpSpPr>
          <a:xfrm>
            <a:off x="686096" y="3742892"/>
            <a:ext cx="1236372" cy="1084379"/>
            <a:chOff x="517256" y="4105808"/>
            <a:chExt cx="1236372" cy="1084379"/>
          </a:xfrm>
        </p:grpSpPr>
        <p:sp>
          <p:nvSpPr>
            <p:cNvPr id="13" name="Rectangle 12">
              <a:extLst>
                <a:ext uri="{FF2B5EF4-FFF2-40B4-BE49-F238E27FC236}">
                  <a16:creationId xmlns:a16="http://schemas.microsoft.com/office/drawing/2014/main" id="{83D3A31B-F560-DC53-19A8-ABEDAABB26DC}"/>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DE0043F2-8CAB-6FAE-D916-036BF3AB7295}"/>
                </a:ext>
              </a:extLst>
            </p:cNvPr>
            <p:cNvSpPr txBox="1"/>
            <p:nvPr/>
          </p:nvSpPr>
          <p:spPr>
            <a:xfrm>
              <a:off x="675058" y="4105808"/>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5</a:t>
              </a:r>
            </a:p>
          </p:txBody>
        </p:sp>
      </p:grpSp>
      <p:sp>
        <p:nvSpPr>
          <p:cNvPr id="12" name="Right Arrow 11">
            <a:extLst>
              <a:ext uri="{FF2B5EF4-FFF2-40B4-BE49-F238E27FC236}">
                <a16:creationId xmlns:a16="http://schemas.microsoft.com/office/drawing/2014/main" id="{3F954A18-1EA6-0D07-13F6-583ABEFE7659}"/>
              </a:ext>
            </a:extLst>
          </p:cNvPr>
          <p:cNvSpPr/>
          <p:nvPr/>
        </p:nvSpPr>
        <p:spPr>
          <a:xfrm>
            <a:off x="2019358" y="4273273"/>
            <a:ext cx="331246" cy="36933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15" name="Table 14">
            <a:extLst>
              <a:ext uri="{FF2B5EF4-FFF2-40B4-BE49-F238E27FC236}">
                <a16:creationId xmlns:a16="http://schemas.microsoft.com/office/drawing/2014/main" id="{6B6962AC-AA69-F1DF-68A8-81D509639D7C}"/>
              </a:ext>
            </a:extLst>
          </p:cNvPr>
          <p:cNvGraphicFramePr>
            <a:graphicFrameLocks noGrp="1"/>
          </p:cNvGraphicFramePr>
          <p:nvPr/>
        </p:nvGraphicFramePr>
        <p:xfrm>
          <a:off x="838200" y="4210072"/>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21" name="Group 20">
            <a:extLst>
              <a:ext uri="{FF2B5EF4-FFF2-40B4-BE49-F238E27FC236}">
                <a16:creationId xmlns:a16="http://schemas.microsoft.com/office/drawing/2014/main" id="{EE806D27-C272-CE90-5B3F-71E325789828}"/>
              </a:ext>
            </a:extLst>
          </p:cNvPr>
          <p:cNvGrpSpPr/>
          <p:nvPr/>
        </p:nvGrpSpPr>
        <p:grpSpPr>
          <a:xfrm>
            <a:off x="248156" y="2609920"/>
            <a:ext cx="1664508" cy="1084048"/>
            <a:chOff x="517256" y="4106139"/>
            <a:chExt cx="1664508" cy="1084048"/>
          </a:xfrm>
        </p:grpSpPr>
        <p:grpSp>
          <p:nvGrpSpPr>
            <p:cNvPr id="27" name="Group 26">
              <a:extLst>
                <a:ext uri="{FF2B5EF4-FFF2-40B4-BE49-F238E27FC236}">
                  <a16:creationId xmlns:a16="http://schemas.microsoft.com/office/drawing/2014/main" id="{68D53A0E-9FC7-BD4D-CDAA-F3D289376F08}"/>
                </a:ext>
              </a:extLst>
            </p:cNvPr>
            <p:cNvGrpSpPr/>
            <p:nvPr/>
          </p:nvGrpSpPr>
          <p:grpSpPr>
            <a:xfrm>
              <a:off x="517256" y="4106139"/>
              <a:ext cx="1236372" cy="1084048"/>
              <a:chOff x="517256" y="4106139"/>
              <a:chExt cx="1236372" cy="1084048"/>
            </a:xfrm>
          </p:grpSpPr>
          <p:sp>
            <p:nvSpPr>
              <p:cNvPr id="29" name="Rectangle 28">
                <a:extLst>
                  <a:ext uri="{FF2B5EF4-FFF2-40B4-BE49-F238E27FC236}">
                    <a16:creationId xmlns:a16="http://schemas.microsoft.com/office/drawing/2014/main" id="{B4ADFD95-3F98-CC2B-92A9-92BCBB0FB209}"/>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TextBox 30">
                <a:extLst>
                  <a:ext uri="{FF2B5EF4-FFF2-40B4-BE49-F238E27FC236}">
                    <a16:creationId xmlns:a16="http://schemas.microsoft.com/office/drawing/2014/main" id="{FB3D2E44-1002-F66E-048A-85A5A5143B98}"/>
                  </a:ext>
                </a:extLst>
              </p:cNvPr>
              <p:cNvSpPr txBox="1"/>
              <p:nvPr/>
            </p:nvSpPr>
            <p:spPr>
              <a:xfrm>
                <a:off x="664295" y="4106139"/>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6</a:t>
                </a:r>
              </a:p>
            </p:txBody>
          </p:sp>
        </p:grpSp>
        <p:sp>
          <p:nvSpPr>
            <p:cNvPr id="28" name="Right Arrow 27">
              <a:extLst>
                <a:ext uri="{FF2B5EF4-FFF2-40B4-BE49-F238E27FC236}">
                  <a16:creationId xmlns:a16="http://schemas.microsoft.com/office/drawing/2014/main" id="{16AD600C-7720-5565-FBBF-5B196E841D2D}"/>
                </a:ext>
              </a:extLst>
            </p:cNvPr>
            <p:cNvSpPr/>
            <p:nvPr/>
          </p:nvSpPr>
          <p:spPr>
            <a:xfrm>
              <a:off x="1850518" y="4636189"/>
              <a:ext cx="331246" cy="36933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36" name="Table 35">
            <a:extLst>
              <a:ext uri="{FF2B5EF4-FFF2-40B4-BE49-F238E27FC236}">
                <a16:creationId xmlns:a16="http://schemas.microsoft.com/office/drawing/2014/main" id="{844EABD4-96F6-B719-5B0E-FBF63F35062A}"/>
              </a:ext>
            </a:extLst>
          </p:cNvPr>
          <p:cNvGraphicFramePr>
            <a:graphicFrameLocks noGrp="1"/>
          </p:cNvGraphicFramePr>
          <p:nvPr/>
        </p:nvGraphicFramePr>
        <p:xfrm>
          <a:off x="409103" y="3090633"/>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48" name="TextBox 47">
            <a:extLst>
              <a:ext uri="{FF2B5EF4-FFF2-40B4-BE49-F238E27FC236}">
                <a16:creationId xmlns:a16="http://schemas.microsoft.com/office/drawing/2014/main" id="{E14018E9-1CC6-9C34-9B95-DA425A4D4CEE}"/>
              </a:ext>
            </a:extLst>
          </p:cNvPr>
          <p:cNvSpPr txBox="1"/>
          <p:nvPr/>
        </p:nvSpPr>
        <p:spPr>
          <a:xfrm>
            <a:off x="3765919" y="1801486"/>
            <a:ext cx="3295282" cy="461665"/>
          </a:xfrm>
          <a:prstGeom prst="rect">
            <a:avLst/>
          </a:prstGeom>
          <a:noFill/>
        </p:spPr>
        <p:txBody>
          <a:bodyPr wrap="square" rtlCol="0">
            <a:spAutoFit/>
          </a:bodyPr>
          <a:lstStyle/>
          <a:p>
            <a:r>
              <a:rPr lang="en-US" sz="2400">
                <a:solidFill>
                  <a:srgbClr val="0070C0"/>
                </a:solidFill>
                <a:latin typeface="Calibri" panose="020F0502020204030204" pitchFamily="34" charset="0"/>
                <a:cs typeface="Calibri" panose="020F0502020204030204" pitchFamily="34" charset="0"/>
              </a:rPr>
              <a:t>Idea: cancel migration </a:t>
            </a:r>
          </a:p>
        </p:txBody>
      </p:sp>
      <p:sp>
        <p:nvSpPr>
          <p:cNvPr id="11" name="TextBox 10">
            <a:extLst>
              <a:ext uri="{FF2B5EF4-FFF2-40B4-BE49-F238E27FC236}">
                <a16:creationId xmlns:a16="http://schemas.microsoft.com/office/drawing/2014/main" id="{D6E0F27B-7D9E-8F18-55ED-B89D39872102}"/>
              </a:ext>
            </a:extLst>
          </p:cNvPr>
          <p:cNvSpPr txBox="1"/>
          <p:nvPr/>
        </p:nvSpPr>
        <p:spPr>
          <a:xfrm>
            <a:off x="10306090" y="4700757"/>
            <a:ext cx="432179"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66" name="TextBox 65">
            <a:extLst>
              <a:ext uri="{FF2B5EF4-FFF2-40B4-BE49-F238E27FC236}">
                <a16:creationId xmlns:a16="http://schemas.microsoft.com/office/drawing/2014/main" id="{C3C8A363-B151-D5DF-7315-46AC5F4C96D1}"/>
              </a:ext>
            </a:extLst>
          </p:cNvPr>
          <p:cNvSpPr txBox="1"/>
          <p:nvPr/>
        </p:nvSpPr>
        <p:spPr>
          <a:xfrm>
            <a:off x="9947573" y="5628490"/>
            <a:ext cx="717033" cy="400110"/>
          </a:xfrm>
          <a:prstGeom prst="rect">
            <a:avLst/>
          </a:prstGeom>
          <a:noFill/>
        </p:spPr>
        <p:txBody>
          <a:bodyPr wrap="square">
            <a:spAutoFit/>
          </a:bodyPr>
          <a:lstStyle/>
          <a:p>
            <a:pPr algn="ctr"/>
            <a:r>
              <a:rPr lang="en-US" sz="2000" b="0">
                <a:solidFill>
                  <a:schemeClr val="tx1"/>
                </a:solidFill>
                <a:latin typeface="Calibri" panose="020F0502020204030204" pitchFamily="34" charset="0"/>
                <a:cs typeface="Calibri" panose="020F0502020204030204" pitchFamily="34" charset="0"/>
              </a:rPr>
              <a:t>🍟</a:t>
            </a:r>
          </a:p>
        </p:txBody>
      </p:sp>
      <p:grpSp>
        <p:nvGrpSpPr>
          <p:cNvPr id="69" name="Group 68">
            <a:extLst>
              <a:ext uri="{FF2B5EF4-FFF2-40B4-BE49-F238E27FC236}">
                <a16:creationId xmlns:a16="http://schemas.microsoft.com/office/drawing/2014/main" id="{50B534FD-30B8-5A15-DF82-E0C61961C660}"/>
              </a:ext>
            </a:extLst>
          </p:cNvPr>
          <p:cNvGrpSpPr/>
          <p:nvPr/>
        </p:nvGrpSpPr>
        <p:grpSpPr>
          <a:xfrm>
            <a:off x="3259307" y="4615478"/>
            <a:ext cx="1959590" cy="456369"/>
            <a:chOff x="3259307" y="4615478"/>
            <a:chExt cx="1959590" cy="456369"/>
          </a:xfrm>
        </p:grpSpPr>
        <p:sp>
          <p:nvSpPr>
            <p:cNvPr id="67" name="TextBox 66">
              <a:extLst>
                <a:ext uri="{FF2B5EF4-FFF2-40B4-BE49-F238E27FC236}">
                  <a16:creationId xmlns:a16="http://schemas.microsoft.com/office/drawing/2014/main" id="{1730AEF7-A39B-58EB-53F1-6057C7082E4E}"/>
                </a:ext>
              </a:extLst>
            </p:cNvPr>
            <p:cNvSpPr txBox="1"/>
            <p:nvPr/>
          </p:nvSpPr>
          <p:spPr>
            <a:xfrm>
              <a:off x="3259307" y="4615478"/>
              <a:ext cx="845098" cy="400110"/>
            </a:xfrm>
            <a:prstGeom prst="rect">
              <a:avLst/>
            </a:prstGeom>
            <a:noFill/>
          </p:spPr>
          <p:txBody>
            <a:bodyPr wrap="square">
              <a:spAutoFit/>
            </a:bodyPr>
            <a:lstStyle/>
            <a:p>
              <a:pPr algn="ctr"/>
              <a:r>
                <a:rPr lang="en-US" sz="2000" b="0">
                  <a:solidFill>
                    <a:schemeClr val="tx1"/>
                  </a:solidFill>
                  <a:latin typeface="Calibri" panose="020F0502020204030204" pitchFamily="34" charset="0"/>
                  <a:cs typeface="Calibri" panose="020F0502020204030204" pitchFamily="34" charset="0"/>
                </a:rPr>
                <a:t>David</a:t>
              </a:r>
            </a:p>
          </p:txBody>
        </p:sp>
        <p:sp>
          <p:nvSpPr>
            <p:cNvPr id="68" name="TextBox 67">
              <a:extLst>
                <a:ext uri="{FF2B5EF4-FFF2-40B4-BE49-F238E27FC236}">
                  <a16:creationId xmlns:a16="http://schemas.microsoft.com/office/drawing/2014/main" id="{008CA79F-C3D7-4EB1-36BA-315D6DE568E8}"/>
                </a:ext>
              </a:extLst>
            </p:cNvPr>
            <p:cNvSpPr txBox="1"/>
            <p:nvPr/>
          </p:nvSpPr>
          <p:spPr>
            <a:xfrm>
              <a:off x="4779035" y="4671737"/>
              <a:ext cx="439862" cy="400110"/>
            </a:xfrm>
            <a:prstGeom prst="rect">
              <a:avLst/>
            </a:prstGeom>
            <a:noFill/>
          </p:spPr>
          <p:txBody>
            <a:bodyPr wrap="square">
              <a:spAutoFit/>
            </a:bodyPr>
            <a:lstStyle/>
            <a:p>
              <a:r>
                <a:rPr lang="en-US" sz="2000" b="0">
                  <a:solidFill>
                    <a:schemeClr val="tx1"/>
                  </a:solidFill>
                  <a:latin typeface="Calibri" panose="020F0502020204030204" pitchFamily="34" charset="0"/>
                  <a:cs typeface="Calibri" panose="020F0502020204030204" pitchFamily="34" charset="0"/>
                </a:rPr>
                <a:t>🍟</a:t>
              </a:r>
              <a:endParaRPr lang="en-US" sz="2000"/>
            </a:p>
          </p:txBody>
        </p:sp>
      </p:grpSp>
      <p:sp>
        <p:nvSpPr>
          <p:cNvPr id="70" name="TextBox 69">
            <a:extLst>
              <a:ext uri="{FF2B5EF4-FFF2-40B4-BE49-F238E27FC236}">
                <a16:creationId xmlns:a16="http://schemas.microsoft.com/office/drawing/2014/main" id="{4B329D26-5C11-C713-9E65-6241B1D2E489}"/>
              </a:ext>
            </a:extLst>
          </p:cNvPr>
          <p:cNvSpPr txBox="1"/>
          <p:nvPr/>
        </p:nvSpPr>
        <p:spPr>
          <a:xfrm>
            <a:off x="9947573" y="5651026"/>
            <a:ext cx="717033" cy="400110"/>
          </a:xfrm>
          <a:prstGeom prst="rect">
            <a:avLst/>
          </a:prstGeom>
          <a:noFill/>
        </p:spPr>
        <p:txBody>
          <a:bodyPr wrap="square">
            <a:spAutoFit/>
          </a:bodyPr>
          <a:lstStyle/>
          <a:p>
            <a:pPr algn="ctr"/>
            <a:r>
              <a:rPr lang="en-US" sz="2000">
                <a:latin typeface="Calibri" panose="020F0502020204030204" pitchFamily="34" charset="0"/>
                <a:cs typeface="Calibri" panose="020F0502020204030204" pitchFamily="34" charset="0"/>
              </a:rPr>
              <a:t>🍣</a:t>
            </a:r>
            <a:endParaRPr lang="en-US" sz="2000" b="0">
              <a:solidFill>
                <a:schemeClr val="tx1"/>
              </a:solidFill>
              <a:latin typeface="Calibri" panose="020F0502020204030204" pitchFamily="34" charset="0"/>
              <a:cs typeface="Calibri" panose="020F0502020204030204" pitchFamily="34" charset="0"/>
            </a:endParaRPr>
          </a:p>
        </p:txBody>
      </p:sp>
      <p:grpSp>
        <p:nvGrpSpPr>
          <p:cNvPr id="71" name="Group 70">
            <a:extLst>
              <a:ext uri="{FF2B5EF4-FFF2-40B4-BE49-F238E27FC236}">
                <a16:creationId xmlns:a16="http://schemas.microsoft.com/office/drawing/2014/main" id="{5FA5AA4D-F68B-61E3-9687-62DD232A5E34}"/>
              </a:ext>
            </a:extLst>
          </p:cNvPr>
          <p:cNvGrpSpPr/>
          <p:nvPr/>
        </p:nvGrpSpPr>
        <p:grpSpPr>
          <a:xfrm>
            <a:off x="2998825" y="4597717"/>
            <a:ext cx="3959642" cy="946718"/>
            <a:chOff x="7524337" y="3585821"/>
            <a:chExt cx="3959642" cy="946718"/>
          </a:xfrm>
        </p:grpSpPr>
        <p:sp>
          <p:nvSpPr>
            <p:cNvPr id="72" name="Oval Callout 71">
              <a:extLst>
                <a:ext uri="{FF2B5EF4-FFF2-40B4-BE49-F238E27FC236}">
                  <a16:creationId xmlns:a16="http://schemas.microsoft.com/office/drawing/2014/main" id="{974AC4CD-B067-F664-4DBA-A684E9DFD2A8}"/>
                </a:ext>
              </a:extLst>
            </p:cNvPr>
            <p:cNvSpPr/>
            <p:nvPr/>
          </p:nvSpPr>
          <p:spPr>
            <a:xfrm>
              <a:off x="10389996" y="3973035"/>
              <a:ext cx="1093983" cy="559504"/>
            </a:xfrm>
            <a:prstGeom prst="wedgeEllipseCallout">
              <a:avLst>
                <a:gd name="adj1" fmla="val -81070"/>
                <a:gd name="adj2" fmla="val -691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Stale</a:t>
              </a:r>
            </a:p>
          </p:txBody>
        </p:sp>
        <p:sp>
          <p:nvSpPr>
            <p:cNvPr id="73" name="Frame 72">
              <a:extLst>
                <a:ext uri="{FF2B5EF4-FFF2-40B4-BE49-F238E27FC236}">
                  <a16:creationId xmlns:a16="http://schemas.microsoft.com/office/drawing/2014/main" id="{AC7120CE-48EA-80EE-ADE5-A3359660C484}"/>
                </a:ext>
              </a:extLst>
            </p:cNvPr>
            <p:cNvSpPr/>
            <p:nvPr/>
          </p:nvSpPr>
          <p:spPr>
            <a:xfrm>
              <a:off x="7524337" y="3585821"/>
              <a:ext cx="2686674" cy="441960"/>
            </a:xfrm>
            <a:prstGeom prst="fram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4" name="Group 73">
            <a:extLst>
              <a:ext uri="{FF2B5EF4-FFF2-40B4-BE49-F238E27FC236}">
                <a16:creationId xmlns:a16="http://schemas.microsoft.com/office/drawing/2014/main" id="{46CD90A5-3ABF-74C9-393E-9BFB6CB0602A}"/>
              </a:ext>
            </a:extLst>
          </p:cNvPr>
          <p:cNvGrpSpPr/>
          <p:nvPr/>
        </p:nvGrpSpPr>
        <p:grpSpPr>
          <a:xfrm>
            <a:off x="8489358" y="4641617"/>
            <a:ext cx="3719441" cy="1035596"/>
            <a:chOff x="7524337" y="3585821"/>
            <a:chExt cx="3719441" cy="1035596"/>
          </a:xfrm>
        </p:grpSpPr>
        <p:sp>
          <p:nvSpPr>
            <p:cNvPr id="75" name="Oval Callout 74">
              <a:extLst>
                <a:ext uri="{FF2B5EF4-FFF2-40B4-BE49-F238E27FC236}">
                  <a16:creationId xmlns:a16="http://schemas.microsoft.com/office/drawing/2014/main" id="{44D2CE6F-41DB-E61A-A81E-D5018CEDD471}"/>
                </a:ext>
              </a:extLst>
            </p:cNvPr>
            <p:cNvSpPr/>
            <p:nvPr/>
          </p:nvSpPr>
          <p:spPr>
            <a:xfrm>
              <a:off x="10149795" y="4061913"/>
              <a:ext cx="1093983" cy="559504"/>
            </a:xfrm>
            <a:prstGeom prst="wedgeEllipseCallout">
              <a:avLst>
                <a:gd name="adj1" fmla="val -81070"/>
                <a:gd name="adj2" fmla="val -691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Valid</a:t>
              </a:r>
            </a:p>
          </p:txBody>
        </p:sp>
        <p:sp>
          <p:nvSpPr>
            <p:cNvPr id="76" name="Frame 75">
              <a:extLst>
                <a:ext uri="{FF2B5EF4-FFF2-40B4-BE49-F238E27FC236}">
                  <a16:creationId xmlns:a16="http://schemas.microsoft.com/office/drawing/2014/main" id="{E611DC8F-C69D-5D24-9C3C-70CB08BA6942}"/>
                </a:ext>
              </a:extLst>
            </p:cNvPr>
            <p:cNvSpPr/>
            <p:nvPr/>
          </p:nvSpPr>
          <p:spPr>
            <a:xfrm>
              <a:off x="7524337" y="3585821"/>
              <a:ext cx="2686674" cy="441960"/>
            </a:xfrm>
            <a:prstGeom prst="fram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7" name="Oval Callout 76">
            <a:extLst>
              <a:ext uri="{FF2B5EF4-FFF2-40B4-BE49-F238E27FC236}">
                <a16:creationId xmlns:a16="http://schemas.microsoft.com/office/drawing/2014/main" id="{E484DF41-EB54-F468-A181-C069B88692E1}"/>
              </a:ext>
            </a:extLst>
          </p:cNvPr>
          <p:cNvSpPr/>
          <p:nvPr/>
        </p:nvSpPr>
        <p:spPr>
          <a:xfrm>
            <a:off x="78723" y="3872728"/>
            <a:ext cx="1843745" cy="717740"/>
          </a:xfrm>
          <a:prstGeom prst="wedgeEllipseCallout">
            <a:avLst>
              <a:gd name="adj1" fmla="val 1632"/>
              <a:gd name="adj2" fmla="val -7618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Get stale 🍟 from switch</a:t>
            </a:r>
          </a:p>
        </p:txBody>
      </p:sp>
      <p:sp>
        <p:nvSpPr>
          <p:cNvPr id="78" name="Oval Callout 77">
            <a:extLst>
              <a:ext uri="{FF2B5EF4-FFF2-40B4-BE49-F238E27FC236}">
                <a16:creationId xmlns:a16="http://schemas.microsoft.com/office/drawing/2014/main" id="{1F0FE405-CA22-5012-B491-AF51BC8D2AC5}"/>
              </a:ext>
            </a:extLst>
          </p:cNvPr>
          <p:cNvSpPr/>
          <p:nvPr/>
        </p:nvSpPr>
        <p:spPr>
          <a:xfrm>
            <a:off x="72397" y="3873986"/>
            <a:ext cx="1843745" cy="742199"/>
          </a:xfrm>
          <a:prstGeom prst="wedgeEllipseCallout">
            <a:avLst>
              <a:gd name="adj1" fmla="val 1632"/>
              <a:gd name="adj2" fmla="val -7618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Get valid </a:t>
            </a:r>
            <a:r>
              <a:rPr lang="en-US">
                <a:solidFill>
                  <a:schemeClr val="tx1"/>
                </a:solidFill>
                <a:latin typeface="Calibri" panose="020F0502020204030204" pitchFamily="34" charset="0"/>
                <a:cs typeface="Calibri" panose="020F0502020204030204" pitchFamily="34" charset="0"/>
              </a:rPr>
              <a:t>🍣</a:t>
            </a:r>
            <a:r>
              <a:rPr lang="en-US">
                <a:solidFill>
                  <a:schemeClr val="tx1"/>
                </a:solidFill>
                <a:latin typeface="Calibri Light" panose="020F0302020204030204" pitchFamily="34" charset="0"/>
                <a:cs typeface="Calibri Light" panose="020F0302020204030204" pitchFamily="34" charset="0"/>
              </a:rPr>
              <a:t> from server</a:t>
            </a:r>
          </a:p>
        </p:txBody>
      </p:sp>
    </p:spTree>
    <p:extLst>
      <p:ext uri="{BB962C8B-B14F-4D97-AF65-F5344CB8AC3E}">
        <p14:creationId xmlns:p14="http://schemas.microsoft.com/office/powerpoint/2010/main" val="17290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91667E-6 -3.7037E-6 L 0.67943 0.00278 " pathEditMode="relative" rAng="0" ptsTypes="AA">
                                      <p:cBhvr>
                                        <p:cTn id="6" dur="2000" fill="hold"/>
                                        <p:tgtEl>
                                          <p:spTgt spid="6"/>
                                        </p:tgtEl>
                                        <p:attrNameLst>
                                          <p:attrName>ppt_x</p:attrName>
                                          <p:attrName>ppt_y</p:attrName>
                                        </p:attrNameLst>
                                      </p:cBhvr>
                                      <p:rCtr x="33971" y="139"/>
                                    </p:animMotion>
                                  </p:childTnLst>
                                </p:cTn>
                              </p:par>
                              <p:par>
                                <p:cTn id="7" presetID="0" presetClass="path" presetSubtype="0" accel="50000" decel="50000" fill="hold" nodeType="withEffect">
                                  <p:stCondLst>
                                    <p:cond delay="0"/>
                                  </p:stCondLst>
                                  <p:childTnLst>
                                    <p:animMotion origin="layout" path="M 0.00013 -0.00208 L 0.67995 0.00047 " pathEditMode="relative" ptsTypes="AA">
                                      <p:cBhvr>
                                        <p:cTn id="8" dur="2000" fill="hold"/>
                                        <p:tgtEl>
                                          <p:spTgt spid="23"/>
                                        </p:tgtEl>
                                        <p:attrNameLst>
                                          <p:attrName>ppt_x</p:attrName>
                                          <p:attrName>ppt_y</p:attrName>
                                        </p:attrNameLst>
                                      </p:cBhvr>
                                    </p:animMotion>
                                  </p:childTnLst>
                                </p:cTn>
                              </p:par>
                              <p:par>
                                <p:cTn id="9" presetID="1" presetClass="exit"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blinds(horizontal)">
                                      <p:cBhvr>
                                        <p:cTn id="19" dur="500"/>
                                        <p:tgtEl>
                                          <p:spTgt spid="66"/>
                                        </p:tgtEl>
                                      </p:cBhvr>
                                    </p:animEffect>
                                  </p:childTnLst>
                                </p:cTn>
                              </p:par>
                              <p:par>
                                <p:cTn id="20" presetID="0" presetClass="path" presetSubtype="0" accel="50000" decel="50000" fill="hold" grpId="2" nodeType="withEffect">
                                  <p:stCondLst>
                                    <p:cond delay="0"/>
                                  </p:stCondLst>
                                  <p:childTnLst>
                                    <p:animMotion origin="layout" path="M -2.5E-6 0 L 0.02149 -0.13981 " pathEditMode="relative" rAng="0" ptsTypes="AA">
                                      <p:cBhvr>
                                        <p:cTn id="21" dur="2000" fill="hold"/>
                                        <p:tgtEl>
                                          <p:spTgt spid="66"/>
                                        </p:tgtEl>
                                        <p:attrNameLst>
                                          <p:attrName>ppt_x</p:attrName>
                                          <p:attrName>ppt_y</p:attrName>
                                        </p:attrNameLst>
                                      </p:cBhvr>
                                      <p:rCtr x="1068" y="-6991"/>
                                    </p:animMotion>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decel="50000" fill="hold" nodeType="clickEffect">
                                  <p:stCondLst>
                                    <p:cond delay="0"/>
                                  </p:stCondLst>
                                  <p:childTnLst>
                                    <p:animMotion origin="layout" path="M 0 0 L 0 0.197 " pathEditMode="relative" ptsTypes="AA">
                                      <p:cBhvr>
                                        <p:cTn id="25" dur="500" fill="hold"/>
                                        <p:tgtEl>
                                          <p:spTgt spid="15"/>
                                        </p:tgtEl>
                                        <p:attrNameLst>
                                          <p:attrName>ppt_x</p:attrName>
                                          <p:attrName>ppt_y</p:attrName>
                                        </p:attrNameLst>
                                      </p:cBhvr>
                                    </p:animMotion>
                                  </p:childTnLst>
                                </p:cTn>
                              </p:par>
                              <p:par>
                                <p:cTn id="26" presetID="1" presetClass="exit"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hidden"/>
                                      </p:to>
                                    </p:set>
                                  </p:childTnLst>
                                </p:cTn>
                              </p:par>
                              <p:par>
                                <p:cTn id="28" presetID="0" presetClass="path" presetSubtype="0" accel="50000" decel="50000" fill="hold" nodeType="withEffect">
                                  <p:stCondLst>
                                    <p:cond delay="0"/>
                                  </p:stCondLst>
                                  <p:childTnLst>
                                    <p:animMotion origin="layout" path="M 0 0 L 0 0.197 " pathEditMode="relative" ptsTypes="AA">
                                      <p:cBhvr>
                                        <p:cTn id="29" dur="500" fill="hold"/>
                                        <p:tgtEl>
                                          <p:spTgt spid="10"/>
                                        </p:tgtEl>
                                        <p:attrNameLst>
                                          <p:attrName>ppt_x</p:attrName>
                                          <p:attrName>ppt_y</p:attrName>
                                        </p:attrNameLst>
                                      </p:cBhvr>
                                    </p:animMotion>
                                  </p:childTnLst>
                                </p:cTn>
                              </p:par>
                            </p:childTnLst>
                          </p:cTn>
                        </p:par>
                        <p:par>
                          <p:cTn id="30" fill="hold">
                            <p:stCondLst>
                              <p:cond delay="500"/>
                            </p:stCondLst>
                            <p:childTnLst>
                              <p:par>
                                <p:cTn id="31" presetID="0" presetClass="path" presetSubtype="0" accel="50000" decel="50000" fill="hold" nodeType="afterEffect">
                                  <p:stCondLst>
                                    <p:cond delay="0"/>
                                  </p:stCondLst>
                                  <p:childTnLst>
                                    <p:animMotion origin="layout" path="M 0.00169 0.19514 L 0.24805 0.20625 " pathEditMode="relative" rAng="0" ptsTypes="AA">
                                      <p:cBhvr>
                                        <p:cTn id="32" dur="1500" fill="hold"/>
                                        <p:tgtEl>
                                          <p:spTgt spid="10"/>
                                        </p:tgtEl>
                                        <p:attrNameLst>
                                          <p:attrName>ppt_x</p:attrName>
                                          <p:attrName>ppt_y</p:attrName>
                                        </p:attrNameLst>
                                      </p:cBhvr>
                                      <p:rCtr x="12318" y="556"/>
                                    </p:animMotion>
                                  </p:childTnLst>
                                </p:cTn>
                              </p:par>
                              <p:par>
                                <p:cTn id="33" presetID="0" presetClass="path" presetSubtype="0" accel="50000" decel="50000" fill="hold" nodeType="withEffect">
                                  <p:stCondLst>
                                    <p:cond delay="0"/>
                                  </p:stCondLst>
                                  <p:childTnLst>
                                    <p:animMotion origin="layout" path="M 0.00234 0.19746 L 0.2487 0.20162 " pathEditMode="relative" rAng="0" ptsTypes="AA">
                                      <p:cBhvr>
                                        <p:cTn id="34" dur="1500" fill="hold"/>
                                        <p:tgtEl>
                                          <p:spTgt spid="15"/>
                                        </p:tgtEl>
                                        <p:attrNameLst>
                                          <p:attrName>ppt_x</p:attrName>
                                          <p:attrName>ppt_y</p:attrName>
                                        </p:attrNameLst>
                                      </p:cBhvr>
                                      <p:rCtr x="12318" y="208"/>
                                    </p:animMotion>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67943 0.00278 L 0.21367 0.00231 " pathEditMode="relative" rAng="0" ptsTypes="AA">
                                      <p:cBhvr>
                                        <p:cTn id="38" dur="2000" fill="hold"/>
                                        <p:tgtEl>
                                          <p:spTgt spid="6"/>
                                        </p:tgtEl>
                                        <p:attrNameLst>
                                          <p:attrName>ppt_x</p:attrName>
                                          <p:attrName>ppt_y</p:attrName>
                                        </p:attrNameLst>
                                      </p:cBhvr>
                                      <p:rCtr x="-23294" y="-23"/>
                                    </p:animMotion>
                                  </p:childTnLst>
                                </p:cTn>
                              </p:par>
                              <p:par>
                                <p:cTn id="39" presetID="0" presetClass="path" presetSubtype="0" accel="50000" decel="50000" fill="hold" nodeType="withEffect">
                                  <p:stCondLst>
                                    <p:cond delay="0"/>
                                  </p:stCondLst>
                                  <p:childTnLst>
                                    <p:animMotion origin="layout" path="M 0.68034 0.00162 L 0.21315 -2.22222E-6 " pathEditMode="relative" rAng="0" ptsTypes="AA">
                                      <p:cBhvr>
                                        <p:cTn id="40" dur="2000" fill="hold"/>
                                        <p:tgtEl>
                                          <p:spTgt spid="23"/>
                                        </p:tgtEl>
                                        <p:attrNameLst>
                                          <p:attrName>ppt_x</p:attrName>
                                          <p:attrName>ppt_y</p:attrName>
                                        </p:attrNameLst>
                                      </p:cBhvr>
                                      <p:rCtr x="-23359" y="-93"/>
                                    </p:animMotion>
                                  </p:childTnLst>
                                </p:cTn>
                              </p:par>
                              <p:par>
                                <p:cTn id="41" presetID="0" presetClass="path" presetSubtype="0" accel="50000" decel="50000" fill="hold" nodeType="withEffect">
                                  <p:stCondLst>
                                    <p:cond delay="0"/>
                                  </p:stCondLst>
                                  <p:childTnLst>
                                    <p:animMotion origin="layout" path="M 0.24648 0.20811 L 0.71159 0.20811 " pathEditMode="relative" ptsTypes="AA">
                                      <p:cBhvr>
                                        <p:cTn id="42" dur="2000" fill="hold"/>
                                        <p:tgtEl>
                                          <p:spTgt spid="15"/>
                                        </p:tgtEl>
                                        <p:attrNameLst>
                                          <p:attrName>ppt_x</p:attrName>
                                          <p:attrName>ppt_y</p:attrName>
                                        </p:attrNameLst>
                                      </p:cBhvr>
                                    </p:animMotion>
                                  </p:childTnLst>
                                </p:cTn>
                              </p:par>
                              <p:par>
                                <p:cTn id="43" presetID="0" presetClass="path" presetSubtype="0" accel="50000" decel="50000" fill="hold" nodeType="withEffect">
                                  <p:stCondLst>
                                    <p:cond delay="0"/>
                                  </p:stCondLst>
                                  <p:childTnLst>
                                    <p:animMotion origin="layout" path="M 0.24844 0.20231 L 0.71094 0.20231 " pathEditMode="relative" ptsTypes="AA">
                                      <p:cBhvr>
                                        <p:cTn id="44" dur="2000" fill="hold"/>
                                        <p:tgtEl>
                                          <p:spTgt spid="10"/>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blinds(horizontal)">
                                      <p:cBhvr>
                                        <p:cTn id="49" dur="500"/>
                                        <p:tgtEl>
                                          <p:spTgt spid="6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xit" presetSubtype="10" fill="hold" grpId="1" nodeType="clickEffect">
                                  <p:stCondLst>
                                    <p:cond delay="0"/>
                                  </p:stCondLst>
                                  <p:childTnLst>
                                    <p:animEffect transition="out" filter="blinds(horizontal)">
                                      <p:cBhvr>
                                        <p:cTn id="53" dur="500"/>
                                        <p:tgtEl>
                                          <p:spTgt spid="66"/>
                                        </p:tgtEl>
                                      </p:cBhvr>
                                    </p:animEffect>
                                    <p:set>
                                      <p:cBhvr>
                                        <p:cTn id="54" dur="1" fill="hold">
                                          <p:stCondLst>
                                            <p:cond delay="499"/>
                                          </p:stCondLst>
                                        </p:cTn>
                                        <p:tgtEl>
                                          <p:spTgt spid="66"/>
                                        </p:tgtEl>
                                        <p:attrNameLst>
                                          <p:attrName>style.visibility</p:attrName>
                                        </p:attrNameLst>
                                      </p:cBhvr>
                                      <p:to>
                                        <p:strVal val="hidden"/>
                                      </p:to>
                                    </p:set>
                                  </p:childTnLst>
                                </p:cTn>
                              </p:par>
                            </p:childTnLst>
                          </p:cTn>
                        </p:par>
                        <p:par>
                          <p:cTn id="55" fill="hold">
                            <p:stCondLst>
                              <p:cond delay="500"/>
                            </p:stCondLst>
                            <p:childTnLst>
                              <p:par>
                                <p:cTn id="56" presetID="3" presetClass="entr" presetSubtype="10" fill="hold" grpId="0" nodeType="afterEffect">
                                  <p:stCondLst>
                                    <p:cond delay="0"/>
                                  </p:stCondLst>
                                  <p:childTnLst>
                                    <p:set>
                                      <p:cBhvr>
                                        <p:cTn id="57" dur="1" fill="hold">
                                          <p:stCondLst>
                                            <p:cond delay="0"/>
                                          </p:stCondLst>
                                        </p:cTn>
                                        <p:tgtEl>
                                          <p:spTgt spid="70"/>
                                        </p:tgtEl>
                                        <p:attrNameLst>
                                          <p:attrName>style.visibility</p:attrName>
                                        </p:attrNameLst>
                                      </p:cBhvr>
                                      <p:to>
                                        <p:strVal val="visible"/>
                                      </p:to>
                                    </p:set>
                                    <p:animEffect transition="in" filter="blinds(horizontal)">
                                      <p:cBhvr>
                                        <p:cTn id="58" dur="500"/>
                                        <p:tgtEl>
                                          <p:spTgt spid="70"/>
                                        </p:tgtEl>
                                      </p:cBhvr>
                                    </p:animEffect>
                                  </p:childTnLst>
                                </p:cTn>
                              </p:par>
                              <p:par>
                                <p:cTn id="59" presetID="0" presetClass="path" presetSubtype="0" accel="50000" decel="50000" fill="hold" grpId="1" nodeType="withEffect">
                                  <p:stCondLst>
                                    <p:cond delay="0"/>
                                  </p:stCondLst>
                                  <p:childTnLst>
                                    <p:animMotion origin="layout" path="M 0 0 L 0.02149 -0.14097 " pathEditMode="relative" ptsTypes="AA">
                                      <p:cBhvr>
                                        <p:cTn id="60" dur="2000" fill="hold"/>
                                        <p:tgtEl>
                                          <p:spTgt spid="70"/>
                                        </p:tgtEl>
                                        <p:attrNameLst>
                                          <p:attrName>ppt_x</p:attrName>
                                          <p:attrName>ppt_y</p:attrName>
                                        </p:attrNameLst>
                                      </p:cBhvr>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5" presetClass="exit" presetSubtype="10" fill="hold" nodeType="clickEffect">
                                  <p:stCondLst>
                                    <p:cond delay="0"/>
                                  </p:stCondLst>
                                  <p:childTnLst>
                                    <p:animEffect transition="out" filter="checkerboard(across)">
                                      <p:cBhvr>
                                        <p:cTn id="78" dur="500"/>
                                        <p:tgtEl>
                                          <p:spTgt spid="69"/>
                                        </p:tgtEl>
                                      </p:cBhvr>
                                    </p:animEffect>
                                    <p:set>
                                      <p:cBhvr>
                                        <p:cTn id="79" dur="1" fill="hold">
                                          <p:stCondLst>
                                            <p:cond delay="499"/>
                                          </p:stCondLst>
                                        </p:cTn>
                                        <p:tgtEl>
                                          <p:spTgt spid="69"/>
                                        </p:tgtEl>
                                        <p:attrNameLst>
                                          <p:attrName>style.visibility</p:attrName>
                                        </p:attrNameLst>
                                      </p:cBhvr>
                                      <p:to>
                                        <p:strVal val="hidden"/>
                                      </p:to>
                                    </p:set>
                                  </p:childTnLst>
                                </p:cTn>
                              </p:par>
                              <p:par>
                                <p:cTn id="80" presetID="5" presetClass="exit" presetSubtype="10" fill="hold" nodeType="withEffect">
                                  <p:stCondLst>
                                    <p:cond delay="0"/>
                                  </p:stCondLst>
                                  <p:childTnLst>
                                    <p:animEffect transition="out" filter="checkerboard(across)">
                                      <p:cBhvr>
                                        <p:cTn id="81" dur="500"/>
                                        <p:tgtEl>
                                          <p:spTgt spid="71"/>
                                        </p:tgtEl>
                                      </p:cBhvr>
                                    </p:animEffect>
                                    <p:set>
                                      <p:cBhvr>
                                        <p:cTn id="82" dur="1" fill="hold">
                                          <p:stCondLst>
                                            <p:cond delay="499"/>
                                          </p:stCondLst>
                                        </p:cTn>
                                        <p:tgtEl>
                                          <p:spTgt spid="71"/>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77"/>
                                        </p:tgtEl>
                                        <p:attrNameLst>
                                          <p:attrName>style.visibility</p:attrName>
                                        </p:attrNameLst>
                                      </p:cBhvr>
                                      <p:to>
                                        <p:strVal val="hidden"/>
                                      </p:to>
                                    </p:set>
                                  </p:childTnLst>
                                </p:cTn>
                              </p:par>
                              <p:par>
                                <p:cTn id="85" presetID="5" presetClass="entr" presetSubtype="10" fill="hold" grpId="0" nodeType="withEffect">
                                  <p:stCondLst>
                                    <p:cond delay="0"/>
                                  </p:stCondLst>
                                  <p:childTnLst>
                                    <p:set>
                                      <p:cBhvr>
                                        <p:cTn id="86" dur="1" fill="hold">
                                          <p:stCondLst>
                                            <p:cond delay="0"/>
                                          </p:stCondLst>
                                        </p:cTn>
                                        <p:tgtEl>
                                          <p:spTgt spid="78"/>
                                        </p:tgtEl>
                                        <p:attrNameLst>
                                          <p:attrName>style.visibility</p:attrName>
                                        </p:attrNameLst>
                                      </p:cBhvr>
                                      <p:to>
                                        <p:strVal val="visible"/>
                                      </p:to>
                                    </p:set>
                                    <p:animEffect transition="in" filter="checkerboard(across)">
                                      <p:cBhvr>
                                        <p:cTn id="8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2" grpId="0" animBg="1"/>
      <p:bldP spid="11" grpId="0"/>
      <p:bldP spid="66" grpId="0"/>
      <p:bldP spid="66" grpId="1"/>
      <p:bldP spid="66" grpId="2"/>
      <p:bldP spid="70" grpId="0"/>
      <p:bldP spid="70" grpId="1"/>
      <p:bldP spid="77" grpId="0" animBg="1"/>
      <p:bldP spid="77" grpId="1" animBg="1"/>
      <p:bldP spid="7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D760-A37E-855E-C32F-DE428A639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B76FF-8B04-EBC6-1172-73B1DC86360F}"/>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#3: Migrate back to switch</a:t>
            </a:r>
          </a:p>
        </p:txBody>
      </p:sp>
      <p:sp>
        <p:nvSpPr>
          <p:cNvPr id="4" name="Slide Number Placeholder 3">
            <a:extLst>
              <a:ext uri="{FF2B5EF4-FFF2-40B4-BE49-F238E27FC236}">
                <a16:creationId xmlns:a16="http://schemas.microsoft.com/office/drawing/2014/main" id="{2C32E759-9BF9-2C59-C1AD-F3BA0AA8C941}"/>
              </a:ext>
            </a:extLst>
          </p:cNvPr>
          <p:cNvSpPr>
            <a:spLocks noGrp="1"/>
          </p:cNvSpPr>
          <p:nvPr>
            <p:ph type="sldNum" sz="quarter" idx="12"/>
          </p:nvPr>
        </p:nvSpPr>
        <p:spPr>
          <a:xfrm>
            <a:off x="9448800" y="6492875"/>
            <a:ext cx="2743200" cy="365125"/>
          </a:xfrm>
        </p:spPr>
        <p:txBody>
          <a:bodyPr/>
          <a:lstStyle/>
          <a:p>
            <a:fld id="{C2D4784F-C353-DA44-87C3-1AD0A2C880D0}" type="slidenum">
              <a:rPr lang="en-US" smtClean="0"/>
              <a:t>26</a:t>
            </a:fld>
            <a:endParaRPr lang="en-US"/>
          </a:p>
        </p:txBody>
      </p:sp>
      <p:sp>
        <p:nvSpPr>
          <p:cNvPr id="7" name="Rectangle 6">
            <a:extLst>
              <a:ext uri="{FF2B5EF4-FFF2-40B4-BE49-F238E27FC236}">
                <a16:creationId xmlns:a16="http://schemas.microsoft.com/office/drawing/2014/main" id="{8D3CD947-C844-B949-EA25-480B45807AAA}"/>
              </a:ext>
            </a:extLst>
          </p:cNvPr>
          <p:cNvSpPr/>
          <p:nvPr/>
        </p:nvSpPr>
        <p:spPr>
          <a:xfrm>
            <a:off x="2833749"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8AE3D90C-C5F5-739B-F31B-B34F992D55C8}"/>
              </a:ext>
            </a:extLst>
          </p:cNvPr>
          <p:cNvGraphicFramePr>
            <a:graphicFrameLocks noGrp="1"/>
          </p:cNvGraphicFramePr>
          <p:nvPr/>
        </p:nvGraphicFramePr>
        <p:xfrm>
          <a:off x="2992499" y="3482568"/>
          <a:ext cx="2686674" cy="1593762"/>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531254">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531254">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531254">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bl>
          </a:graphicData>
        </a:graphic>
      </p:graphicFrame>
      <p:sp>
        <p:nvSpPr>
          <p:cNvPr id="32" name="TextBox 31">
            <a:extLst>
              <a:ext uri="{FF2B5EF4-FFF2-40B4-BE49-F238E27FC236}">
                <a16:creationId xmlns:a16="http://schemas.microsoft.com/office/drawing/2014/main" id="{62323B52-824F-79D1-E1B6-3AD8E0B5BBF4}"/>
              </a:ext>
            </a:extLst>
          </p:cNvPr>
          <p:cNvSpPr txBox="1"/>
          <p:nvPr/>
        </p:nvSpPr>
        <p:spPr>
          <a:xfrm>
            <a:off x="9087154" y="2389676"/>
            <a:ext cx="1480964"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②</a:t>
            </a:r>
            <a:r>
              <a:rPr lang="en-US" sz="2400" i="1">
                <a:latin typeface="Calibri" panose="020F0502020204030204" pitchFamily="34" charset="0"/>
                <a:cs typeface="Calibri" panose="020F0502020204030204" pitchFamily="34" charset="0"/>
              </a:rPr>
              <a:t>Server</a:t>
            </a:r>
          </a:p>
        </p:txBody>
      </p:sp>
      <p:sp>
        <p:nvSpPr>
          <p:cNvPr id="33" name="Rectangle 32">
            <a:extLst>
              <a:ext uri="{FF2B5EF4-FFF2-40B4-BE49-F238E27FC236}">
                <a16:creationId xmlns:a16="http://schemas.microsoft.com/office/drawing/2014/main" id="{166CC990-EFBB-E2F4-42B7-B041B7B4084C}"/>
              </a:ext>
            </a:extLst>
          </p:cNvPr>
          <p:cNvSpPr/>
          <p:nvPr/>
        </p:nvSpPr>
        <p:spPr>
          <a:xfrm>
            <a:off x="8349626" y="2931787"/>
            <a:ext cx="3004174" cy="348415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a:extLst>
              <a:ext uri="{FF2B5EF4-FFF2-40B4-BE49-F238E27FC236}">
                <a16:creationId xmlns:a16="http://schemas.microsoft.com/office/drawing/2014/main" id="{9584FCBA-0786-A3FF-41F8-D5371A1B07A4}"/>
              </a:ext>
            </a:extLst>
          </p:cNvPr>
          <p:cNvGraphicFramePr>
            <a:graphicFrameLocks noGrp="1"/>
          </p:cNvGraphicFramePr>
          <p:nvPr/>
        </p:nvGraphicFramePr>
        <p:xfrm>
          <a:off x="8508376" y="3059573"/>
          <a:ext cx="2686674" cy="1981200"/>
        </p:xfrm>
        <a:graphic>
          <a:graphicData uri="http://schemas.openxmlformats.org/drawingml/2006/table">
            <a:tbl>
              <a:tblPr firstRow="1" bandRow="1">
                <a:tableStyleId>{073A0DAA-6AF3-43AB-8588-CEC1D06C72B9}</a:tableStyleId>
              </a:tblPr>
              <a:tblGrid>
                <a:gridCol w="1343337">
                  <a:extLst>
                    <a:ext uri="{9D8B030D-6E8A-4147-A177-3AD203B41FA5}">
                      <a16:colId xmlns:a16="http://schemas.microsoft.com/office/drawing/2014/main" val="1986951801"/>
                    </a:ext>
                  </a:extLst>
                </a:gridCol>
                <a:gridCol w="1343337">
                  <a:extLst>
                    <a:ext uri="{9D8B030D-6E8A-4147-A177-3AD203B41FA5}">
                      <a16:colId xmlns:a16="http://schemas.microsoft.com/office/drawing/2014/main" val="3560986488"/>
                    </a:ext>
                  </a:extLst>
                </a:gridCol>
              </a:tblGrid>
              <a:tr h="306618">
                <a:tc>
                  <a:txBody>
                    <a:bodyPr/>
                    <a:lstStyle/>
                    <a:p>
                      <a:pPr algn="ctr"/>
                      <a:r>
                        <a:rPr lang="en-US" sz="2000">
                          <a:latin typeface="Calibri" panose="020F0502020204030204" pitchFamily="34" charset="0"/>
                          <a:cs typeface="Calibri" panose="020F0502020204030204" pitchFamily="34" charset="0"/>
                        </a:rPr>
                        <a:t>Name</a:t>
                      </a:r>
                    </a:p>
                  </a:txBody>
                  <a:tcPr anchor="ctr">
                    <a:lnB w="12700" cap="flat" cmpd="sng" algn="ctr">
                      <a:solidFill>
                        <a:schemeClr val="tx1"/>
                      </a:solidFill>
                      <a:prstDash val="solid"/>
                      <a:round/>
                      <a:headEnd type="none" w="med" len="med"/>
                      <a:tailEnd type="none" w="med" len="med"/>
                    </a:lnB>
                  </a:tcPr>
                </a:tc>
                <a:tc>
                  <a:txBody>
                    <a:bodyPr/>
                    <a:lstStyle/>
                    <a:p>
                      <a:pPr algn="ctr"/>
                      <a:r>
                        <a:rPr lang="en-US" sz="2000">
                          <a:latin typeface="Calibri" panose="020F0502020204030204" pitchFamily="34" charset="0"/>
                          <a:cs typeface="Calibri" panose="020F0502020204030204" pitchFamily="34" charset="0"/>
                        </a:rPr>
                        <a:t>Preference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289525"/>
                  </a:ext>
                </a:extLst>
              </a:tr>
              <a:tr h="306618">
                <a:tc>
                  <a:txBody>
                    <a:bodyPr/>
                    <a:lstStyle/>
                    <a:p>
                      <a:pPr algn="ctr"/>
                      <a:r>
                        <a:rPr lang="en-US" sz="2000">
                          <a:latin typeface="Calibri" panose="020F0502020204030204" pitchFamily="34" charset="0"/>
                          <a:cs typeface="Calibri" panose="020F0502020204030204" pitchFamily="34" charset="0"/>
                        </a:rPr>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12405"/>
                  </a:ext>
                </a:extLst>
              </a:tr>
              <a:tr h="306618">
                <a:tc>
                  <a:txBody>
                    <a:bodyPr/>
                    <a:lstStyle/>
                    <a:p>
                      <a:pPr algn="ctr"/>
                      <a:r>
                        <a:rPr lang="en-US" sz="2000">
                          <a:latin typeface="Calibri" panose="020F0502020204030204" pitchFamily="34" charset="0"/>
                          <a:cs typeface="Calibri" panose="020F0502020204030204" pitchFamily="34" charset="0"/>
                        </a:rPr>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9774155"/>
                  </a:ext>
                </a:extLst>
              </a:tr>
              <a:tr h="306618">
                <a:tc>
                  <a:txBody>
                    <a:bodyPr/>
                    <a:lstStyle/>
                    <a:p>
                      <a:pPr algn="ctr"/>
                      <a:r>
                        <a:rPr lang="en-US" sz="2000">
                          <a:latin typeface="Calibri" panose="020F0502020204030204" pitchFamily="34" charset="0"/>
                          <a:cs typeface="Calibri" panose="020F0502020204030204" pitchFamily="34" charset="0"/>
                        </a:rPr>
                        <a:t>Charlie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460575"/>
                  </a:ext>
                </a:extLst>
              </a:tr>
              <a:tr h="306618">
                <a:tc>
                  <a:txBody>
                    <a:bodyPr/>
                    <a:lstStyle/>
                    <a:p>
                      <a:pPr algn="ctr"/>
                      <a:r>
                        <a:rPr lang="en-US" sz="2000">
                          <a:latin typeface="Calibri" panose="020F0502020204030204" pitchFamily="34" charset="0"/>
                          <a:cs typeface="Calibri" panose="020F0502020204030204" pitchFamily="34" charset="0"/>
                        </a:rPr>
                        <a:t>David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4591969"/>
                  </a:ext>
                </a:extLst>
              </a:tr>
            </a:tbl>
          </a:graphicData>
        </a:graphic>
      </p:graphicFrame>
      <p:sp>
        <p:nvSpPr>
          <p:cNvPr id="35" name="TextBox 34">
            <a:extLst>
              <a:ext uri="{FF2B5EF4-FFF2-40B4-BE49-F238E27FC236}">
                <a16:creationId xmlns:a16="http://schemas.microsoft.com/office/drawing/2014/main" id="{DEADCD30-EBCC-A284-44AA-4F9626AE4AA5}"/>
              </a:ext>
            </a:extLst>
          </p:cNvPr>
          <p:cNvSpPr txBox="1"/>
          <p:nvPr/>
        </p:nvSpPr>
        <p:spPr>
          <a:xfrm>
            <a:off x="2673975" y="2389676"/>
            <a:ext cx="3513560" cy="461665"/>
          </a:xfrm>
          <a:prstGeom prst="rect">
            <a:avLst/>
          </a:prstGeom>
          <a:noFill/>
        </p:spPr>
        <p:txBody>
          <a:bodyPr wrap="square">
            <a:spAutoFit/>
          </a:bodyPr>
          <a:lstStyle/>
          <a:p>
            <a:r>
              <a:rPr lang="en-US" sz="2000" i="1">
                <a:latin typeface="Calibri" panose="020F0502020204030204" pitchFamily="34" charset="0"/>
                <a:cs typeface="Calibri" panose="020F0502020204030204" pitchFamily="34" charset="0"/>
              </a:rPr>
              <a:t>①</a:t>
            </a:r>
            <a:r>
              <a:rPr lang="en-US" sz="2400" i="1">
                <a:latin typeface="Calibri" panose="020F0502020204030204" pitchFamily="34" charset="0"/>
                <a:cs typeface="Calibri" panose="020F0502020204030204" pitchFamily="34" charset="0"/>
              </a:rPr>
              <a:t> Programmable switch</a:t>
            </a:r>
          </a:p>
        </p:txBody>
      </p:sp>
      <p:grpSp>
        <p:nvGrpSpPr>
          <p:cNvPr id="6" name="Group 5">
            <a:extLst>
              <a:ext uri="{FF2B5EF4-FFF2-40B4-BE49-F238E27FC236}">
                <a16:creationId xmlns:a16="http://schemas.microsoft.com/office/drawing/2014/main" id="{15C5C9A4-A9AB-6CE6-A98A-CFFFD10B4211}"/>
              </a:ext>
            </a:extLst>
          </p:cNvPr>
          <p:cNvGrpSpPr/>
          <p:nvPr/>
        </p:nvGrpSpPr>
        <p:grpSpPr>
          <a:xfrm>
            <a:off x="1080410" y="5141631"/>
            <a:ext cx="1236372" cy="1084048"/>
            <a:chOff x="517256" y="4106139"/>
            <a:chExt cx="1236372" cy="1084048"/>
          </a:xfrm>
        </p:grpSpPr>
        <p:sp>
          <p:nvSpPr>
            <p:cNvPr id="20" name="Rectangle 19">
              <a:extLst>
                <a:ext uri="{FF2B5EF4-FFF2-40B4-BE49-F238E27FC236}">
                  <a16:creationId xmlns:a16="http://schemas.microsoft.com/office/drawing/2014/main" id="{EA1AB039-7066-B694-62E5-8F0DE0D6592C}"/>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TextBox 21">
              <a:extLst>
                <a:ext uri="{FF2B5EF4-FFF2-40B4-BE49-F238E27FC236}">
                  <a16:creationId xmlns:a16="http://schemas.microsoft.com/office/drawing/2014/main" id="{4958A766-719C-7218-7951-A0B3FDC46594}"/>
                </a:ext>
              </a:extLst>
            </p:cNvPr>
            <p:cNvSpPr txBox="1"/>
            <p:nvPr/>
          </p:nvSpPr>
          <p:spPr>
            <a:xfrm>
              <a:off x="664295" y="4106139"/>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4</a:t>
              </a:r>
            </a:p>
          </p:txBody>
        </p:sp>
      </p:grpSp>
      <p:sp>
        <p:nvSpPr>
          <p:cNvPr id="19" name="Right Arrow 18">
            <a:extLst>
              <a:ext uri="{FF2B5EF4-FFF2-40B4-BE49-F238E27FC236}">
                <a16:creationId xmlns:a16="http://schemas.microsoft.com/office/drawing/2014/main" id="{6CED0522-455D-19AF-A1BF-1A4C5F5A6917}"/>
              </a:ext>
            </a:extLst>
          </p:cNvPr>
          <p:cNvSpPr/>
          <p:nvPr/>
        </p:nvSpPr>
        <p:spPr>
          <a:xfrm>
            <a:off x="2413672" y="5671681"/>
            <a:ext cx="331246" cy="36933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B4ECED84-B316-D06F-4E8D-BFF958B28E6F}"/>
              </a:ext>
            </a:extLst>
          </p:cNvPr>
          <p:cNvGraphicFramePr>
            <a:graphicFrameLocks noGrp="1"/>
          </p:cNvGraphicFramePr>
          <p:nvPr/>
        </p:nvGraphicFramePr>
        <p:xfrm>
          <a:off x="1239761" y="5622517"/>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5" name="TextBox 4">
            <a:extLst>
              <a:ext uri="{FF2B5EF4-FFF2-40B4-BE49-F238E27FC236}">
                <a16:creationId xmlns:a16="http://schemas.microsoft.com/office/drawing/2014/main" id="{21819560-E84E-FD39-0195-C1CE34DD6F93}"/>
              </a:ext>
            </a:extLst>
          </p:cNvPr>
          <p:cNvSpPr txBox="1"/>
          <p:nvPr/>
        </p:nvSpPr>
        <p:spPr>
          <a:xfrm>
            <a:off x="817473" y="1436536"/>
            <a:ext cx="4989892" cy="830997"/>
          </a:xfrm>
          <a:prstGeom prst="rect">
            <a:avLst/>
          </a:prstGeom>
          <a:noFill/>
        </p:spPr>
        <p:txBody>
          <a:bodyPr wrap="none" rtlCol="0">
            <a:spAutoFit/>
          </a:bodyPr>
          <a:lstStyle/>
          <a:p>
            <a:r>
              <a:rPr lang="en-US" sz="2400">
                <a:solidFill>
                  <a:srgbClr val="0070C0"/>
                </a:solidFill>
                <a:latin typeface="Calibri" panose="020F0502020204030204" pitchFamily="34" charset="0"/>
                <a:cs typeface="Calibri" panose="020F0502020204030204" pitchFamily="34" charset="0"/>
              </a:rPr>
              <a:t>Offload popular David’s state to switch</a:t>
            </a:r>
          </a:p>
          <a:p>
            <a:r>
              <a:rPr lang="en-US" sz="2400">
                <a:solidFill>
                  <a:srgbClr val="00B050"/>
                </a:solidFill>
                <a:latin typeface="Calibri" panose="020F0502020204030204" pitchFamily="34" charset="0"/>
                <a:cs typeface="Calibri" panose="020F0502020204030204" pitchFamily="34" charset="0"/>
              </a:rPr>
              <a:t>What if a packet train?</a:t>
            </a:r>
          </a:p>
        </p:txBody>
      </p:sp>
      <p:grpSp>
        <p:nvGrpSpPr>
          <p:cNvPr id="10" name="Group 9">
            <a:extLst>
              <a:ext uri="{FF2B5EF4-FFF2-40B4-BE49-F238E27FC236}">
                <a16:creationId xmlns:a16="http://schemas.microsoft.com/office/drawing/2014/main" id="{C3401C2A-6F1C-002B-1266-8F98F67DA544}"/>
              </a:ext>
            </a:extLst>
          </p:cNvPr>
          <p:cNvGrpSpPr/>
          <p:nvPr/>
        </p:nvGrpSpPr>
        <p:grpSpPr>
          <a:xfrm>
            <a:off x="686096" y="3742892"/>
            <a:ext cx="1236372" cy="1084379"/>
            <a:chOff x="517256" y="4105808"/>
            <a:chExt cx="1236372" cy="1084379"/>
          </a:xfrm>
        </p:grpSpPr>
        <p:sp>
          <p:nvSpPr>
            <p:cNvPr id="13" name="Rectangle 12">
              <a:extLst>
                <a:ext uri="{FF2B5EF4-FFF2-40B4-BE49-F238E27FC236}">
                  <a16:creationId xmlns:a16="http://schemas.microsoft.com/office/drawing/2014/main" id="{04311A01-EFE3-68FD-E611-490E33279AB8}"/>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EE20ACD3-331B-6486-F0C4-FD304AEF7596}"/>
                </a:ext>
              </a:extLst>
            </p:cNvPr>
            <p:cNvSpPr txBox="1"/>
            <p:nvPr/>
          </p:nvSpPr>
          <p:spPr>
            <a:xfrm>
              <a:off x="675058" y="4105808"/>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5</a:t>
              </a:r>
            </a:p>
          </p:txBody>
        </p:sp>
      </p:grpSp>
      <p:sp>
        <p:nvSpPr>
          <p:cNvPr id="12" name="Right Arrow 11">
            <a:extLst>
              <a:ext uri="{FF2B5EF4-FFF2-40B4-BE49-F238E27FC236}">
                <a16:creationId xmlns:a16="http://schemas.microsoft.com/office/drawing/2014/main" id="{4F531440-CF7A-0F19-5708-FCD7C1F51B81}"/>
              </a:ext>
            </a:extLst>
          </p:cNvPr>
          <p:cNvSpPr/>
          <p:nvPr/>
        </p:nvSpPr>
        <p:spPr>
          <a:xfrm>
            <a:off x="2019358" y="4273273"/>
            <a:ext cx="331246" cy="36933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15" name="Table 14">
            <a:extLst>
              <a:ext uri="{FF2B5EF4-FFF2-40B4-BE49-F238E27FC236}">
                <a16:creationId xmlns:a16="http://schemas.microsoft.com/office/drawing/2014/main" id="{E15B065E-2CCC-4636-F28A-2E1FBDB41A55}"/>
              </a:ext>
            </a:extLst>
          </p:cNvPr>
          <p:cNvGraphicFramePr>
            <a:graphicFrameLocks noGrp="1"/>
          </p:cNvGraphicFramePr>
          <p:nvPr/>
        </p:nvGraphicFramePr>
        <p:xfrm>
          <a:off x="838200" y="4210072"/>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a:solidFill>
                            <a:schemeClr val="tx1"/>
                          </a:solidFill>
                          <a:latin typeface="Calibri" panose="020F0502020204030204" pitchFamily="34" charset="0"/>
                          <a:cs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grpSp>
        <p:nvGrpSpPr>
          <p:cNvPr id="21" name="Group 20">
            <a:extLst>
              <a:ext uri="{FF2B5EF4-FFF2-40B4-BE49-F238E27FC236}">
                <a16:creationId xmlns:a16="http://schemas.microsoft.com/office/drawing/2014/main" id="{2435B837-E5E1-D3BE-D38C-B2345B0FDFF0}"/>
              </a:ext>
            </a:extLst>
          </p:cNvPr>
          <p:cNvGrpSpPr/>
          <p:nvPr/>
        </p:nvGrpSpPr>
        <p:grpSpPr>
          <a:xfrm>
            <a:off x="248156" y="2609920"/>
            <a:ext cx="1664508" cy="1084048"/>
            <a:chOff x="517256" y="4106139"/>
            <a:chExt cx="1664508" cy="1084048"/>
          </a:xfrm>
        </p:grpSpPr>
        <p:grpSp>
          <p:nvGrpSpPr>
            <p:cNvPr id="27" name="Group 26">
              <a:extLst>
                <a:ext uri="{FF2B5EF4-FFF2-40B4-BE49-F238E27FC236}">
                  <a16:creationId xmlns:a16="http://schemas.microsoft.com/office/drawing/2014/main" id="{7D67659E-2F84-4FDB-5C60-32CD4405E926}"/>
                </a:ext>
              </a:extLst>
            </p:cNvPr>
            <p:cNvGrpSpPr/>
            <p:nvPr/>
          </p:nvGrpSpPr>
          <p:grpSpPr>
            <a:xfrm>
              <a:off x="517256" y="4106139"/>
              <a:ext cx="1236372" cy="1084048"/>
              <a:chOff x="517256" y="4106139"/>
              <a:chExt cx="1236372" cy="1084048"/>
            </a:xfrm>
          </p:grpSpPr>
          <p:sp>
            <p:nvSpPr>
              <p:cNvPr id="29" name="Rectangle 28">
                <a:extLst>
                  <a:ext uri="{FF2B5EF4-FFF2-40B4-BE49-F238E27FC236}">
                    <a16:creationId xmlns:a16="http://schemas.microsoft.com/office/drawing/2014/main" id="{C6300F30-5FC3-4D91-5DD5-BA7745BB4019}"/>
                  </a:ext>
                </a:extLst>
              </p:cNvPr>
              <p:cNvSpPr/>
              <p:nvPr/>
            </p:nvSpPr>
            <p:spPr>
              <a:xfrm>
                <a:off x="517256" y="4417455"/>
                <a:ext cx="1236372" cy="772732"/>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TextBox 30">
                <a:extLst>
                  <a:ext uri="{FF2B5EF4-FFF2-40B4-BE49-F238E27FC236}">
                    <a16:creationId xmlns:a16="http://schemas.microsoft.com/office/drawing/2014/main" id="{22FC0172-CD39-158E-75EA-D9CF073C7739}"/>
                  </a:ext>
                </a:extLst>
              </p:cNvPr>
              <p:cNvSpPr txBox="1"/>
              <p:nvPr/>
            </p:nvSpPr>
            <p:spPr>
              <a:xfrm>
                <a:off x="664295" y="4106139"/>
                <a:ext cx="964559" cy="369332"/>
              </a:xfrm>
              <a:prstGeom prst="rect">
                <a:avLst/>
              </a:prstGeom>
              <a:noFill/>
            </p:spPr>
            <p:txBody>
              <a:bodyPr wrap="none" rtlCol="0">
                <a:spAutoFit/>
              </a:bodyPr>
              <a:lstStyle/>
              <a:p>
                <a:r>
                  <a:rPr lang="en-US">
                    <a:latin typeface="Calibri" panose="020F0502020204030204" pitchFamily="34" charset="0"/>
                    <a:cs typeface="Calibri" panose="020F0502020204030204" pitchFamily="34" charset="0"/>
                  </a:rPr>
                  <a:t>Packet 6</a:t>
                </a:r>
              </a:p>
            </p:txBody>
          </p:sp>
        </p:grpSp>
        <p:sp>
          <p:nvSpPr>
            <p:cNvPr id="28" name="Right Arrow 27">
              <a:extLst>
                <a:ext uri="{FF2B5EF4-FFF2-40B4-BE49-F238E27FC236}">
                  <a16:creationId xmlns:a16="http://schemas.microsoft.com/office/drawing/2014/main" id="{AE7C264B-3D4C-8144-BB6A-EA591FE16095}"/>
                </a:ext>
              </a:extLst>
            </p:cNvPr>
            <p:cNvSpPr/>
            <p:nvPr/>
          </p:nvSpPr>
          <p:spPr>
            <a:xfrm>
              <a:off x="1850518" y="4636189"/>
              <a:ext cx="331246" cy="369332"/>
            </a:xfrm>
            <a:prstGeom prst="rightArrow">
              <a:avLst>
                <a:gd name="adj1" fmla="val 41776"/>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aphicFrame>
        <p:nvGraphicFramePr>
          <p:cNvPr id="36" name="Table 35">
            <a:extLst>
              <a:ext uri="{FF2B5EF4-FFF2-40B4-BE49-F238E27FC236}">
                <a16:creationId xmlns:a16="http://schemas.microsoft.com/office/drawing/2014/main" id="{19FFBB35-8626-8459-9558-376AEE9C8CBB}"/>
              </a:ext>
            </a:extLst>
          </p:cNvPr>
          <p:cNvGraphicFramePr>
            <a:graphicFrameLocks noGrp="1"/>
          </p:cNvGraphicFramePr>
          <p:nvPr/>
        </p:nvGraphicFramePr>
        <p:xfrm>
          <a:off x="409103" y="3090633"/>
          <a:ext cx="915428" cy="461665"/>
        </p:xfrm>
        <a:graphic>
          <a:graphicData uri="http://schemas.openxmlformats.org/drawingml/2006/table">
            <a:tbl>
              <a:tblPr firstRow="1" bandRow="1">
                <a:tableStyleId>{073A0DAA-6AF3-43AB-8588-CEC1D06C72B9}</a:tableStyleId>
              </a:tblPr>
              <a:tblGrid>
                <a:gridCol w="599955">
                  <a:extLst>
                    <a:ext uri="{9D8B030D-6E8A-4147-A177-3AD203B41FA5}">
                      <a16:colId xmlns:a16="http://schemas.microsoft.com/office/drawing/2014/main" val="3609992469"/>
                    </a:ext>
                  </a:extLst>
                </a:gridCol>
                <a:gridCol w="315473">
                  <a:extLst>
                    <a:ext uri="{9D8B030D-6E8A-4147-A177-3AD203B41FA5}">
                      <a16:colId xmlns:a16="http://schemas.microsoft.com/office/drawing/2014/main" val="3336778678"/>
                    </a:ext>
                  </a:extLst>
                </a:gridCol>
              </a:tblGrid>
              <a:tr h="461665">
                <a:tc>
                  <a:txBody>
                    <a:bodyPr/>
                    <a:lstStyle/>
                    <a:p>
                      <a:pPr algn="ctr"/>
                      <a:r>
                        <a:rPr lang="en-US" sz="2000" b="0">
                          <a:solidFill>
                            <a:schemeClr val="tx1"/>
                          </a:solidFill>
                          <a:latin typeface="Calibri" panose="020F0502020204030204" pitchFamily="34" charset="0"/>
                          <a:cs typeface="Calibri" panose="020F0502020204030204" pitchFamily="34" charset="0"/>
                        </a:rPr>
                        <a:t>David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9063525"/>
                  </a:ext>
                </a:extLst>
              </a:tr>
            </a:tbl>
          </a:graphicData>
        </a:graphic>
      </p:graphicFrame>
      <p:sp>
        <p:nvSpPr>
          <p:cNvPr id="48" name="TextBox 47">
            <a:extLst>
              <a:ext uri="{FF2B5EF4-FFF2-40B4-BE49-F238E27FC236}">
                <a16:creationId xmlns:a16="http://schemas.microsoft.com/office/drawing/2014/main" id="{54FE90CF-6960-DC2A-C736-6A26B63DF8DD}"/>
              </a:ext>
            </a:extLst>
          </p:cNvPr>
          <p:cNvSpPr txBox="1"/>
          <p:nvPr/>
        </p:nvSpPr>
        <p:spPr>
          <a:xfrm>
            <a:off x="3765919" y="1801486"/>
            <a:ext cx="3295282" cy="461665"/>
          </a:xfrm>
          <a:prstGeom prst="rect">
            <a:avLst/>
          </a:prstGeom>
          <a:noFill/>
        </p:spPr>
        <p:txBody>
          <a:bodyPr wrap="square" rtlCol="0">
            <a:spAutoFit/>
          </a:bodyPr>
          <a:lstStyle/>
          <a:p>
            <a:r>
              <a:rPr lang="en-US" sz="2400">
                <a:solidFill>
                  <a:srgbClr val="0070C0"/>
                </a:solidFill>
                <a:latin typeface="Calibri" panose="020F0502020204030204" pitchFamily="34" charset="0"/>
                <a:cs typeface="Calibri" panose="020F0502020204030204" pitchFamily="34" charset="0"/>
              </a:rPr>
              <a:t>Idea: cancel migration </a:t>
            </a:r>
          </a:p>
        </p:txBody>
      </p:sp>
      <p:sp>
        <p:nvSpPr>
          <p:cNvPr id="11" name="TextBox 10">
            <a:extLst>
              <a:ext uri="{FF2B5EF4-FFF2-40B4-BE49-F238E27FC236}">
                <a16:creationId xmlns:a16="http://schemas.microsoft.com/office/drawing/2014/main" id="{695281F3-30BE-46D0-9450-D3D4AEC2A897}"/>
              </a:ext>
            </a:extLst>
          </p:cNvPr>
          <p:cNvSpPr txBox="1"/>
          <p:nvPr/>
        </p:nvSpPr>
        <p:spPr>
          <a:xfrm>
            <a:off x="10306090" y="4700757"/>
            <a:ext cx="432179" cy="400110"/>
          </a:xfrm>
          <a:prstGeom prst="rect">
            <a:avLst/>
          </a:prstGeom>
          <a:noFill/>
        </p:spPr>
        <p:txBody>
          <a:bodyPr wrap="square">
            <a:spAutoFit/>
          </a:bodyPr>
          <a:lstStyle/>
          <a:p>
            <a:r>
              <a:rPr lang="en-US" sz="2000">
                <a:latin typeface="Calibri" panose="020F0502020204030204" pitchFamily="34" charset="0"/>
                <a:cs typeface="Calibri" panose="020F0502020204030204" pitchFamily="34" charset="0"/>
              </a:rPr>
              <a:t>🥦</a:t>
            </a:r>
            <a:endParaRPr lang="en-US" sz="2000"/>
          </a:p>
        </p:txBody>
      </p:sp>
      <p:sp>
        <p:nvSpPr>
          <p:cNvPr id="66" name="TextBox 65">
            <a:extLst>
              <a:ext uri="{FF2B5EF4-FFF2-40B4-BE49-F238E27FC236}">
                <a16:creationId xmlns:a16="http://schemas.microsoft.com/office/drawing/2014/main" id="{97B7C845-4788-AD16-45A5-287EA55CB8A0}"/>
              </a:ext>
            </a:extLst>
          </p:cNvPr>
          <p:cNvSpPr txBox="1"/>
          <p:nvPr/>
        </p:nvSpPr>
        <p:spPr>
          <a:xfrm>
            <a:off x="9947573" y="5628490"/>
            <a:ext cx="717033" cy="400110"/>
          </a:xfrm>
          <a:prstGeom prst="rect">
            <a:avLst/>
          </a:prstGeom>
          <a:noFill/>
        </p:spPr>
        <p:txBody>
          <a:bodyPr wrap="square">
            <a:spAutoFit/>
          </a:bodyPr>
          <a:lstStyle/>
          <a:p>
            <a:pPr algn="ctr"/>
            <a:r>
              <a:rPr lang="en-US" sz="2000" b="0">
                <a:solidFill>
                  <a:schemeClr val="tx1"/>
                </a:solidFill>
                <a:latin typeface="Calibri" panose="020F0502020204030204" pitchFamily="34" charset="0"/>
                <a:cs typeface="Calibri" panose="020F0502020204030204" pitchFamily="34" charset="0"/>
              </a:rPr>
              <a:t>🍟</a:t>
            </a:r>
          </a:p>
        </p:txBody>
      </p:sp>
      <p:grpSp>
        <p:nvGrpSpPr>
          <p:cNvPr id="69" name="Group 68">
            <a:extLst>
              <a:ext uri="{FF2B5EF4-FFF2-40B4-BE49-F238E27FC236}">
                <a16:creationId xmlns:a16="http://schemas.microsoft.com/office/drawing/2014/main" id="{BF7D896C-67D9-5C88-4701-DBF05A50A805}"/>
              </a:ext>
            </a:extLst>
          </p:cNvPr>
          <p:cNvGrpSpPr/>
          <p:nvPr/>
        </p:nvGrpSpPr>
        <p:grpSpPr>
          <a:xfrm>
            <a:off x="3259307" y="4615478"/>
            <a:ext cx="1959590" cy="456369"/>
            <a:chOff x="3259307" y="4615478"/>
            <a:chExt cx="1959590" cy="456369"/>
          </a:xfrm>
        </p:grpSpPr>
        <p:sp>
          <p:nvSpPr>
            <p:cNvPr id="67" name="TextBox 66">
              <a:extLst>
                <a:ext uri="{FF2B5EF4-FFF2-40B4-BE49-F238E27FC236}">
                  <a16:creationId xmlns:a16="http://schemas.microsoft.com/office/drawing/2014/main" id="{EE6D7F8F-9D27-FEEF-6277-9D9B8D12F6C2}"/>
                </a:ext>
              </a:extLst>
            </p:cNvPr>
            <p:cNvSpPr txBox="1"/>
            <p:nvPr/>
          </p:nvSpPr>
          <p:spPr>
            <a:xfrm>
              <a:off x="3259307" y="4615478"/>
              <a:ext cx="845098" cy="400110"/>
            </a:xfrm>
            <a:prstGeom prst="rect">
              <a:avLst/>
            </a:prstGeom>
            <a:noFill/>
          </p:spPr>
          <p:txBody>
            <a:bodyPr wrap="square">
              <a:spAutoFit/>
            </a:bodyPr>
            <a:lstStyle/>
            <a:p>
              <a:pPr algn="ctr"/>
              <a:r>
                <a:rPr lang="en-US" sz="2000" b="0">
                  <a:solidFill>
                    <a:schemeClr val="tx1"/>
                  </a:solidFill>
                  <a:latin typeface="Calibri" panose="020F0502020204030204" pitchFamily="34" charset="0"/>
                  <a:cs typeface="Calibri" panose="020F0502020204030204" pitchFamily="34" charset="0"/>
                </a:rPr>
                <a:t>David</a:t>
              </a:r>
            </a:p>
          </p:txBody>
        </p:sp>
        <p:sp>
          <p:nvSpPr>
            <p:cNvPr id="68" name="TextBox 67">
              <a:extLst>
                <a:ext uri="{FF2B5EF4-FFF2-40B4-BE49-F238E27FC236}">
                  <a16:creationId xmlns:a16="http://schemas.microsoft.com/office/drawing/2014/main" id="{3B92A5AF-DD54-6425-163D-C2DC0462BA72}"/>
                </a:ext>
              </a:extLst>
            </p:cNvPr>
            <p:cNvSpPr txBox="1"/>
            <p:nvPr/>
          </p:nvSpPr>
          <p:spPr>
            <a:xfrm>
              <a:off x="4779035" y="4671737"/>
              <a:ext cx="439862" cy="400110"/>
            </a:xfrm>
            <a:prstGeom prst="rect">
              <a:avLst/>
            </a:prstGeom>
            <a:noFill/>
          </p:spPr>
          <p:txBody>
            <a:bodyPr wrap="square">
              <a:spAutoFit/>
            </a:bodyPr>
            <a:lstStyle/>
            <a:p>
              <a:r>
                <a:rPr lang="en-US" sz="2000" b="0">
                  <a:solidFill>
                    <a:schemeClr val="tx1"/>
                  </a:solidFill>
                  <a:latin typeface="Calibri" panose="020F0502020204030204" pitchFamily="34" charset="0"/>
                  <a:cs typeface="Calibri" panose="020F0502020204030204" pitchFamily="34" charset="0"/>
                </a:rPr>
                <a:t>🍟</a:t>
              </a:r>
              <a:endParaRPr lang="en-US" sz="2000"/>
            </a:p>
          </p:txBody>
        </p:sp>
      </p:grpSp>
      <p:sp>
        <p:nvSpPr>
          <p:cNvPr id="70" name="TextBox 69">
            <a:extLst>
              <a:ext uri="{FF2B5EF4-FFF2-40B4-BE49-F238E27FC236}">
                <a16:creationId xmlns:a16="http://schemas.microsoft.com/office/drawing/2014/main" id="{1215A5FF-ED77-B8E6-D168-3D8286A059DC}"/>
              </a:ext>
            </a:extLst>
          </p:cNvPr>
          <p:cNvSpPr txBox="1"/>
          <p:nvPr/>
        </p:nvSpPr>
        <p:spPr>
          <a:xfrm>
            <a:off x="9947573" y="5651026"/>
            <a:ext cx="717033" cy="400110"/>
          </a:xfrm>
          <a:prstGeom prst="rect">
            <a:avLst/>
          </a:prstGeom>
          <a:noFill/>
        </p:spPr>
        <p:txBody>
          <a:bodyPr wrap="square">
            <a:spAutoFit/>
          </a:bodyPr>
          <a:lstStyle/>
          <a:p>
            <a:pPr algn="ctr"/>
            <a:r>
              <a:rPr lang="en-US" sz="2000">
                <a:latin typeface="Calibri" panose="020F0502020204030204" pitchFamily="34" charset="0"/>
                <a:cs typeface="Calibri" panose="020F0502020204030204" pitchFamily="34" charset="0"/>
              </a:rPr>
              <a:t>🍣</a:t>
            </a:r>
            <a:endParaRPr lang="en-US" sz="2000" b="0">
              <a:solidFill>
                <a:schemeClr val="tx1"/>
              </a:solidFill>
              <a:latin typeface="Calibri" panose="020F0502020204030204" pitchFamily="34" charset="0"/>
              <a:cs typeface="Calibri" panose="020F0502020204030204" pitchFamily="34" charset="0"/>
            </a:endParaRPr>
          </a:p>
        </p:txBody>
      </p:sp>
      <p:grpSp>
        <p:nvGrpSpPr>
          <p:cNvPr id="74" name="Group 73">
            <a:extLst>
              <a:ext uri="{FF2B5EF4-FFF2-40B4-BE49-F238E27FC236}">
                <a16:creationId xmlns:a16="http://schemas.microsoft.com/office/drawing/2014/main" id="{64EE9DBB-B9BA-CFCD-570D-7E090906B738}"/>
              </a:ext>
            </a:extLst>
          </p:cNvPr>
          <p:cNvGrpSpPr/>
          <p:nvPr/>
        </p:nvGrpSpPr>
        <p:grpSpPr>
          <a:xfrm>
            <a:off x="8489358" y="4641617"/>
            <a:ext cx="3719441" cy="1035596"/>
            <a:chOff x="7524337" y="3585821"/>
            <a:chExt cx="3719441" cy="1035596"/>
          </a:xfrm>
        </p:grpSpPr>
        <p:sp>
          <p:nvSpPr>
            <p:cNvPr id="75" name="Oval Callout 74">
              <a:extLst>
                <a:ext uri="{FF2B5EF4-FFF2-40B4-BE49-F238E27FC236}">
                  <a16:creationId xmlns:a16="http://schemas.microsoft.com/office/drawing/2014/main" id="{4D0F88A0-B5CA-EF49-E329-89811F56C50B}"/>
                </a:ext>
              </a:extLst>
            </p:cNvPr>
            <p:cNvSpPr/>
            <p:nvPr/>
          </p:nvSpPr>
          <p:spPr>
            <a:xfrm>
              <a:off x="10149795" y="4061913"/>
              <a:ext cx="1093983" cy="559504"/>
            </a:xfrm>
            <a:prstGeom prst="wedgeEllipseCallout">
              <a:avLst>
                <a:gd name="adj1" fmla="val -81070"/>
                <a:gd name="adj2" fmla="val -691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Light" panose="020F0302020204030204" pitchFamily="34" charset="0"/>
                  <a:cs typeface="Calibri Light" panose="020F0302020204030204" pitchFamily="34" charset="0"/>
                </a:rPr>
                <a:t>Valid</a:t>
              </a:r>
            </a:p>
          </p:txBody>
        </p:sp>
        <p:sp>
          <p:nvSpPr>
            <p:cNvPr id="76" name="Frame 75">
              <a:extLst>
                <a:ext uri="{FF2B5EF4-FFF2-40B4-BE49-F238E27FC236}">
                  <a16:creationId xmlns:a16="http://schemas.microsoft.com/office/drawing/2014/main" id="{BF8A0AF5-7E12-9F03-79C4-B084C5460B15}"/>
                </a:ext>
              </a:extLst>
            </p:cNvPr>
            <p:cNvSpPr/>
            <p:nvPr/>
          </p:nvSpPr>
          <p:spPr>
            <a:xfrm>
              <a:off x="7524337" y="3585821"/>
              <a:ext cx="2686674" cy="441960"/>
            </a:xfrm>
            <a:prstGeom prst="fram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45417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91667E-6 -3.7037E-6 L 0.67943 0.00278 " pathEditMode="relative" rAng="0" ptsTypes="AA">
                                      <p:cBhvr>
                                        <p:cTn id="6" dur="2000" fill="hold"/>
                                        <p:tgtEl>
                                          <p:spTgt spid="6"/>
                                        </p:tgtEl>
                                        <p:attrNameLst>
                                          <p:attrName>ppt_x</p:attrName>
                                          <p:attrName>ppt_y</p:attrName>
                                        </p:attrNameLst>
                                      </p:cBhvr>
                                      <p:rCtr x="33971" y="139"/>
                                    </p:animMotion>
                                  </p:childTnLst>
                                </p:cTn>
                              </p:par>
                              <p:par>
                                <p:cTn id="7" presetID="0" presetClass="path" presetSubtype="0" accel="50000" decel="50000" fill="hold" nodeType="withEffect">
                                  <p:stCondLst>
                                    <p:cond delay="0"/>
                                  </p:stCondLst>
                                  <p:childTnLst>
                                    <p:animMotion origin="layout" path="M 0.00013 -0.00208 L 0.67995 0.00047 " pathEditMode="relative" ptsTypes="AA">
                                      <p:cBhvr>
                                        <p:cTn id="8" dur="2000" fill="hold"/>
                                        <p:tgtEl>
                                          <p:spTgt spid="23"/>
                                        </p:tgtEl>
                                        <p:attrNameLst>
                                          <p:attrName>ppt_x</p:attrName>
                                          <p:attrName>ppt_y</p:attrName>
                                        </p:attrNameLst>
                                      </p:cBhvr>
                                    </p:animMotion>
                                  </p:childTnLst>
                                </p:cTn>
                              </p:par>
                              <p:par>
                                <p:cTn id="9" presetID="1" presetClass="exit"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blinds(horizontal)">
                                      <p:cBhvr>
                                        <p:cTn id="19" dur="500"/>
                                        <p:tgtEl>
                                          <p:spTgt spid="66"/>
                                        </p:tgtEl>
                                      </p:cBhvr>
                                    </p:animEffect>
                                  </p:childTnLst>
                                </p:cTn>
                              </p:par>
                              <p:par>
                                <p:cTn id="20" presetID="0" presetClass="path" presetSubtype="0" accel="50000" decel="50000" fill="hold" grpId="2" nodeType="withEffect">
                                  <p:stCondLst>
                                    <p:cond delay="0"/>
                                  </p:stCondLst>
                                  <p:childTnLst>
                                    <p:animMotion origin="layout" path="M -2.5E-6 0 L 0.02149 -0.13981 " pathEditMode="relative" rAng="0" ptsTypes="AA">
                                      <p:cBhvr>
                                        <p:cTn id="21" dur="2000" fill="hold"/>
                                        <p:tgtEl>
                                          <p:spTgt spid="66"/>
                                        </p:tgtEl>
                                        <p:attrNameLst>
                                          <p:attrName>ppt_x</p:attrName>
                                          <p:attrName>ppt_y</p:attrName>
                                        </p:attrNameLst>
                                      </p:cBhvr>
                                      <p:rCtr x="1068" y="-6991"/>
                                    </p:animMotion>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decel="50000" fill="hold" nodeType="clickEffect">
                                  <p:stCondLst>
                                    <p:cond delay="0"/>
                                  </p:stCondLst>
                                  <p:childTnLst>
                                    <p:animMotion origin="layout" path="M 0 0 L 0 0.197 " pathEditMode="relative" ptsTypes="AA">
                                      <p:cBhvr>
                                        <p:cTn id="25" dur="500" fill="hold"/>
                                        <p:tgtEl>
                                          <p:spTgt spid="15"/>
                                        </p:tgtEl>
                                        <p:attrNameLst>
                                          <p:attrName>ppt_x</p:attrName>
                                          <p:attrName>ppt_y</p:attrName>
                                        </p:attrNameLst>
                                      </p:cBhvr>
                                    </p:animMotion>
                                  </p:childTnLst>
                                </p:cTn>
                              </p:par>
                              <p:par>
                                <p:cTn id="26" presetID="1" presetClass="exit"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hidden"/>
                                      </p:to>
                                    </p:set>
                                  </p:childTnLst>
                                </p:cTn>
                              </p:par>
                              <p:par>
                                <p:cTn id="28" presetID="0" presetClass="path" presetSubtype="0" accel="50000" decel="50000" fill="hold" nodeType="withEffect">
                                  <p:stCondLst>
                                    <p:cond delay="0"/>
                                  </p:stCondLst>
                                  <p:childTnLst>
                                    <p:animMotion origin="layout" path="M 0 0 L 0 0.197 " pathEditMode="relative" ptsTypes="AA">
                                      <p:cBhvr>
                                        <p:cTn id="29" dur="500" fill="hold"/>
                                        <p:tgtEl>
                                          <p:spTgt spid="10"/>
                                        </p:tgtEl>
                                        <p:attrNameLst>
                                          <p:attrName>ppt_x</p:attrName>
                                          <p:attrName>ppt_y</p:attrName>
                                        </p:attrNameLst>
                                      </p:cBhvr>
                                    </p:animMotion>
                                  </p:childTnLst>
                                </p:cTn>
                              </p:par>
                            </p:childTnLst>
                          </p:cTn>
                        </p:par>
                        <p:par>
                          <p:cTn id="30" fill="hold">
                            <p:stCondLst>
                              <p:cond delay="500"/>
                            </p:stCondLst>
                            <p:childTnLst>
                              <p:par>
                                <p:cTn id="31" presetID="0" presetClass="path" presetSubtype="0" accel="50000" decel="50000" fill="hold" nodeType="afterEffect">
                                  <p:stCondLst>
                                    <p:cond delay="0"/>
                                  </p:stCondLst>
                                  <p:childTnLst>
                                    <p:animMotion origin="layout" path="M 0.00169 0.19514 L 0.24805 0.20625 " pathEditMode="relative" rAng="0" ptsTypes="AA">
                                      <p:cBhvr>
                                        <p:cTn id="32" dur="1500" fill="hold"/>
                                        <p:tgtEl>
                                          <p:spTgt spid="10"/>
                                        </p:tgtEl>
                                        <p:attrNameLst>
                                          <p:attrName>ppt_x</p:attrName>
                                          <p:attrName>ppt_y</p:attrName>
                                        </p:attrNameLst>
                                      </p:cBhvr>
                                      <p:rCtr x="12318" y="556"/>
                                    </p:animMotion>
                                  </p:childTnLst>
                                </p:cTn>
                              </p:par>
                              <p:par>
                                <p:cTn id="33" presetID="0" presetClass="path" presetSubtype="0" accel="50000" decel="50000" fill="hold" nodeType="withEffect">
                                  <p:stCondLst>
                                    <p:cond delay="0"/>
                                  </p:stCondLst>
                                  <p:childTnLst>
                                    <p:animMotion origin="layout" path="M 0.00234 0.19746 L 0.2487 0.20162 " pathEditMode="relative" rAng="0" ptsTypes="AA">
                                      <p:cBhvr>
                                        <p:cTn id="34" dur="1500" fill="hold"/>
                                        <p:tgtEl>
                                          <p:spTgt spid="15"/>
                                        </p:tgtEl>
                                        <p:attrNameLst>
                                          <p:attrName>ppt_x</p:attrName>
                                          <p:attrName>ppt_y</p:attrName>
                                        </p:attrNameLst>
                                      </p:cBhvr>
                                      <p:rCtr x="12318" y="208"/>
                                    </p:animMotion>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67943 0.00278 L 0.21367 0.00231 " pathEditMode="relative" rAng="0" ptsTypes="AA">
                                      <p:cBhvr>
                                        <p:cTn id="38" dur="2000" fill="hold"/>
                                        <p:tgtEl>
                                          <p:spTgt spid="6"/>
                                        </p:tgtEl>
                                        <p:attrNameLst>
                                          <p:attrName>ppt_x</p:attrName>
                                          <p:attrName>ppt_y</p:attrName>
                                        </p:attrNameLst>
                                      </p:cBhvr>
                                      <p:rCtr x="-23294" y="-23"/>
                                    </p:animMotion>
                                  </p:childTnLst>
                                </p:cTn>
                              </p:par>
                              <p:par>
                                <p:cTn id="39" presetID="0" presetClass="path" presetSubtype="0" accel="50000" decel="50000" fill="hold" nodeType="withEffect">
                                  <p:stCondLst>
                                    <p:cond delay="0"/>
                                  </p:stCondLst>
                                  <p:childTnLst>
                                    <p:animMotion origin="layout" path="M 0.68034 0.00162 L 0.21315 -2.22222E-6 " pathEditMode="relative" rAng="0" ptsTypes="AA">
                                      <p:cBhvr>
                                        <p:cTn id="40" dur="2000" fill="hold"/>
                                        <p:tgtEl>
                                          <p:spTgt spid="23"/>
                                        </p:tgtEl>
                                        <p:attrNameLst>
                                          <p:attrName>ppt_x</p:attrName>
                                          <p:attrName>ppt_y</p:attrName>
                                        </p:attrNameLst>
                                      </p:cBhvr>
                                      <p:rCtr x="-23359" y="-93"/>
                                    </p:animMotion>
                                  </p:childTnLst>
                                </p:cTn>
                              </p:par>
                              <p:par>
                                <p:cTn id="41" presetID="0" presetClass="path" presetSubtype="0" accel="50000" decel="50000" fill="hold" nodeType="withEffect">
                                  <p:stCondLst>
                                    <p:cond delay="0"/>
                                  </p:stCondLst>
                                  <p:childTnLst>
                                    <p:animMotion origin="layout" path="M 0.24648 0.20811 L 0.71159 0.20811 " pathEditMode="relative" ptsTypes="AA">
                                      <p:cBhvr>
                                        <p:cTn id="42" dur="2000" fill="hold"/>
                                        <p:tgtEl>
                                          <p:spTgt spid="15"/>
                                        </p:tgtEl>
                                        <p:attrNameLst>
                                          <p:attrName>ppt_x</p:attrName>
                                          <p:attrName>ppt_y</p:attrName>
                                        </p:attrNameLst>
                                      </p:cBhvr>
                                    </p:animMotion>
                                  </p:childTnLst>
                                </p:cTn>
                              </p:par>
                              <p:par>
                                <p:cTn id="43" presetID="0" presetClass="path" presetSubtype="0" accel="50000" decel="50000" fill="hold" nodeType="withEffect">
                                  <p:stCondLst>
                                    <p:cond delay="0"/>
                                  </p:stCondLst>
                                  <p:childTnLst>
                                    <p:animMotion origin="layout" path="M 0.24844 0.20231 L 0.71094 0.20231 " pathEditMode="relative" ptsTypes="AA">
                                      <p:cBhvr>
                                        <p:cTn id="44" dur="2000" fill="hold"/>
                                        <p:tgtEl>
                                          <p:spTgt spid="10"/>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blinds(horizontal)">
                                      <p:cBhvr>
                                        <p:cTn id="49" dur="500"/>
                                        <p:tgtEl>
                                          <p:spTgt spid="6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xit" presetSubtype="10" fill="hold" grpId="1" nodeType="clickEffect">
                                  <p:stCondLst>
                                    <p:cond delay="0"/>
                                  </p:stCondLst>
                                  <p:childTnLst>
                                    <p:animEffect transition="out" filter="blinds(horizontal)">
                                      <p:cBhvr>
                                        <p:cTn id="53" dur="500"/>
                                        <p:tgtEl>
                                          <p:spTgt spid="66"/>
                                        </p:tgtEl>
                                      </p:cBhvr>
                                    </p:animEffect>
                                    <p:set>
                                      <p:cBhvr>
                                        <p:cTn id="54" dur="1" fill="hold">
                                          <p:stCondLst>
                                            <p:cond delay="499"/>
                                          </p:stCondLst>
                                        </p:cTn>
                                        <p:tgtEl>
                                          <p:spTgt spid="66"/>
                                        </p:tgtEl>
                                        <p:attrNameLst>
                                          <p:attrName>style.visibility</p:attrName>
                                        </p:attrNameLst>
                                      </p:cBhvr>
                                      <p:to>
                                        <p:strVal val="hidden"/>
                                      </p:to>
                                    </p:set>
                                  </p:childTnLst>
                                </p:cTn>
                              </p:par>
                            </p:childTnLst>
                          </p:cTn>
                        </p:par>
                        <p:par>
                          <p:cTn id="55" fill="hold">
                            <p:stCondLst>
                              <p:cond delay="500"/>
                            </p:stCondLst>
                            <p:childTnLst>
                              <p:par>
                                <p:cTn id="56" presetID="3" presetClass="entr" presetSubtype="10" fill="hold" grpId="0" nodeType="afterEffect">
                                  <p:stCondLst>
                                    <p:cond delay="0"/>
                                  </p:stCondLst>
                                  <p:childTnLst>
                                    <p:set>
                                      <p:cBhvr>
                                        <p:cTn id="57" dur="1" fill="hold">
                                          <p:stCondLst>
                                            <p:cond delay="0"/>
                                          </p:stCondLst>
                                        </p:cTn>
                                        <p:tgtEl>
                                          <p:spTgt spid="70"/>
                                        </p:tgtEl>
                                        <p:attrNameLst>
                                          <p:attrName>style.visibility</p:attrName>
                                        </p:attrNameLst>
                                      </p:cBhvr>
                                      <p:to>
                                        <p:strVal val="visible"/>
                                      </p:to>
                                    </p:set>
                                    <p:animEffect transition="in" filter="blinds(horizontal)">
                                      <p:cBhvr>
                                        <p:cTn id="58" dur="500"/>
                                        <p:tgtEl>
                                          <p:spTgt spid="70"/>
                                        </p:tgtEl>
                                      </p:cBhvr>
                                    </p:animEffect>
                                  </p:childTnLst>
                                </p:cTn>
                              </p:par>
                              <p:par>
                                <p:cTn id="59" presetID="0" presetClass="path" presetSubtype="0" accel="50000" decel="50000" fill="hold" grpId="1" nodeType="withEffect">
                                  <p:stCondLst>
                                    <p:cond delay="0"/>
                                  </p:stCondLst>
                                  <p:childTnLst>
                                    <p:animMotion origin="layout" path="M 0 0 L 0.02149 -0.14097 " pathEditMode="relative" ptsTypes="AA">
                                      <p:cBhvr>
                                        <p:cTn id="60" dur="2000" fill="hold"/>
                                        <p:tgtEl>
                                          <p:spTgt spid="70"/>
                                        </p:tgtEl>
                                        <p:attrNameLst>
                                          <p:attrName>ppt_x</p:attrName>
                                          <p:attrName>ppt_y</p:attrName>
                                        </p:attrNameLst>
                                      </p:cBhvr>
                                    </p:animMotion>
                                  </p:childTnLst>
                                </p:cTn>
                              </p:par>
                              <p:par>
                                <p:cTn id="61" presetID="1" presetClass="entr" presetSubtype="0" fill="hold"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5" presetClass="exit" presetSubtype="10" fill="hold" nodeType="clickEffect">
                                  <p:stCondLst>
                                    <p:cond delay="0"/>
                                  </p:stCondLst>
                                  <p:childTnLst>
                                    <p:animEffect transition="out" filter="checkerboard(across)">
                                      <p:cBhvr>
                                        <p:cTn id="70" dur="500"/>
                                        <p:tgtEl>
                                          <p:spTgt spid="69"/>
                                        </p:tgtEl>
                                      </p:cBhvr>
                                    </p:animEffect>
                                    <p:set>
                                      <p:cBhvr>
                                        <p:cTn id="71" dur="1" fill="hold">
                                          <p:stCondLst>
                                            <p:cond delay="499"/>
                                          </p:stCondLst>
                                        </p:cTn>
                                        <p:tgtEl>
                                          <p:spTgt spid="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2" grpId="0" animBg="1"/>
      <p:bldP spid="11" grpId="0"/>
      <p:bldP spid="66" grpId="0"/>
      <p:bldP spid="66" grpId="1"/>
      <p:bldP spid="66" grpId="2"/>
      <p:bldP spid="70" grpId="0"/>
      <p:bldP spid="70" grpId="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1.8|9.1|8.6"/>
</p:tagLst>
</file>

<file path=ppt/tags/tag2.xml><?xml version="1.0" encoding="utf-8"?>
<p:tagLst xmlns:a="http://schemas.openxmlformats.org/drawingml/2006/main" xmlns:r="http://schemas.openxmlformats.org/officeDocument/2006/relationships" xmlns:p="http://schemas.openxmlformats.org/presentationml/2006/main">
  <p:tag name="TIMING" val="|26.7"/>
</p:tagLst>
</file>

<file path=ppt/tags/tag3.xml><?xml version="1.0" encoding="utf-8"?>
<p:tagLst xmlns:a="http://schemas.openxmlformats.org/drawingml/2006/main" xmlns:r="http://schemas.openxmlformats.org/officeDocument/2006/relationships" xmlns:p="http://schemas.openxmlformats.org/presentationml/2006/main">
  <p:tag name="TIMING" val="|23.2|18.9"/>
</p:tagLst>
</file>

<file path=ppt/tags/tag4.xml><?xml version="1.0" encoding="utf-8"?>
<p:tagLst xmlns:a="http://schemas.openxmlformats.org/drawingml/2006/main" xmlns:r="http://schemas.openxmlformats.org/officeDocument/2006/relationships" xmlns:p="http://schemas.openxmlformats.org/presentationml/2006/main">
  <p:tag name="TIMING" val="|48.6|91.2"/>
</p:tagLst>
</file>

<file path=ppt/tags/tag5.xml><?xml version="1.0" encoding="utf-8"?>
<p:tagLst xmlns:a="http://schemas.openxmlformats.org/drawingml/2006/main" xmlns:r="http://schemas.openxmlformats.org/officeDocument/2006/relationships" xmlns:p="http://schemas.openxmlformats.org/presentationml/2006/main">
  <p:tag name="TIMING" val="|48.6|91.2"/>
</p:tagLst>
</file>

<file path=ppt/tags/tag6.xml><?xml version="1.0" encoding="utf-8"?>
<p:tagLst xmlns:a="http://schemas.openxmlformats.org/drawingml/2006/main" xmlns:r="http://schemas.openxmlformats.org/officeDocument/2006/relationships" xmlns:p="http://schemas.openxmlformats.org/presentationml/2006/main">
  <p:tag name="TIMING" val="|4.8|7.1|8.4|8.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3070</Words>
  <Application>Microsoft Macintosh PowerPoint</Application>
  <PresentationFormat>Widescreen</PresentationFormat>
  <Paragraphs>566</Paragraphs>
  <Slides>26</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Calibri</vt:lpstr>
      <vt:lpstr>Calibri Light</vt:lpstr>
      <vt:lpstr>Courier New</vt:lpstr>
      <vt:lpstr>Office Theme</vt:lpstr>
      <vt:lpstr>SwitchNIC: A Hybrid Architecture for Network Functions with Fast and Consistent Shared States</vt:lpstr>
      <vt:lpstr>Stateful network functions are commonly deployed</vt:lpstr>
      <vt:lpstr>State of the art in NF implementation</vt:lpstr>
      <vt:lpstr>Consistency is important, but hard</vt:lpstr>
      <vt:lpstr>How existing work handles the states?</vt:lpstr>
      <vt:lpstr>How existing work handles the states?</vt:lpstr>
      <vt:lpstr>What we really want is for both platforms to write shared state</vt:lpstr>
      <vt:lpstr>What we really want is for both platforms to write shared state</vt:lpstr>
      <vt:lpstr>Assumption: both income and outgoing traffic of a flow to a server must go through the same switch</vt:lpstr>
      <vt:lpstr>Sounds easy enough, what’s the problem?</vt:lpstr>
      <vt:lpstr>We propose SwitchNIC</vt:lpstr>
      <vt:lpstr>Strong Consistency Protocol</vt:lpstr>
      <vt:lpstr>#1: Direct updates at switch</vt:lpstr>
      <vt:lpstr>#1: Direct updates at switch</vt:lpstr>
      <vt:lpstr>#2: Migrate to server</vt:lpstr>
      <vt:lpstr>#2: Migrate to server</vt:lpstr>
      <vt:lpstr>#3: Migrate back to switch</vt:lpstr>
      <vt:lpstr>#3: Migrate back to switch</vt:lpstr>
      <vt:lpstr>Problems in a real network</vt:lpstr>
      <vt:lpstr>Testbed &amp; Workload</vt:lpstr>
      <vt:lpstr>SwitchNIC achieves 1.5x better energy efficiency</vt:lpstr>
      <vt:lpstr>SwitchNIC achieves 1.6x better processing latency</vt:lpstr>
      <vt:lpstr>Summary</vt:lpstr>
      <vt:lpstr>Backup slides</vt:lpstr>
      <vt:lpstr>#3: Migrate back to switch</vt:lpstr>
      <vt:lpstr>#3: Migrate back to switch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Yiran Lei</dc:creator>
  <cp:lastModifiedBy>Yiran Lei</cp:lastModifiedBy>
  <cp:revision>2</cp:revision>
  <dcterms:created xsi:type="dcterms:W3CDTF">2025-10-15T14:08:25Z</dcterms:created>
  <dcterms:modified xsi:type="dcterms:W3CDTF">2025-12-10T10:34:41Z</dcterms:modified>
</cp:coreProperties>
</file>